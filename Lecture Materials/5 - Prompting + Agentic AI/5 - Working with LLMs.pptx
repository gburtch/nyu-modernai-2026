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71" r:id="rId4"/>
    <p:sldId id="282" r:id="rId5"/>
    <p:sldId id="272" r:id="rId6"/>
    <p:sldId id="280" r:id="rId7"/>
    <p:sldId id="281" r:id="rId8"/>
    <p:sldId id="283" r:id="rId9"/>
    <p:sldId id="264" r:id="rId10"/>
    <p:sldId id="277" r:id="rId11"/>
    <p:sldId id="284" r:id="rId12"/>
    <p:sldId id="285" r:id="rId13"/>
    <p:sldId id="290" r:id="rId14"/>
    <p:sldId id="286" r:id="rId15"/>
    <p:sldId id="289" r:id="rId16"/>
    <p:sldId id="287" r:id="rId17"/>
  </p:sldIdLst>
  <p:sldSz cx="12192000" cy="6858000"/>
  <p:notesSz cx="6858000" cy="9144000"/>
  <p:embeddedFontLst>
    <p:embeddedFont>
      <p:font typeface="Economica" panose="02000506040000020004" pitchFamily="2" charset="77"/>
      <p:regular r:id="rId19"/>
      <p:bold r:id="rId20"/>
      <p:italic r:id="rId21"/>
      <p:boldItalic r:id="rId22"/>
    </p:embeddedFont>
    <p:embeddedFont>
      <p:font typeface="Quicksand" pitchFamily="2" charset="77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CtrfbZFXRrmv5GpDwfTHlXuLh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8"/>
    <a:srgbClr val="F5F8F2"/>
    <a:srgbClr val="A9CD9D"/>
    <a:srgbClr val="ADC7F4"/>
    <a:srgbClr val="FDCB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2372D1-F9C1-48B9-90D7-9A1CC5A1757B}">
  <a:tblStyle styleId="{602372D1-F9C1-48B9-90D7-9A1CC5A175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7397"/>
  </p:normalViewPr>
  <p:slideViewPr>
    <p:cSldViewPr snapToGrid="0">
      <p:cViewPr varScale="1">
        <p:scale>
          <a:sx n="92" d="100"/>
          <a:sy n="92" d="100"/>
        </p:scale>
        <p:origin x="1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Conceptually, you go over the output label (generation) and for each token in the label, evaluate the model’s assigned probability to that token given the prompt + outputs up to that point. Just like cross entropy loss elsewhere, further away from the p = 1.0, the more penalized the output is. We average over all of the probabilities and back propagate. Perplexity here is the log of the average token loss. </a:t>
            </a:r>
            <a:endParaRPr dirty="0"/>
          </a:p>
        </p:txBody>
      </p:sp>
      <p:sp>
        <p:nvSpPr>
          <p:cNvPr id="190" name="Google Shape;19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D3240CC-9C2F-97CF-3E49-AD4F167F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AD2EE892-9311-6470-B051-E338C3AC8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D7F0DC12-6158-C47C-6226-68D5284AF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F4239B30-1B81-CA9A-D6ED-E14A9633A3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52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30-40k human preference ratings were enough to make this work. </a:t>
            </a:r>
            <a:endParaRPr/>
          </a:p>
        </p:txBody>
      </p:sp>
      <p:sp>
        <p:nvSpPr>
          <p:cNvPr id="196" name="Google Shape;19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089C8F9-699E-EF2D-824A-7126DD54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1E774A08-E50E-D492-8E4C-A42B8BDDE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E12FDF07-A5F6-A488-D8B1-F4A8D08C7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C7048081-4037-7055-C9E7-2664C5D02C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6512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7AD787D-38A9-FE3E-9651-97005E6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6474D9DF-75E4-7E9E-5822-10DA1AE79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B6837848-FECD-FDFE-26A2-4616DA60E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52F2185C-34B5-B598-33BB-06031E0C3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1538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D3240CC-9C2F-97CF-3E49-AD4F167F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AD2EE892-9311-6470-B051-E338C3AC8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D7F0DC12-6158-C47C-6226-68D5284AF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F4239B30-1B81-CA9A-D6ED-E14A9633A3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529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98D8BEB-BEC0-EC50-A105-5AACA2B5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F07765BA-169E-B907-40FA-ADE841697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398FCDC3-82B8-F39F-7780-1A7849246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A4C19AEE-E42D-5896-DC4D-8060872BB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2374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25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9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4eFf-tRiSg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3058028" y="1385048"/>
            <a:ext cx="5999745" cy="1657524"/>
            <a:chOff x="3164307" y="2588206"/>
            <a:chExt cx="5999745" cy="1657524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3164307" y="2588206"/>
              <a:ext cx="1213182" cy="661736"/>
              <a:chOff x="3132555" y="2419542"/>
              <a:chExt cx="1651279" cy="1070810"/>
            </a:xfrm>
          </p:grpSpPr>
          <p:cxnSp>
            <p:nvCxnSpPr>
              <p:cNvPr id="92" name="Google Shape;92;p1"/>
              <p:cNvCxnSpPr/>
              <p:nvPr/>
            </p:nvCxnSpPr>
            <p:spPr>
              <a:xfrm>
                <a:off x="3132555" y="2419542"/>
                <a:ext cx="165127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1"/>
              <p:cNvCxnSpPr/>
              <p:nvPr/>
            </p:nvCxnSpPr>
            <p:spPr>
              <a:xfrm rot="10800000">
                <a:off x="3132555" y="2419542"/>
                <a:ext cx="0" cy="10708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94" name="Google Shape;94;p1"/>
            <p:cNvGrpSpPr/>
            <p:nvPr/>
          </p:nvGrpSpPr>
          <p:grpSpPr>
            <a:xfrm rot="10800000">
              <a:off x="8071184" y="3583994"/>
              <a:ext cx="1092868" cy="661736"/>
              <a:chOff x="3269088" y="2458482"/>
              <a:chExt cx="1388919" cy="1070810"/>
            </a:xfrm>
          </p:grpSpPr>
          <p:cxnSp>
            <p:nvCxnSpPr>
              <p:cNvPr id="95" name="Google Shape;95;p1"/>
              <p:cNvCxnSpPr/>
              <p:nvPr/>
            </p:nvCxnSpPr>
            <p:spPr>
              <a:xfrm>
                <a:off x="3269088" y="2458484"/>
                <a:ext cx="138891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1"/>
              <p:cNvCxnSpPr/>
              <p:nvPr/>
            </p:nvCxnSpPr>
            <p:spPr>
              <a:xfrm rot="10800000">
                <a:off x="3269088" y="2458482"/>
                <a:ext cx="0" cy="10708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97" name="Google Shape;97;p1"/>
          <p:cNvSpPr txBox="1"/>
          <p:nvPr/>
        </p:nvSpPr>
        <p:spPr>
          <a:xfrm>
            <a:off x="3358593" y="1715916"/>
            <a:ext cx="547481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48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Working with LLMs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90337" y="1873641"/>
            <a:ext cx="7721228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Post-Training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Supervised Fine-tuning (SFT), e.g., </a:t>
            </a:r>
            <a:r>
              <a:rPr lang="en-US" sz="1800" dirty="0" err="1">
                <a:solidFill>
                  <a:schemeClr val="dk1"/>
                </a:solidFill>
                <a:latin typeface="Quicksand"/>
                <a:sym typeface="Quicksand"/>
              </a:rPr>
              <a:t>LoRA</a:t>
            </a: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Reinforcement Learning (RL), e.g., RLHF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Preparing for Deployment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Quantization &amp; Distillation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Scaffolding for LLMs, i.e., Agenti</a:t>
            </a: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 AI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Model Context Protocol (MCP)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MCP Clients, a.k.a. Harnesses (e.g., Claude Code, Cursor)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MCP Servers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Agentic Workflows, e.g., Vertex Agent Builder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</p:txBody>
      </p:sp>
      <p:pic>
        <p:nvPicPr>
          <p:cNvPr id="2" name="Picture 2" descr="Build an Effective Meeting Agenda Template | WorkPatterns">
            <a:extLst>
              <a:ext uri="{FF2B5EF4-FFF2-40B4-BE49-F238E27FC236}">
                <a16:creationId xmlns:a16="http://schemas.microsoft.com/office/drawing/2014/main" id="{26E3BE71-E287-1AE5-3DA2-BD4C9CB2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98" y="2476129"/>
            <a:ext cx="5026702" cy="264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/>
          <p:nvPr/>
        </p:nvSpPr>
        <p:spPr>
          <a:xfrm>
            <a:off x="1836516" y="486655"/>
            <a:ext cx="85189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Supervised Fine-Tuning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44" descr="Supervised Fine Tuning for Gemini LLM | Google Cloud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2623" y="1602420"/>
            <a:ext cx="9286754" cy="447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592330-F5AA-C8FB-98E8-8491471B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516" y="1820680"/>
            <a:ext cx="35560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B3208FE-95BB-6019-73F7-07994A4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1D782246-BE2D-1098-224A-B49564C96EFA}"/>
              </a:ext>
            </a:extLst>
          </p:cNvPr>
          <p:cNvSpPr txBox="1"/>
          <p:nvPr/>
        </p:nvSpPr>
        <p:spPr>
          <a:xfrm>
            <a:off x="609600" y="586938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Prefix and Low-Rank Adaptor (</a:t>
            </a:r>
            <a:r>
              <a:rPr lang="en-US" sz="5400" dirty="0" err="1">
                <a:solidFill>
                  <a:schemeClr val="dk1"/>
                </a:solidFill>
                <a:latin typeface="Economica"/>
                <a:sym typeface="Economica"/>
              </a:rPr>
              <a:t>LoRA</a:t>
            </a: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) Fine-tuning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1E4A00-218D-90C3-59B8-104727F6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226" y="1743456"/>
            <a:ext cx="3716301" cy="47975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E99F34-901B-7E5E-FD73-B4E7C48B2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528" y="4228347"/>
            <a:ext cx="2133600" cy="2120900"/>
          </a:xfrm>
          <a:prstGeom prst="rect">
            <a:avLst/>
          </a:prstGeom>
        </p:spPr>
      </p:pic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8E4C9950-783C-44D8-DE64-BEC666A9F2BD}"/>
              </a:ext>
            </a:extLst>
          </p:cNvPr>
          <p:cNvSpPr txBox="1"/>
          <p:nvPr/>
        </p:nvSpPr>
        <p:spPr>
          <a:xfrm>
            <a:off x="609600" y="2104708"/>
            <a:ext cx="307206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Prefix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We freeze the network and then 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add new trainable weight vectors that we prepend to the Q, K, and V vectors within the Transformer.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sp>
        <p:nvSpPr>
          <p:cNvPr id="6" name="Google Shape;110;p2">
            <a:extLst>
              <a:ext uri="{FF2B5EF4-FFF2-40B4-BE49-F238E27FC236}">
                <a16:creationId xmlns:a16="http://schemas.microsoft.com/office/drawing/2014/main" id="{77302B72-91EF-3914-A530-840DF2EFCFDF}"/>
              </a:ext>
            </a:extLst>
          </p:cNvPr>
          <p:cNvSpPr txBox="1"/>
          <p:nvPr/>
        </p:nvSpPr>
        <p:spPr>
          <a:xfrm>
            <a:off x="8510335" y="2139007"/>
            <a:ext cx="320008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LoRA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We freeze the network, and we inject some new, small weight matrices that, when multiplied, yield a matrix of size W. We train these small ‘adapter’ weight matrices.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3074" name="Picture 2" descr="What is LoRA (Low-Rank Adaption)? | IBM">
            <a:extLst>
              <a:ext uri="{FF2B5EF4-FFF2-40B4-BE49-F238E27FC236}">
                <a16:creationId xmlns:a16="http://schemas.microsoft.com/office/drawing/2014/main" id="{AE7AEFDB-6063-7AD0-A0DF-62ACD06FE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42625" y="4661954"/>
            <a:ext cx="3039775" cy="82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9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5"/>
          <p:cNvSpPr txBox="1"/>
          <p:nvPr/>
        </p:nvSpPr>
        <p:spPr>
          <a:xfrm>
            <a:off x="696410" y="498230"/>
            <a:ext cx="1079918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Reinforcement Learning from Scored Generations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45" descr="RLHF: Reinforcement Learning from Human Feedba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032" y="1651867"/>
            <a:ext cx="8287936" cy="4916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imple and Foolproof ways to Shrink, Compress, and Accelerate your Deep  Learning, Neural Network, etc. Artificial Intelligence Models. |  PiProgramming">
            <a:extLst>
              <a:ext uri="{FF2B5EF4-FFF2-40B4-BE49-F238E27FC236}">
                <a16:creationId xmlns:a16="http://schemas.microsoft.com/office/drawing/2014/main" id="{A8D50E2D-E9A2-17D0-8D23-2F0DF4369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38" b="12843"/>
          <a:stretch>
            <a:fillRect/>
          </a:stretch>
        </p:blipFill>
        <p:spPr bwMode="auto">
          <a:xfrm>
            <a:off x="2974848" y="3258312"/>
            <a:ext cx="6242304" cy="171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60;p9">
            <a:extLst>
              <a:ext uri="{FF2B5EF4-FFF2-40B4-BE49-F238E27FC236}">
                <a16:creationId xmlns:a16="http://schemas.microsoft.com/office/drawing/2014/main" id="{BE291637-FE3D-A3DA-4462-922B48B18FBD}"/>
              </a:ext>
            </a:extLst>
          </p:cNvPr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Quantization</a:t>
            </a:r>
            <a:endParaRPr dirty="0"/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26191A89-B0FA-6E44-E7A3-2CB202E3DDCC}"/>
              </a:ext>
            </a:extLst>
          </p:cNvPr>
          <p:cNvSpPr txBox="1"/>
          <p:nvPr/>
        </p:nvSpPr>
        <p:spPr>
          <a:xfrm>
            <a:off x="914720" y="1617329"/>
            <a:ext cx="10021503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Rounding Weights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We can reduce memory requirements by ‘discretizing’ the weights into integers rather than doubles/floats.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Some performance reduction, so there’s a trade-off, but enables use of a lower-memory device and faster inference.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410CA-5845-8E72-E475-8EF8A93B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040" y="5182300"/>
            <a:ext cx="5969293" cy="15197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7DF4BDB-F110-A544-A752-8801B03A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D668C076-1415-3256-1DD3-8EEFCFF9B689}"/>
              </a:ext>
            </a:extLst>
          </p:cNvPr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Distillation</a:t>
            </a:r>
            <a:endParaRPr dirty="0"/>
          </a:p>
        </p:txBody>
      </p:sp>
      <p:pic>
        <p:nvPicPr>
          <p:cNvPr id="2050" name="Picture 2" descr="Model Compression with Knowledge Distillation">
            <a:extLst>
              <a:ext uri="{FF2B5EF4-FFF2-40B4-BE49-F238E27FC236}">
                <a16:creationId xmlns:a16="http://schemas.microsoft.com/office/drawing/2014/main" id="{AADB3C76-E4CD-CB49-89D6-398C93E7C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3423" y="2453788"/>
            <a:ext cx="5754598" cy="428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4D8B15B0-5FA3-444B-EA82-8EEA6E6077B5}"/>
              </a:ext>
            </a:extLst>
          </p:cNvPr>
          <p:cNvSpPr txBox="1"/>
          <p:nvPr/>
        </p:nvSpPr>
        <p:spPr>
          <a:xfrm>
            <a:off x="914720" y="1715145"/>
            <a:ext cx="10021503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Training a Smaller (Student) Model to Mimic a Bigger (Teacher) Model’s Output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Train a simple network to ‘mimic’ the responses of the bigger network.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Some performance loss, but results in smaller model, faster inference time.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EFA0D-F987-C901-3497-6785AF95B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62" y="2866057"/>
            <a:ext cx="5703561" cy="1599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 descr="In this photo illustration, the Deepseek logo is displayed...">
            <a:extLst>
              <a:ext uri="{FF2B5EF4-FFF2-40B4-BE49-F238E27FC236}">
                <a16:creationId xmlns:a16="http://schemas.microsoft.com/office/drawing/2014/main" id="{068B0D65-6321-17BA-8E9B-4DC6DE78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0706" y="4693592"/>
            <a:ext cx="3279648" cy="184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31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1331349E-621C-E7B8-E799-FE2E9C8A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44470EE8-64B8-B8A9-24FC-7DE5E7E153AE}"/>
              </a:ext>
            </a:extLst>
          </p:cNvPr>
          <p:cNvSpPr txBox="1"/>
          <p:nvPr/>
        </p:nvSpPr>
        <p:spPr>
          <a:xfrm>
            <a:off x="609600" y="586938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Retrieval Augmented Generation (RAG)</a:t>
            </a:r>
            <a:endParaRPr dirty="0"/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D3177EDF-D301-D994-19ED-9B6172A0F7C1}"/>
              </a:ext>
            </a:extLst>
          </p:cNvPr>
          <p:cNvSpPr txBox="1"/>
          <p:nvPr/>
        </p:nvSpPr>
        <p:spPr>
          <a:xfrm>
            <a:off x="609600" y="2104708"/>
            <a:ext cx="3072064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Given a prompt…</a:t>
            </a:r>
          </a:p>
          <a:p>
            <a:pPr lvl="0">
              <a:buSzPts val="2000"/>
            </a:pP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lvl="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Retrieve relevant external knowledge, e.g., documents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, by comparing embeddings (prompt vs. document). </a:t>
            </a:r>
            <a:b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</a:b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lvl="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Include external knowledge as context along with the prompt when generating answer. </a:t>
            </a:r>
          </a:p>
        </p:txBody>
      </p:sp>
      <p:pic>
        <p:nvPicPr>
          <p:cNvPr id="4098" name="Picture 2" descr="Fig. 1">
            <a:extLst>
              <a:ext uri="{FF2B5EF4-FFF2-40B4-BE49-F238E27FC236}">
                <a16:creationId xmlns:a16="http://schemas.microsoft.com/office/drawing/2014/main" id="{36CF4493-536C-A3A3-DCAC-DAD98CE41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3185" y="2191375"/>
            <a:ext cx="7574615" cy="382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5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Agentic AI Goes Further. What Is It?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C37C67-F761-A31A-274B-CC9FCF0A9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33" y="1814772"/>
            <a:ext cx="5699567" cy="4200525"/>
          </a:xfrm>
          <a:prstGeom prst="rect">
            <a:avLst/>
          </a:prstGeom>
        </p:spPr>
      </p:pic>
      <p:pic>
        <p:nvPicPr>
          <p:cNvPr id="1026" name="Picture 2" descr="An infographic comparing AI agents with agentic AI">
            <a:extLst>
              <a:ext uri="{FF2B5EF4-FFF2-40B4-BE49-F238E27FC236}">
                <a16:creationId xmlns:a16="http://schemas.microsoft.com/office/drawing/2014/main" id="{B895B12A-DB6B-55F8-F89E-1748F9DAD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17" y="2074762"/>
            <a:ext cx="56578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FB3208FE-95BB-6019-73F7-07994A4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1D782246-BE2D-1098-224A-B49564C96EFA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Model Context Protocol (MCP)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6D85FA-7047-046A-F5C6-D4BFBF37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047" y="1618383"/>
            <a:ext cx="8113906" cy="456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84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7B0E8382-483B-E22F-9F5F-E2F51758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8DF0788F-0F2B-22D5-A826-72A5141AEB1B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Model Context Protocol (MCP)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8D1651-F824-B636-027E-8B6026653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8"/>
          <a:stretch>
            <a:fillRect/>
          </a:stretch>
        </p:blipFill>
        <p:spPr bwMode="auto">
          <a:xfrm>
            <a:off x="1568369" y="1949145"/>
            <a:ext cx="9055261" cy="410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285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82A6-451C-9DBC-C2F1-AEAE7DCC4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8CB10F-F4FC-CFEA-250F-0182DBC26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690" y="1686326"/>
            <a:ext cx="8158619" cy="4565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B385D786-9C89-C8EB-30B2-FA4FCDD78D8B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E.g., MCP Servers for Blender, Unreal Engine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5276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256A-2F62-81F5-5C0B-4EF4482C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A859F-4A92-4232-ACDD-FDDF93671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1DBC9-219F-8936-A27D-16CF3B244A12}"/>
              </a:ext>
            </a:extLst>
          </p:cNvPr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Economica"/>
              </a:rPr>
              <a:t>AI Agent</a:t>
            </a:r>
            <a:r>
              <a:rPr lang="en-US" sz="5400" b="0" dirty="0">
                <a:latin typeface="Economica"/>
              </a:rPr>
              <a:t> Architecture</a:t>
            </a:r>
            <a:endParaRPr sz="5400" b="0" dirty="0">
              <a:latin typeface="Econom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21FAC0-C2A8-7A3F-C0CE-FC50F1E54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38158"/>
            <a:ext cx="7772400" cy="42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1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dirty="0">
                <a:latin typeface="Economica"/>
              </a:rPr>
              <a:t>Information Securit</a:t>
            </a:r>
            <a:r>
              <a:rPr lang="en-US" sz="5400" b="0" dirty="0">
                <a:latin typeface="Economica"/>
              </a:rPr>
              <a:t>y /w Agents</a:t>
            </a:r>
            <a:endParaRPr sz="5400" b="0" dirty="0">
              <a:latin typeface="Econom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599" y="1840544"/>
            <a:ext cx="1082618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latin typeface="Quicksand"/>
              </a:rPr>
              <a:t>The Core Problem</a:t>
            </a:r>
          </a:p>
          <a:p>
            <a:pPr>
              <a:spcBef>
                <a:spcPts val="600"/>
              </a:spcBef>
            </a:pPr>
            <a:r>
              <a:rPr sz="1600" b="0" dirty="0">
                <a:latin typeface="Quicksand"/>
              </a:rPr>
              <a:t>The MCP client send</a:t>
            </a:r>
            <a:r>
              <a:rPr lang="en-US" sz="1600" b="0" dirty="0">
                <a:latin typeface="Quicksand"/>
              </a:rPr>
              <a:t>s</a:t>
            </a:r>
            <a:r>
              <a:rPr sz="1600" b="0" dirty="0">
                <a:latin typeface="Quicksand"/>
              </a:rPr>
              <a:t> all tool results and prompts to the LLM API. If the agent reads a sensitive file, that data goes over the wire. The LLM cannot reason about information it does not see.</a:t>
            </a:r>
            <a:endParaRPr lang="en-US" sz="1600" b="0" dirty="0">
              <a:latin typeface="Quicksand"/>
            </a:endParaRPr>
          </a:p>
          <a:p>
            <a:pPr>
              <a:spcBef>
                <a:spcPts val="600"/>
              </a:spcBef>
            </a:pPr>
            <a:endParaRPr lang="en-US" sz="1600" dirty="0">
              <a:latin typeface="Quicksan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BD6AF-1A89-BB14-8A91-C87ABB3EAFFA}"/>
              </a:ext>
            </a:extLst>
          </p:cNvPr>
          <p:cNvSpPr txBox="1"/>
          <p:nvPr/>
        </p:nvSpPr>
        <p:spPr>
          <a:xfrm>
            <a:off x="609599" y="3133206"/>
            <a:ext cx="564073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Quicksand"/>
              </a:rPr>
              <a:t>Mitigation Approaches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Contractual Controls</a:t>
            </a:r>
            <a:r>
              <a:rPr lang="en-US" sz="1600" b="0" dirty="0">
                <a:latin typeface="Quicksand"/>
              </a:rPr>
              <a:t> — Enterprise API agreements (data not used for training, short retention)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Self-Hosted / VPC</a:t>
            </a:r>
            <a:r>
              <a:rPr lang="en-US" sz="1600" b="0" dirty="0">
                <a:latin typeface="Quicksand"/>
              </a:rPr>
              <a:t> — Model runs inside company’s cloud boundary (AWS Bedrock, Google Vertex, Azure)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Proxy / Gateway Layer</a:t>
            </a:r>
            <a:r>
              <a:rPr lang="en-US" sz="1600" b="0" dirty="0">
                <a:latin typeface="Quicksand"/>
              </a:rPr>
              <a:t> — DLP and PII redaction between client and API (tradeoff: can break reasoning)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Restricting Tool Access</a:t>
            </a:r>
            <a:r>
              <a:rPr lang="en-US" sz="1600" b="0" dirty="0">
                <a:latin typeface="Quicksand"/>
              </a:rPr>
              <a:t> — Limit what the MCP server can reach; permission systems (Claude Code’s allow/deny)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5965F9-8407-649F-A58B-9A1319EF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85" y="3133206"/>
            <a:ext cx="5347865" cy="2914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EB6D-6DAB-45A1-0DDD-4BB3925F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5343-E95A-EC3E-5636-033784E78799}"/>
              </a:ext>
            </a:extLst>
          </p:cNvPr>
          <p:cNvSpPr txBox="1"/>
          <p:nvPr/>
        </p:nvSpPr>
        <p:spPr>
          <a:xfrm>
            <a:off x="609599" y="353040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Economica"/>
              </a:rPr>
              <a:t>'Managing’ Conversations</a:t>
            </a:r>
            <a:endParaRPr sz="5400" b="0" dirty="0">
              <a:latin typeface="Economic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04A84A-00E2-694D-385C-55FE4A2CA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04" y="1745116"/>
            <a:ext cx="6042589" cy="4600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7269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A68C-BF5D-BDA6-438B-22FD7543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68D666-0788-E64C-81A0-C062DD3840D4}"/>
              </a:ext>
            </a:extLst>
          </p:cNvPr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0" dirty="0">
                <a:latin typeface="Economica"/>
              </a:rPr>
              <a:t>Agentic Workflows</a:t>
            </a:r>
            <a:endParaRPr sz="5400" b="0" dirty="0">
              <a:latin typeface="Econom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38E4F-A4BA-16FB-CAD4-4F91A8D79206}"/>
              </a:ext>
            </a:extLst>
          </p:cNvPr>
          <p:cNvSpPr txBox="1"/>
          <p:nvPr/>
        </p:nvSpPr>
        <p:spPr>
          <a:xfrm>
            <a:off x="609599" y="1840544"/>
            <a:ext cx="1082618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Quicksand"/>
              </a:rPr>
              <a:t>Events Trigger Agentic Processes</a:t>
            </a:r>
            <a:endParaRPr sz="2000" b="1" dirty="0">
              <a:latin typeface="Quicksand"/>
            </a:endParaRPr>
          </a:p>
          <a:p>
            <a:pPr>
              <a:spcBef>
                <a:spcPts val="600"/>
              </a:spcBef>
            </a:pPr>
            <a:r>
              <a:rPr lang="en-US" sz="1600" b="0" dirty="0">
                <a:latin typeface="Quicksand"/>
              </a:rPr>
              <a:t>Programmatically, an email might come in that triggers a series of actions involving agentic models and tools. Agents may invoke / communicate with other agents. Many graphical agentic workflow design tools are now becoming available to enable no-code development. 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Quicksand"/>
            </a:endParaRPr>
          </a:p>
        </p:txBody>
      </p:sp>
      <p:pic>
        <p:nvPicPr>
          <p:cNvPr id="2" name="Online Media 4" descr="Intro to Agent Builder">
            <a:hlinkClick r:id="" action="ppaction://media"/>
            <a:extLst>
              <a:ext uri="{FF2B5EF4-FFF2-40B4-BE49-F238E27FC236}">
                <a16:creationId xmlns:a16="http://schemas.microsoft.com/office/drawing/2014/main" id="{E8A2E50A-384D-82CD-345E-A346B91ACEF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77563" y="3379427"/>
            <a:ext cx="5490258" cy="31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3237</TotalTime>
  <Words>610</Words>
  <Application>Microsoft Macintosh PowerPoint</Application>
  <PresentationFormat>Widescreen</PresentationFormat>
  <Paragraphs>62</Paragraphs>
  <Slides>16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Economica</vt:lpstr>
      <vt:lpstr>Arial</vt:lpstr>
      <vt:lpstr>Quicksand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Gordon Burtch</dc:creator>
  <cp:lastModifiedBy>Burtch, Gordon</cp:lastModifiedBy>
  <cp:revision>56</cp:revision>
  <dcterms:created xsi:type="dcterms:W3CDTF">2019-12-28T13:51:56Z</dcterms:created>
  <dcterms:modified xsi:type="dcterms:W3CDTF">2026-03-24T11:02:03Z</dcterms:modified>
</cp:coreProperties>
</file>