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23"/>
  </p:notesMasterIdLst>
  <p:sldIdLst>
    <p:sldId id="256" r:id="rId2"/>
    <p:sldId id="297" r:id="rId3"/>
    <p:sldId id="260" r:id="rId4"/>
    <p:sldId id="276" r:id="rId5"/>
    <p:sldId id="279" r:id="rId6"/>
    <p:sldId id="280" r:id="rId7"/>
    <p:sldId id="281" r:id="rId8"/>
    <p:sldId id="283" r:id="rId9"/>
    <p:sldId id="284" r:id="rId10"/>
    <p:sldId id="285" r:id="rId11"/>
    <p:sldId id="289" r:id="rId12"/>
    <p:sldId id="290" r:id="rId13"/>
    <p:sldId id="291" r:id="rId14"/>
    <p:sldId id="278" r:id="rId15"/>
    <p:sldId id="286" r:id="rId16"/>
    <p:sldId id="292" r:id="rId17"/>
    <p:sldId id="294" r:id="rId18"/>
    <p:sldId id="295" r:id="rId19"/>
    <p:sldId id="269" r:id="rId20"/>
    <p:sldId id="296" r:id="rId21"/>
    <p:sldId id="275" r:id="rId22"/>
  </p:sldIdLst>
  <p:sldSz cx="12192000" cy="6858000"/>
  <p:notesSz cx="6858000" cy="9144000"/>
  <p:embeddedFontLst>
    <p:embeddedFont>
      <p:font typeface="Economica" panose="02000506040000020004" pitchFamily="2" charset="77"/>
      <p:regular r:id="rId24"/>
      <p:bold r:id="rId25"/>
      <p:italic r:id="rId26"/>
      <p:boldItalic r:id="rId27"/>
    </p:embeddedFont>
    <p:embeddedFont>
      <p:font typeface="Quicksand" pitchFamily="2" charset="77"/>
      <p:regular r:id="rId28"/>
      <p:bold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5" roundtripDataSignature="AMtx7mhCtrfbZFXRrmv5GpDwfTHlXuLhrw=="/>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9CD9D"/>
    <a:srgbClr val="ADC7F4"/>
    <a:srgbClr val="FDCB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02372D1-F9C1-48B9-90D7-9A1CC5A1757B}">
  <a:tblStyle styleId="{602372D1-F9C1-48B9-90D7-9A1CC5A1757B}"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5479"/>
  </p:normalViewPr>
  <p:slideViewPr>
    <p:cSldViewPr snapToGrid="0">
      <p:cViewPr varScale="1">
        <p:scale>
          <a:sx n="103" d="100"/>
          <a:sy n="103" d="100"/>
        </p:scale>
        <p:origin x="13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5" Type="http://customschemas.google.com/relationships/presentationmetadata" Target="meta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C88208DA-3B08-9651-F365-E9670EABF9A3}"/>
            </a:ext>
          </a:extLst>
        </p:cNvPr>
        <p:cNvGrpSpPr/>
        <p:nvPr/>
      </p:nvGrpSpPr>
      <p:grpSpPr>
        <a:xfrm>
          <a:off x="0" y="0"/>
          <a:ext cx="0" cy="0"/>
          <a:chOff x="0" y="0"/>
          <a:chExt cx="0" cy="0"/>
        </a:xfrm>
      </p:grpSpPr>
      <p:sp>
        <p:nvSpPr>
          <p:cNvPr id="106" name="Google Shape;106;p2:notes">
            <a:extLst>
              <a:ext uri="{FF2B5EF4-FFF2-40B4-BE49-F238E27FC236}">
                <a16:creationId xmlns:a16="http://schemas.microsoft.com/office/drawing/2014/main" id="{237F9553-1E3C-04A1-A982-7DBB5D5C2F9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2:notes">
            <a:extLst>
              <a:ext uri="{FF2B5EF4-FFF2-40B4-BE49-F238E27FC236}">
                <a16:creationId xmlns:a16="http://schemas.microsoft.com/office/drawing/2014/main" id="{F8236042-1B2A-25CE-506E-A6F3F3B7750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36866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87567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534170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The challenge here in seq2seq models is to compress all of the input information into a single hidden state, to then enable output generation.</a:t>
            </a:r>
            <a:endParaRPr dirty="0"/>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952422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The challenge here in seq2seq models is to compress all of the input information into a single hidden state, to then enable output generation.</a:t>
            </a:r>
            <a:endParaRPr dirty="0"/>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870423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HOW ATTENTION SCORES ARE COMPUTED:</a:t>
            </a:r>
          </a:p>
          <a:p>
            <a:endParaRPr/>
          </a:p>
          <a:p>
            <a:r>
              <a:t>The bidirectional encoder produces hidden states h1...hN for the input. At each decoder step t, the decoder has its own hidden state s_t.</a:t>
            </a:r>
          </a:p>
          <a:p>
            <a:endParaRPr/>
          </a:p>
          <a:p>
            <a:r>
              <a:t>The score for input position j is computed by a small learned network: score_j = V * tanh(W1 * s_t + W2 * h_j). This is just a tiny Dense layer that takes two vectors (decoder state + encoder state) and outputs a single number representing 'how relevant is input position j to what I'm about to predict?'</a:t>
            </a:r>
          </a:p>
          <a:p>
            <a:endParaRPr/>
          </a:p>
          <a:p>
            <a:r>
              <a:t>Softmax these scores across all input positions to get attention weights (sum to 1). Weighted sum of encoder hidden states gives the context vector.</a:t>
            </a:r>
          </a:p>
          <a:p>
            <a:endParaRPr/>
          </a:p>
          <a:p>
            <a:r>
              <a:t>KEY INSIGHT: This lets the decoder 'look back' at any part of the input at any time, rather than relying on a single compressed vector. The attention weights are learned end-to-end during training.</a:t>
            </a: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4595693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These are the attention scores that the model learns to assign to input tokens (words) across the entire input sequence when predicting a given output token (word) in the output sequence. </a:t>
            </a:r>
          </a:p>
          <a:p>
            <a:pPr marL="0" lvl="0" indent="0" algn="l" rtl="0">
              <a:lnSpc>
                <a:spcPct val="100000"/>
              </a:lnSpc>
              <a:spcBef>
                <a:spcPts val="0"/>
              </a:spcBef>
              <a:spcAft>
                <a:spcPts val="0"/>
              </a:spcAft>
              <a:buSzPts val="1400"/>
              <a:buNone/>
            </a:pPr>
            <a:endParaRPr lang="en-US" dirty="0"/>
          </a:p>
          <a:p>
            <a:pPr marL="0" lvl="0" indent="0" algn="l" rtl="0">
              <a:lnSpc>
                <a:spcPct val="100000"/>
              </a:lnSpc>
              <a:spcBef>
                <a:spcPts val="0"/>
              </a:spcBef>
              <a:spcAft>
                <a:spcPts val="0"/>
              </a:spcAft>
              <a:buSzPts val="1400"/>
              <a:buNone/>
            </a:pPr>
            <a:r>
              <a:rPr lang="en-US" dirty="0"/>
              <a:t>Strong diagonal alone means one-to-one translation of terms works okay, but in several cases we see that the the model pays attention to many other words when deciding how to translate a term… for example, when translating L’ it looks at both “The” and “signed” and “agreement.” </a:t>
            </a:r>
            <a:endParaRPr dirty="0"/>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45269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81847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 for word </a:t>
            </a:r>
            <a:r>
              <a:rPr lang="en-US" dirty="0" err="1"/>
              <a:t>i</a:t>
            </a:r>
            <a:r>
              <a:rPr lang="en-US" dirty="0"/>
              <a:t> is a weighted sum of all words in the sequence, indexed by j. The weights are based on how similar each other word in the sequence is to word </a:t>
            </a:r>
            <a:r>
              <a:rPr lang="en-US" dirty="0" err="1"/>
              <a:t>i</a:t>
            </a:r>
            <a:r>
              <a:rPr lang="en-US" dirty="0"/>
              <a:t> (e.g., based on dot-product). If we find that word I is very semantically similar to many other words in the sequence, we are going to give it a big A (it matters more). If word </a:t>
            </a:r>
            <a:r>
              <a:rPr lang="en-US" dirty="0" err="1"/>
              <a:t>i</a:t>
            </a:r>
            <a:r>
              <a:rPr lang="en-US" dirty="0"/>
              <a:t> is not related to all the other words, we give it a low A. </a:t>
            </a:r>
          </a:p>
          <a:p>
            <a:endParaRPr lang="en-US" dirty="0"/>
          </a:p>
          <a:p>
            <a:r>
              <a:rPr lang="en-US" dirty="0"/>
              <a:t>This is </a:t>
            </a:r>
            <a:r>
              <a:rPr lang="en-US" dirty="0" err="1"/>
              <a:t>keras.layers.Attention</a:t>
            </a:r>
            <a:r>
              <a:rPr lang="en-US" dirty="0"/>
              <a:t>(). It has no trainable weights inside!</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414934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 for word </a:t>
            </a:r>
            <a:r>
              <a:rPr lang="en-US" dirty="0" err="1"/>
              <a:t>i</a:t>
            </a:r>
            <a:r>
              <a:rPr lang="en-US" dirty="0"/>
              <a:t> is a weighted sum of all words in the sequence, indexed by j. The weights are based on how similar each other word in the sequence is to word </a:t>
            </a:r>
            <a:r>
              <a:rPr lang="en-US" dirty="0" err="1"/>
              <a:t>i</a:t>
            </a:r>
            <a:r>
              <a:rPr lang="en-US" dirty="0"/>
              <a:t> (e.g., based on dot-product). If we find that word I is very semantically similar to many other words in the sequence, we are going to give it a big A (it matters more). If word </a:t>
            </a:r>
            <a:r>
              <a:rPr lang="en-US" dirty="0" err="1"/>
              <a:t>i</a:t>
            </a:r>
            <a:r>
              <a:rPr lang="en-US" dirty="0"/>
              <a:t> is not related to all the other words, we give it a low A. </a:t>
            </a:r>
          </a:p>
          <a:p>
            <a:endParaRPr lang="en-US" dirty="0"/>
          </a:p>
          <a:p>
            <a:r>
              <a:rPr lang="en-US" dirty="0"/>
              <a:t>For word </a:t>
            </a:r>
            <a:r>
              <a:rPr lang="en-US" dirty="0" err="1"/>
              <a:t>i</a:t>
            </a:r>
            <a:r>
              <a:rPr lang="en-US" dirty="0"/>
              <a:t>, we take all pairs with other words, j, and calculate their dot products (e). We then </a:t>
            </a:r>
            <a:r>
              <a:rPr lang="en-US" dirty="0" err="1"/>
              <a:t>softmax</a:t>
            </a:r>
            <a:r>
              <a:rPr lang="en-US" dirty="0"/>
              <a:t> the resulting vector of dot product values. This forces the weights to sum to 1, and all lie between 0 and 1. </a:t>
            </a:r>
          </a:p>
          <a:p>
            <a:endParaRPr lang="en-US" dirty="0"/>
          </a:p>
          <a:p>
            <a:r>
              <a:rPr lang="en-US" dirty="0"/>
              <a:t>Once we have the </a:t>
            </a:r>
            <a:r>
              <a:rPr lang="en-US" dirty="0" err="1"/>
              <a:t>a_ij</a:t>
            </a:r>
            <a:r>
              <a:rPr lang="en-US" dirty="0"/>
              <a:t> reflecting word i’s association to each other word, we can now multiply the weights by each word in the sequence and add them up to get big A (roughly interpreted as the importance of word </a:t>
            </a:r>
            <a:r>
              <a:rPr lang="en-US" dirty="0" err="1"/>
              <a:t>i</a:t>
            </a:r>
            <a:r>
              <a:rPr lang="en-US" dirty="0"/>
              <a:t>, or how much attention we should pay to word </a:t>
            </a:r>
            <a:r>
              <a:rPr lang="en-US" dirty="0" err="1"/>
              <a:t>i</a:t>
            </a:r>
            <a:r>
              <a:rPr lang="en-US" dirty="0"/>
              <a:t>.  </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8764805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Basically, what we end up with is a vector of A values (one for each input), which we use to predict outputs. You can think about this as replacing term </a:t>
            </a:r>
            <a:r>
              <a:rPr lang="en-US" dirty="0" err="1"/>
              <a:t>x_i</a:t>
            </a:r>
            <a:r>
              <a:rPr lang="en-US" dirty="0"/>
              <a:t> with a context-aware version of </a:t>
            </a:r>
            <a:r>
              <a:rPr lang="en-US" dirty="0" err="1"/>
              <a:t>x_i</a:t>
            </a:r>
            <a:r>
              <a:rPr lang="en-US" dirty="0"/>
              <a:t>. It’s like, forget about </a:t>
            </a:r>
            <a:r>
              <a:rPr lang="en-US" dirty="0" err="1"/>
              <a:t>x_i</a:t>
            </a:r>
            <a:r>
              <a:rPr lang="en-US" dirty="0"/>
              <a:t>, let’s think about an embedding which is a combination of all the words in the sequence (including term </a:t>
            </a:r>
            <a:r>
              <a:rPr lang="en-US" dirty="0" err="1"/>
              <a:t>x_i</a:t>
            </a:r>
            <a:r>
              <a:rPr lang="en-US" dirty="0"/>
              <a:t>) that collectively relate to the concept that word </a:t>
            </a:r>
            <a:r>
              <a:rPr lang="en-US" dirty="0" err="1"/>
              <a:t>x_i</a:t>
            </a:r>
            <a:r>
              <a:rPr lang="en-US" dirty="0"/>
              <a:t> captures. We are looking over the entire input set and adjusting each input token based on what is happening elsewhere in the input set that is relevant to the input token.</a:t>
            </a:r>
          </a:p>
          <a:p>
            <a:endParaRPr lang="en-US" dirty="0"/>
          </a:p>
          <a:p>
            <a:r>
              <a:rPr lang="en-US" dirty="0"/>
              <a:t>Some notes…</a:t>
            </a:r>
          </a:p>
          <a:p>
            <a:r>
              <a:rPr lang="en-US" dirty="0"/>
              <a:t>	</a:t>
            </a:r>
            <a:r>
              <a:rPr lang="en-US" dirty="0" err="1"/>
              <a:t>x_i</a:t>
            </a:r>
            <a:r>
              <a:rPr lang="en-US" dirty="0"/>
              <a:t> is a vector (embedding).</a:t>
            </a:r>
          </a:p>
          <a:p>
            <a:r>
              <a:rPr lang="en-US" dirty="0"/>
              <a:t>	</a:t>
            </a:r>
            <a:r>
              <a:rPr lang="en-US" dirty="0" err="1"/>
              <a:t>x_i</a:t>
            </a:r>
            <a:r>
              <a:rPr lang="en-US" dirty="0"/>
              <a:t> dot </a:t>
            </a:r>
            <a:r>
              <a:rPr lang="en-US" dirty="0" err="1"/>
              <a:t>x_j</a:t>
            </a:r>
            <a:r>
              <a:rPr lang="en-US" dirty="0"/>
              <a:t> is a scalar</a:t>
            </a:r>
          </a:p>
          <a:p>
            <a:r>
              <a:rPr lang="en-US" dirty="0"/>
              <a:t>	</a:t>
            </a:r>
            <a:r>
              <a:rPr lang="en-US" dirty="0" err="1"/>
              <a:t>a_i,j</a:t>
            </a:r>
            <a:r>
              <a:rPr lang="en-US" dirty="0"/>
              <a:t> is the </a:t>
            </a:r>
            <a:r>
              <a:rPr lang="en-US" dirty="0" err="1"/>
              <a:t>softmax</a:t>
            </a:r>
            <a:r>
              <a:rPr lang="en-US" dirty="0"/>
              <a:t> of those various dot products, and each output is again a scalar. </a:t>
            </a:r>
          </a:p>
          <a:p>
            <a:r>
              <a:rPr lang="en-US" dirty="0"/>
              <a:t>	</a:t>
            </a:r>
            <a:r>
              <a:rPr lang="en-US" dirty="0" err="1"/>
              <a:t>A_i</a:t>
            </a:r>
            <a:r>
              <a:rPr lang="en-US" dirty="0"/>
              <a:t> = </a:t>
            </a:r>
            <a:r>
              <a:rPr lang="en-US" dirty="0" err="1"/>
              <a:t>sumprod</a:t>
            </a:r>
            <a:r>
              <a:rPr lang="en-US" dirty="0"/>
              <a:t>(</a:t>
            </a:r>
            <a:r>
              <a:rPr lang="en-US" dirty="0" err="1"/>
              <a:t>a_i,j</a:t>
            </a:r>
            <a:r>
              <a:rPr lang="en-US" dirty="0"/>
              <a:t> and </a:t>
            </a:r>
            <a:r>
              <a:rPr lang="en-US" dirty="0" err="1"/>
              <a:t>x_j</a:t>
            </a:r>
            <a:r>
              <a:rPr lang="en-US" dirty="0"/>
              <a:t>) which is a vector because we sum over only one axis (if we have an 8D embedding to start, we sum over the 8 Ds, and get an 8D context-adjusted embedding. </a:t>
            </a:r>
          </a:p>
          <a:p>
            <a:r>
              <a:rPr lang="en-US" dirty="0"/>
              <a:t>	for </a:t>
            </a:r>
            <a:r>
              <a:rPr lang="en-US" dirty="0" err="1"/>
              <a:t>x_i</a:t>
            </a:r>
            <a:r>
              <a:rPr lang="en-US" dirty="0"/>
              <a:t> we are left with one </a:t>
            </a:r>
            <a:r>
              <a:rPr lang="en-US" dirty="0" err="1"/>
              <a:t>A_i</a:t>
            </a:r>
            <a:r>
              <a:rPr lang="en-US" dirty="0"/>
              <a:t> (the adjusted version of </a:t>
            </a:r>
            <a:r>
              <a:rPr lang="en-US" dirty="0" err="1"/>
              <a:t>x_i</a:t>
            </a:r>
            <a:r>
              <a:rPr lang="en-US" dirty="0"/>
              <a:t>. </a:t>
            </a:r>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0984283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648988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544938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Query, Key and Value comes from the idea of a database lookup. </a:t>
            </a:r>
          </a:p>
          <a:p>
            <a:pPr marL="0" lvl="0" indent="0" algn="l" rtl="0">
              <a:lnSpc>
                <a:spcPct val="100000"/>
              </a:lnSpc>
              <a:spcBef>
                <a:spcPts val="0"/>
              </a:spcBef>
              <a:spcAft>
                <a:spcPts val="0"/>
              </a:spcAft>
              <a:buSzPts val="1400"/>
              <a:buNone/>
            </a:pPr>
            <a:r>
              <a:rPr lang="en-US" dirty="0"/>
              <a:t>Query, Key and Value are all weight-matrix multiplied versions of the original input sequence (of embeddings). Thus, rather than use the raw embedding and take its dot product with other raw embeddings, now we have trainable parameters that first apply possibly different transformations to the input embedding of the focal token, to the embeddings of the other tokens in the context, and we then incorporate the eventual attention-modified contextual embedding multiplicatively, with yet another weighted version of the original input embedding. The process is essentially the same as scaled dot-product, but now we have a whole bunch of trainable parameters that let us play with *what* we take the dot products of, and with how we integrate the the attention-weighted information into our prediction. </a:t>
            </a: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314895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Query, Key and Value comes from the idea of a database lookup. </a:t>
            </a:r>
          </a:p>
          <a:p>
            <a:pPr marL="0" lvl="0" indent="0" algn="l" rtl="0">
              <a:lnSpc>
                <a:spcPct val="100000"/>
              </a:lnSpc>
              <a:spcBef>
                <a:spcPts val="0"/>
              </a:spcBef>
              <a:spcAft>
                <a:spcPts val="0"/>
              </a:spcAft>
              <a:buSzPts val="1400"/>
              <a:buNone/>
            </a:pPr>
            <a:r>
              <a:rPr lang="en-US" dirty="0"/>
              <a:t>Query, Key and Value are all weight-matrix multiplied versions of the original input sequence (of embeddings). Thus, rather than use the raw embedding and take its dot product with other raw embeddings, now we have trainable parameters that first apply possibly different transformations to the input embedding of the focal token, to the embeddings of the other tokens in the context, and we then incorporate the eventual attention-modified contextual embedding multiplicatively, with yet another weighted version of the original input embedding. The process is essentially the same as scaled dot-product, but now we have a whole bunch of trainable parameters that let us play with *what* we take the dot products of, and with how we integrate the the attention-weighted information into our prediction. </a:t>
            </a:r>
          </a:p>
        </p:txBody>
      </p:sp>
      <p:sp>
        <p:nvSpPr>
          <p:cNvPr id="121" name="Google Shape;12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279001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28BB4C01-BD32-8477-12C7-4E65BA82656A}"/>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23BD99E4-B9C5-0992-E4BE-498A0F733CC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121" name="Google Shape;121;p4:notes">
            <a:extLst>
              <a:ext uri="{FF2B5EF4-FFF2-40B4-BE49-F238E27FC236}">
                <a16:creationId xmlns:a16="http://schemas.microsoft.com/office/drawing/2014/main" id="{F5C8C838-C86B-7024-B601-12F18D6B42A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956302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a:extLst>
            <a:ext uri="{FF2B5EF4-FFF2-40B4-BE49-F238E27FC236}">
              <a16:creationId xmlns:a16="http://schemas.microsoft.com/office/drawing/2014/main" id="{55120D00-0281-A783-1E65-49DAE159151D}"/>
            </a:ext>
          </a:extLst>
        </p:cNvPr>
        <p:cNvGrpSpPr/>
        <p:nvPr/>
      </p:nvGrpSpPr>
      <p:grpSpPr>
        <a:xfrm>
          <a:off x="0" y="0"/>
          <a:ext cx="0" cy="0"/>
          <a:chOff x="0" y="0"/>
          <a:chExt cx="0" cy="0"/>
        </a:xfrm>
      </p:grpSpPr>
      <p:sp>
        <p:nvSpPr>
          <p:cNvPr id="120" name="Google Shape;120;p4:notes">
            <a:extLst>
              <a:ext uri="{FF2B5EF4-FFF2-40B4-BE49-F238E27FC236}">
                <a16:creationId xmlns:a16="http://schemas.microsoft.com/office/drawing/2014/main" id="{3621C1D0-BAF5-D97E-8348-F9FEE2A1998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en-US" dirty="0"/>
          </a:p>
        </p:txBody>
      </p:sp>
      <p:sp>
        <p:nvSpPr>
          <p:cNvPr id="121" name="Google Shape;121;p4:notes">
            <a:extLst>
              <a:ext uri="{FF2B5EF4-FFF2-40B4-BE49-F238E27FC236}">
                <a16:creationId xmlns:a16="http://schemas.microsoft.com/office/drawing/2014/main" id="{7E386490-EDB0-EBC9-FD9A-3393730C5C2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892497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7" name="Google Shape;237;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Weights are not initialized until you “build” the model (or compile it, which will first build). </a:t>
            </a:r>
            <a:endParaRPr/>
          </a:p>
        </p:txBody>
      </p:sp>
      <p:sp>
        <p:nvSpPr>
          <p:cNvPr id="238" name="Google Shape;238;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9"/>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0" name="Google Shape;20;p19"/>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Economica"/>
                <a:ea typeface="Economica"/>
                <a:cs typeface="Economica"/>
                <a:sym typeface="Economica"/>
              </a:rPr>
              <a:t>© Gordon Burtch, 2026</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
        <p:nvSpPr>
          <p:cNvPr id="27" name="Google Shape;27;p20"/>
          <p:cNvSpPr txBox="1"/>
          <p:nvPr/>
        </p:nvSpPr>
        <p:spPr>
          <a:xfrm>
            <a:off x="168440" y="6349018"/>
            <a:ext cx="1695083" cy="338554"/>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dirty="0">
                <a:solidFill>
                  <a:schemeClr val="dk1"/>
                </a:solidFill>
                <a:latin typeface="Economica"/>
                <a:ea typeface="Economica"/>
                <a:cs typeface="Economica"/>
                <a:sym typeface="Economica"/>
              </a:rPr>
              <a:t>© Gordon Burtch, 2026</a:t>
            </a:r>
            <a:endParaRPr sz="1400" b="0" i="0" u="none" strike="noStrike" cap="none" dirty="0">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2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2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2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2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2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2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2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2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2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7"/>
          <p:cNvSpPr>
            <a:spLocks noGrp="1"/>
          </p:cNvSpPr>
          <p:nvPr>
            <p:ph type="pic" idx="2"/>
          </p:nvPr>
        </p:nvSpPr>
        <p:spPr>
          <a:xfrm>
            <a:off x="5183188" y="987425"/>
            <a:ext cx="6172200" cy="4873625"/>
          </a:xfrm>
          <a:prstGeom prst="rect">
            <a:avLst/>
          </a:prstGeom>
          <a:noFill/>
          <a:ln>
            <a:noFill/>
          </a:ln>
        </p:spPr>
      </p:sp>
      <p:sp>
        <p:nvSpPr>
          <p:cNvPr id="69" name="Google Shape;69;p2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2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grpSp>
        <p:nvGrpSpPr>
          <p:cNvPr id="89" name="Google Shape;89;p1"/>
          <p:cNvGrpSpPr/>
          <p:nvPr/>
        </p:nvGrpSpPr>
        <p:grpSpPr>
          <a:xfrm>
            <a:off x="3058028" y="1385048"/>
            <a:ext cx="5999745" cy="1657524"/>
            <a:chOff x="3164307" y="2588206"/>
            <a:chExt cx="5999745" cy="1657524"/>
          </a:xfrm>
        </p:grpSpPr>
        <p:grpSp>
          <p:nvGrpSpPr>
            <p:cNvPr id="91" name="Google Shape;91;p1"/>
            <p:cNvGrpSpPr/>
            <p:nvPr/>
          </p:nvGrpSpPr>
          <p:grpSpPr>
            <a:xfrm>
              <a:off x="3164307" y="2588206"/>
              <a:ext cx="1213182" cy="661736"/>
              <a:chOff x="3132555" y="2419542"/>
              <a:chExt cx="1651279" cy="1070810"/>
            </a:xfrm>
          </p:grpSpPr>
          <p:cxnSp>
            <p:nvCxnSpPr>
              <p:cNvPr id="92" name="Google Shape;92;p1"/>
              <p:cNvCxnSpPr/>
              <p:nvPr/>
            </p:nvCxnSpPr>
            <p:spPr>
              <a:xfrm>
                <a:off x="3132555" y="2419542"/>
                <a:ext cx="1651279" cy="0"/>
              </a:xfrm>
              <a:prstGeom prst="straightConnector1">
                <a:avLst/>
              </a:prstGeom>
              <a:noFill/>
              <a:ln w="38100" cap="flat" cmpd="sng">
                <a:solidFill>
                  <a:schemeClr val="accent1"/>
                </a:solidFill>
                <a:prstDash val="solid"/>
                <a:miter lim="800000"/>
                <a:headEnd type="none" w="sm" len="sm"/>
                <a:tailEnd type="none" w="sm" len="sm"/>
              </a:ln>
            </p:spPr>
          </p:cxnSp>
          <p:cxnSp>
            <p:nvCxnSpPr>
              <p:cNvPr id="93" name="Google Shape;93;p1"/>
              <p:cNvCxnSpPr/>
              <p:nvPr/>
            </p:nvCxnSpPr>
            <p:spPr>
              <a:xfrm rot="10800000">
                <a:off x="3132555" y="241954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nvGrpSpPr>
            <p:cNvPr id="94" name="Google Shape;94;p1"/>
            <p:cNvGrpSpPr/>
            <p:nvPr/>
          </p:nvGrpSpPr>
          <p:grpSpPr>
            <a:xfrm rot="10800000">
              <a:off x="8071184" y="3583994"/>
              <a:ext cx="1092868" cy="661736"/>
              <a:chOff x="3269088" y="2458482"/>
              <a:chExt cx="1388919" cy="1070810"/>
            </a:xfrm>
          </p:grpSpPr>
          <p:cxnSp>
            <p:nvCxnSpPr>
              <p:cNvPr id="95" name="Google Shape;95;p1"/>
              <p:cNvCxnSpPr/>
              <p:nvPr/>
            </p:nvCxnSpPr>
            <p:spPr>
              <a:xfrm>
                <a:off x="3269088" y="2458484"/>
                <a:ext cx="1388919" cy="0"/>
              </a:xfrm>
              <a:prstGeom prst="straightConnector1">
                <a:avLst/>
              </a:prstGeom>
              <a:noFill/>
              <a:ln w="38100" cap="flat" cmpd="sng">
                <a:solidFill>
                  <a:schemeClr val="accent1"/>
                </a:solidFill>
                <a:prstDash val="solid"/>
                <a:miter lim="800000"/>
                <a:headEnd type="none" w="sm" len="sm"/>
                <a:tailEnd type="none" w="sm" len="sm"/>
              </a:ln>
            </p:spPr>
          </p:cxnSp>
          <p:cxnSp>
            <p:nvCxnSpPr>
              <p:cNvPr id="96" name="Google Shape;96;p1"/>
              <p:cNvCxnSpPr/>
              <p:nvPr/>
            </p:nvCxnSpPr>
            <p:spPr>
              <a:xfrm rot="10800000">
                <a:off x="3269088" y="2458482"/>
                <a:ext cx="0" cy="1070810"/>
              </a:xfrm>
              <a:prstGeom prst="straightConnector1">
                <a:avLst/>
              </a:prstGeom>
              <a:noFill/>
              <a:ln w="38100" cap="flat" cmpd="sng">
                <a:solidFill>
                  <a:schemeClr val="accent1"/>
                </a:solidFill>
                <a:prstDash val="solid"/>
                <a:miter lim="800000"/>
                <a:headEnd type="none" w="sm" len="sm"/>
                <a:tailEnd type="none" w="sm" len="sm"/>
              </a:ln>
            </p:spPr>
          </p:cxnSp>
        </p:grpSp>
      </p:grpSp>
      <p:sp>
        <p:nvSpPr>
          <p:cNvPr id="97" name="Google Shape;97;p1"/>
          <p:cNvSpPr txBox="1"/>
          <p:nvPr/>
        </p:nvSpPr>
        <p:spPr>
          <a:xfrm>
            <a:off x="3598447" y="1773262"/>
            <a:ext cx="4995106" cy="830956"/>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4800" b="0" i="0" u="none" strike="noStrike" cap="none" dirty="0">
                <a:solidFill>
                  <a:schemeClr val="dk1"/>
                </a:solidFill>
                <a:latin typeface="Economica"/>
                <a:ea typeface="Economica"/>
                <a:cs typeface="Economica"/>
                <a:sym typeface="Economica"/>
              </a:rPr>
              <a:t>Attention &amp; Transformers</a:t>
            </a:r>
            <a:endParaRPr sz="2800" b="0" i="0" u="none" strike="noStrike" cap="none" dirty="0">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94B41EE0-6D88-ED67-BC81-4CE8D8C8A132}"/>
            </a:ext>
          </a:extLst>
        </p:cNvPr>
        <p:cNvGrpSpPr/>
        <p:nvPr/>
      </p:nvGrpSpPr>
      <p:grpSpPr>
        <a:xfrm>
          <a:off x="0" y="0"/>
          <a:ext cx="0" cy="0"/>
          <a:chOff x="0" y="0"/>
          <a:chExt cx="0" cy="0"/>
        </a:xfrm>
      </p:grpSpPr>
      <p:sp>
        <p:nvSpPr>
          <p:cNvPr id="109" name="Google Shape;109;p2">
            <a:extLst>
              <a:ext uri="{FF2B5EF4-FFF2-40B4-BE49-F238E27FC236}">
                <a16:creationId xmlns:a16="http://schemas.microsoft.com/office/drawing/2014/main" id="{549F794D-868D-AF2E-611A-7400BC317AAA}"/>
              </a:ext>
            </a:extLst>
          </p:cNvPr>
          <p:cNvSpPr txBox="1"/>
          <p:nvPr/>
        </p:nvSpPr>
        <p:spPr>
          <a:xfrm>
            <a:off x="2865521" y="586938"/>
            <a:ext cx="6460957" cy="92333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5400"/>
              <a:buFont typeface="Arial"/>
              <a:buNone/>
            </a:pPr>
            <a:r>
              <a:rPr lang="en-US" sz="5400" dirty="0">
                <a:solidFill>
                  <a:schemeClr val="dk1"/>
                </a:solidFill>
                <a:latin typeface="Economica"/>
                <a:ea typeface="Economica"/>
                <a:cs typeface="Economica"/>
                <a:sym typeface="Economica"/>
              </a:rPr>
              <a:t>This Session’s</a:t>
            </a:r>
            <a:r>
              <a:rPr lang="en-US" sz="5400" b="0" i="0" u="none" strike="noStrike" cap="none" dirty="0">
                <a:solidFill>
                  <a:schemeClr val="dk1"/>
                </a:solidFill>
                <a:latin typeface="Economica"/>
                <a:ea typeface="Economica"/>
                <a:cs typeface="Economica"/>
                <a:sym typeface="Economica"/>
              </a:rPr>
              <a:t> Agenda</a:t>
            </a:r>
            <a:endParaRPr sz="1400" b="0" i="0" u="none" strike="noStrike" cap="none" dirty="0">
              <a:solidFill>
                <a:srgbClr val="000000"/>
              </a:solidFill>
              <a:latin typeface="Arial"/>
              <a:ea typeface="Arial"/>
              <a:cs typeface="Arial"/>
              <a:sym typeface="Arial"/>
            </a:endParaRPr>
          </a:p>
        </p:txBody>
      </p:sp>
      <p:sp>
        <p:nvSpPr>
          <p:cNvPr id="110" name="Google Shape;110;p2">
            <a:extLst>
              <a:ext uri="{FF2B5EF4-FFF2-40B4-BE49-F238E27FC236}">
                <a16:creationId xmlns:a16="http://schemas.microsoft.com/office/drawing/2014/main" id="{8CE3222B-27D6-86BE-3CF3-A1CE8B14B549}"/>
              </a:ext>
            </a:extLst>
          </p:cNvPr>
          <p:cNvSpPr txBox="1"/>
          <p:nvPr/>
        </p:nvSpPr>
        <p:spPr>
          <a:xfrm>
            <a:off x="890337" y="1940249"/>
            <a:ext cx="6078874" cy="375483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dirty="0">
                <a:solidFill>
                  <a:schemeClr val="dk1"/>
                </a:solidFill>
                <a:latin typeface="Quicksand"/>
                <a:ea typeface="Quicksand"/>
                <a:cs typeface="Quicksand"/>
                <a:sym typeface="Quicksand"/>
              </a:rPr>
              <a:t>Attention Mechanism in RNNs for </a:t>
            </a:r>
            <a:br>
              <a:rPr lang="en-US" sz="2000" b="1" i="0" u="none" strike="noStrike" cap="none" dirty="0">
                <a:solidFill>
                  <a:schemeClr val="dk1"/>
                </a:solidFill>
                <a:latin typeface="Quicksand"/>
                <a:ea typeface="Quicksand"/>
                <a:cs typeface="Quicksand"/>
                <a:sym typeface="Quicksand"/>
              </a:rPr>
            </a:br>
            <a:r>
              <a:rPr lang="en-US" sz="2000" b="1" i="0" u="none" strike="noStrike" cap="none" dirty="0">
                <a:solidFill>
                  <a:schemeClr val="dk1"/>
                </a:solidFill>
                <a:latin typeface="Quicksand"/>
                <a:ea typeface="Quicksand"/>
                <a:cs typeface="Quicksand"/>
                <a:sym typeface="Quicksand"/>
              </a:rPr>
              <a:t>Translation </a:t>
            </a:r>
            <a:r>
              <a:rPr lang="en-US" sz="2000" b="1" dirty="0">
                <a:solidFill>
                  <a:schemeClr val="dk1"/>
                </a:solidFill>
                <a:latin typeface="Quicksand"/>
                <a:ea typeface="Quicksand"/>
                <a:cs typeface="Quicksand"/>
                <a:sym typeface="Quicksand"/>
              </a:rPr>
              <a:t>(2014)</a:t>
            </a:r>
            <a:endParaRPr lang="en-US" sz="1800" b="0" i="0" u="none" strike="noStrike" cap="none" dirty="0">
              <a:solidFill>
                <a:schemeClr val="dk1"/>
              </a:solidFill>
              <a:latin typeface="Quicksand"/>
              <a:ea typeface="Quicksand"/>
              <a:cs typeface="Quicksand"/>
              <a:sym typeface="Quicksand"/>
            </a:endParaRPr>
          </a:p>
          <a:p>
            <a:pPr marL="342900" lvl="0" indent="-342900">
              <a:buClr>
                <a:schemeClr val="dk1"/>
              </a:buClr>
              <a:buSzPts val="1800"/>
              <a:buFont typeface="Arial"/>
              <a:buChar char="•"/>
            </a:pPr>
            <a:r>
              <a:rPr lang="en-US" sz="1800" dirty="0">
                <a:solidFill>
                  <a:schemeClr val="dk1"/>
                </a:solidFill>
                <a:latin typeface="Quicksand"/>
                <a:ea typeface="Quicksand"/>
                <a:cs typeface="Quicksand"/>
                <a:sym typeface="Quicksand"/>
              </a:rPr>
              <a:t>Sequence-to-sequence </a:t>
            </a:r>
            <a:r>
              <a:rPr lang="en-US" sz="1800" b="0" i="0" u="none" strike="noStrike" cap="none" dirty="0">
                <a:solidFill>
                  <a:schemeClr val="dk1"/>
                </a:solidFill>
                <a:latin typeface="Quicksand"/>
                <a:ea typeface="Quicksand"/>
                <a:cs typeface="Quicksand"/>
                <a:sym typeface="Quicksand"/>
              </a:rPr>
              <a:t>models with attention in translation tasks. </a:t>
            </a:r>
            <a:endParaRPr lang="en-US"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lang="en-US" sz="1800" b="1" i="0" u="none" strike="noStrike" cap="none" dirty="0">
              <a:solidFill>
                <a:schemeClr val="dk1"/>
              </a:solidFill>
              <a:latin typeface="Quicksand"/>
              <a:ea typeface="Quicksand"/>
              <a:cs typeface="Quicksand"/>
              <a:sym typeface="Quicksand"/>
            </a:endParaRPr>
          </a:p>
          <a:p>
            <a:pPr marL="0" marR="0" lvl="0" indent="0" algn="l" rtl="0">
              <a:lnSpc>
                <a:spcPct val="100000"/>
              </a:lnSpc>
              <a:spcBef>
                <a:spcPts val="0"/>
              </a:spcBef>
              <a:spcAft>
                <a:spcPts val="0"/>
              </a:spcAft>
              <a:buClr>
                <a:srgbClr val="000000"/>
              </a:buClr>
              <a:buSzPts val="2000"/>
              <a:buFont typeface="Arial"/>
              <a:buNone/>
            </a:pPr>
            <a:r>
              <a:rPr lang="en-US" sz="2000" b="1" dirty="0">
                <a:solidFill>
                  <a:schemeClr val="dk1"/>
                </a:solidFill>
                <a:latin typeface="Quicksand"/>
                <a:ea typeface="Quicksand"/>
                <a:cs typeface="Quicksand"/>
                <a:sym typeface="Quicksand"/>
              </a:rPr>
              <a:t>Dot Product Attention (No RNNs Required) </a:t>
            </a:r>
            <a:endParaRPr lang="en-US" sz="1800" b="0" i="0" u="none" strike="noStrike" cap="none" dirty="0">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Hard-code a rule for determining semantic similarity between a focal token and all other tokens in the sequence</a:t>
            </a:r>
            <a:endParaRPr lang="en-US" sz="18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lang="en-US"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r>
              <a:rPr lang="en-US" sz="2000" b="1" dirty="0">
                <a:solidFill>
                  <a:schemeClr val="dk1"/>
                </a:solidFill>
                <a:latin typeface="Quicksand"/>
                <a:ea typeface="Quicksand"/>
                <a:cs typeface="Quicksand"/>
                <a:sym typeface="Quicksand"/>
              </a:rPr>
              <a:t>QKV Framework &amp; Multi-head Attention</a:t>
            </a:r>
            <a:endParaRPr lang="en-US" sz="1800" b="0" i="0" u="none" strike="noStrike" cap="none" dirty="0">
              <a:solidFill>
                <a:schemeClr val="dk1"/>
              </a:solidFill>
              <a:latin typeface="Quicksand"/>
              <a:ea typeface="Quicksand"/>
              <a:cs typeface="Quicksand"/>
              <a:sym typeface="Quicksand"/>
            </a:endParaRPr>
          </a:p>
          <a:p>
            <a:pPr marL="342900" marR="0" lvl="0" indent="-342900" algn="l" rtl="0">
              <a:lnSpc>
                <a:spcPct val="100000"/>
              </a:lnSpc>
              <a:spcBef>
                <a:spcPts val="0"/>
              </a:spcBef>
              <a:spcAft>
                <a:spcPts val="0"/>
              </a:spcAft>
              <a:buClr>
                <a:schemeClr val="dk1"/>
              </a:buClr>
              <a:buSzPts val="1800"/>
              <a:buFont typeface="Arial"/>
              <a:buChar char="•"/>
            </a:pPr>
            <a:r>
              <a:rPr lang="en-US" sz="1800" b="0" i="0" u="none" strike="noStrike" cap="none" dirty="0">
                <a:solidFill>
                  <a:schemeClr val="dk1"/>
                </a:solidFill>
                <a:latin typeface="Quicksand"/>
                <a:ea typeface="Quicksand"/>
                <a:cs typeface="Quicksand"/>
                <a:sym typeface="Quicksand"/>
              </a:rPr>
              <a:t>We can incorporate trainable weights around the attention mechanism.</a:t>
            </a:r>
          </a:p>
        </p:txBody>
      </p:sp>
      <p:pic>
        <p:nvPicPr>
          <p:cNvPr id="2" name="Picture 2" descr="Build an Effective Meeting Agenda Template | WorkPatterns">
            <a:extLst>
              <a:ext uri="{FF2B5EF4-FFF2-40B4-BE49-F238E27FC236}">
                <a16:creationId xmlns:a16="http://schemas.microsoft.com/office/drawing/2014/main" id="{A037058D-D015-B7DA-DD6A-8FAC1B73C38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5298" y="2476129"/>
            <a:ext cx="5026702" cy="26429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72889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title"/>
          </p:nvPr>
        </p:nvSpPr>
        <p:spPr>
          <a:xfrm>
            <a:off x="838200" y="376414"/>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TF-IDF is “Static Attention”</a:t>
            </a:r>
            <a:endParaRPr dirty="0"/>
          </a:p>
        </p:txBody>
      </p:sp>
      <p:sp>
        <p:nvSpPr>
          <p:cNvPr id="124" name="Google Shape;124;p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0" lvl="0" indent="0" algn="l" rtl="0">
              <a:lnSpc>
                <a:spcPct val="90000"/>
              </a:lnSpc>
              <a:spcBef>
                <a:spcPts val="0"/>
              </a:spcBef>
              <a:spcAft>
                <a:spcPts val="0"/>
              </a:spcAft>
              <a:buClr>
                <a:schemeClr val="dk1"/>
              </a:buClr>
              <a:buSzPct val="100000"/>
              <a:buNone/>
            </a:pPr>
            <a:r>
              <a:rPr lang="en-US" sz="2200" b="1" dirty="0"/>
              <a:t>Not all phrases are of equal importance…</a:t>
            </a:r>
            <a:endParaRPr dirty="0"/>
          </a:p>
          <a:p>
            <a:pPr marL="347663" lvl="1" indent="-236600" algn="l" rtl="0">
              <a:lnSpc>
                <a:spcPct val="90000"/>
              </a:lnSpc>
              <a:spcBef>
                <a:spcPts val="500"/>
              </a:spcBef>
              <a:spcAft>
                <a:spcPts val="0"/>
              </a:spcAft>
              <a:buClr>
                <a:schemeClr val="dk1"/>
              </a:buClr>
              <a:buSzPct val="100000"/>
              <a:buChar char="•"/>
            </a:pPr>
            <a:r>
              <a:rPr lang="en-US" sz="1900" dirty="0"/>
              <a:t>E.g., David less important than Beckham</a:t>
            </a:r>
            <a:endParaRPr dirty="0"/>
          </a:p>
          <a:p>
            <a:pPr marL="347663" lvl="1" indent="-236600" algn="l" rtl="0">
              <a:lnSpc>
                <a:spcPct val="90000"/>
              </a:lnSpc>
              <a:spcBef>
                <a:spcPts val="500"/>
              </a:spcBef>
              <a:spcAft>
                <a:spcPts val="0"/>
              </a:spcAft>
              <a:buClr>
                <a:schemeClr val="dk1"/>
              </a:buClr>
              <a:buSzPct val="100000"/>
              <a:buChar char="•"/>
            </a:pPr>
            <a:r>
              <a:rPr lang="en-US" sz="1900" dirty="0"/>
              <a:t>If a term occurs all the time, observing its presence is less informative</a:t>
            </a:r>
            <a:endParaRPr dirty="0"/>
          </a:p>
          <a:p>
            <a:pPr marL="228600" lvl="0" indent="-55118" algn="l" rtl="0">
              <a:lnSpc>
                <a:spcPct val="90000"/>
              </a:lnSpc>
              <a:spcBef>
                <a:spcPts val="1000"/>
              </a:spcBef>
              <a:spcAft>
                <a:spcPts val="0"/>
              </a:spcAft>
              <a:buClr>
                <a:schemeClr val="dk1"/>
              </a:buClr>
              <a:buSzPct val="100000"/>
              <a:buNone/>
            </a:pPr>
            <a:endParaRPr sz="2954" dirty="0"/>
          </a:p>
          <a:p>
            <a:pPr marL="0" lvl="0" indent="0" algn="l" rtl="0">
              <a:lnSpc>
                <a:spcPct val="90000"/>
              </a:lnSpc>
              <a:spcBef>
                <a:spcPts val="1000"/>
              </a:spcBef>
              <a:spcAft>
                <a:spcPts val="0"/>
              </a:spcAft>
              <a:buClr>
                <a:schemeClr val="dk1"/>
              </a:buClr>
              <a:buSzPct val="100000"/>
              <a:buNone/>
            </a:pPr>
            <a:r>
              <a:rPr lang="en-US" sz="2200" b="1" dirty="0"/>
              <a:t>Inverse-document frequency (IDF) helps address this.  </a:t>
            </a:r>
            <a:endParaRPr dirty="0"/>
          </a:p>
          <a:p>
            <a:pPr marL="685800" lvl="1" indent="-84009" algn="l" rtl="0">
              <a:lnSpc>
                <a:spcPct val="90000"/>
              </a:lnSpc>
              <a:spcBef>
                <a:spcPts val="500"/>
              </a:spcBef>
              <a:spcAft>
                <a:spcPts val="0"/>
              </a:spcAft>
              <a:buClr>
                <a:schemeClr val="dk1"/>
              </a:buClr>
              <a:buSzPct val="100000"/>
              <a:buNone/>
            </a:pPr>
            <a:endParaRPr sz="2462" dirty="0"/>
          </a:p>
          <a:p>
            <a:pPr marL="685800" lvl="1" indent="-84009" algn="l" rtl="0">
              <a:lnSpc>
                <a:spcPct val="90000"/>
              </a:lnSpc>
              <a:spcBef>
                <a:spcPts val="500"/>
              </a:spcBef>
              <a:spcAft>
                <a:spcPts val="0"/>
              </a:spcAft>
              <a:buClr>
                <a:schemeClr val="dk1"/>
              </a:buClr>
              <a:buSzPct val="100000"/>
              <a:buNone/>
            </a:pPr>
            <a:endParaRPr sz="2462" dirty="0"/>
          </a:p>
          <a:p>
            <a:pPr marL="685800" lvl="1" indent="-84009" algn="l" rtl="0">
              <a:lnSpc>
                <a:spcPct val="90000"/>
              </a:lnSpc>
              <a:spcBef>
                <a:spcPts val="500"/>
              </a:spcBef>
              <a:spcAft>
                <a:spcPts val="0"/>
              </a:spcAft>
              <a:buClr>
                <a:schemeClr val="dk1"/>
              </a:buClr>
              <a:buSzPct val="100000"/>
              <a:buNone/>
            </a:pPr>
            <a:endParaRPr sz="2462" dirty="0"/>
          </a:p>
          <a:p>
            <a:pPr marL="685800" lvl="1" indent="-228662" algn="l" rtl="0">
              <a:lnSpc>
                <a:spcPct val="90000"/>
              </a:lnSpc>
              <a:spcBef>
                <a:spcPts val="500"/>
              </a:spcBef>
              <a:spcAft>
                <a:spcPts val="0"/>
              </a:spcAft>
              <a:buClr>
                <a:schemeClr val="dk1"/>
              </a:buClr>
              <a:buSzPct val="100000"/>
              <a:buChar char="•"/>
            </a:pPr>
            <a:r>
              <a:rPr lang="en-US" sz="1900" dirty="0"/>
              <a:t>Term ‘weighting’ is then calculated as Term Frequency (TF) x IDF</a:t>
            </a:r>
            <a:endParaRPr dirty="0"/>
          </a:p>
          <a:p>
            <a:pPr marL="685800" lvl="1" indent="-228662" algn="l" rtl="0">
              <a:lnSpc>
                <a:spcPct val="90000"/>
              </a:lnSpc>
              <a:spcBef>
                <a:spcPts val="500"/>
              </a:spcBef>
              <a:spcAft>
                <a:spcPts val="0"/>
              </a:spcAft>
              <a:buClr>
                <a:schemeClr val="dk1"/>
              </a:buClr>
              <a:buSzPct val="100000"/>
              <a:buChar char="•"/>
            </a:pPr>
            <a:r>
              <a:rPr lang="en-US" sz="1900" dirty="0" err="1"/>
              <a:t>n</a:t>
            </a:r>
            <a:r>
              <a:rPr lang="en-US" sz="1900" baseline="-25000" dirty="0" err="1"/>
              <a:t>j</a:t>
            </a:r>
            <a:r>
              <a:rPr lang="en-US" sz="1900" dirty="0"/>
              <a:t>= # of docs containing the term, N = total # of docs</a:t>
            </a:r>
            <a:endParaRPr dirty="0"/>
          </a:p>
          <a:p>
            <a:pPr marL="685800" lvl="1" indent="-228662" algn="l" rtl="0">
              <a:lnSpc>
                <a:spcPct val="90000"/>
              </a:lnSpc>
              <a:spcBef>
                <a:spcPts val="500"/>
              </a:spcBef>
              <a:spcAft>
                <a:spcPts val="0"/>
              </a:spcAft>
              <a:buClr>
                <a:schemeClr val="dk1"/>
              </a:buClr>
              <a:buSzPct val="100000"/>
              <a:buChar char="•"/>
            </a:pPr>
            <a:r>
              <a:rPr lang="en-US" sz="1900" dirty="0"/>
              <a:t>A term is deemed important if it has a high TF and/or a high IDF.</a:t>
            </a:r>
            <a:endParaRPr dirty="0"/>
          </a:p>
          <a:p>
            <a:pPr marL="685800" lvl="1" indent="-228662" algn="l" rtl="0">
              <a:lnSpc>
                <a:spcPct val="90000"/>
              </a:lnSpc>
              <a:spcBef>
                <a:spcPts val="500"/>
              </a:spcBef>
              <a:spcAft>
                <a:spcPts val="0"/>
              </a:spcAft>
              <a:buClr>
                <a:schemeClr val="dk1"/>
              </a:buClr>
              <a:buSzPct val="100000"/>
              <a:buChar char="•"/>
            </a:pPr>
            <a:r>
              <a:rPr lang="en-US" sz="1900" dirty="0"/>
              <a:t>As TF goes up, the word is more common generally. As IDF goes up, it means very few documents contain this term.</a:t>
            </a:r>
            <a:endParaRPr dirty="0"/>
          </a:p>
        </p:txBody>
      </p:sp>
      <p:pic>
        <p:nvPicPr>
          <p:cNvPr id="125" name="Google Shape;125;p4"/>
          <p:cNvPicPr preferRelativeResize="0"/>
          <p:nvPr/>
        </p:nvPicPr>
        <p:blipFill rotWithShape="1">
          <a:blip r:embed="rId3">
            <a:alphaModFix/>
          </a:blip>
          <a:srcRect/>
          <a:stretch/>
        </p:blipFill>
        <p:spPr>
          <a:xfrm>
            <a:off x="4998525" y="4001294"/>
            <a:ext cx="2194950" cy="28617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4"/>
          <p:cNvSpPr txBox="1">
            <a:spLocks noGrp="1"/>
          </p:cNvSpPr>
          <p:nvPr>
            <p:ph type="title"/>
          </p:nvPr>
        </p:nvSpPr>
        <p:spPr>
          <a:xfrm>
            <a:off x="838200" y="376414"/>
            <a:ext cx="10515600" cy="1571656"/>
          </a:xfrm>
          <a:prstGeom prst="rect">
            <a:avLst/>
          </a:prstGeom>
          <a:noFill/>
          <a:ln>
            <a:noFill/>
          </a:ln>
        </p:spPr>
        <p:txBody>
          <a:bodyPr spcFirstLastPara="1" wrap="square" lIns="91425" tIns="45700" rIns="91425" bIns="45700" anchor="ctr" anchorCtr="0">
            <a:normAutofit/>
          </a:bodyPr>
          <a:lstStyle/>
          <a:p>
            <a:pPr marL="0" lvl="0" indent="0" rtl="0">
              <a:lnSpc>
                <a:spcPct val="90000"/>
              </a:lnSpc>
              <a:spcBef>
                <a:spcPts val="0"/>
              </a:spcBef>
              <a:spcAft>
                <a:spcPts val="0"/>
              </a:spcAft>
              <a:buClr>
                <a:schemeClr val="dk1"/>
              </a:buClr>
              <a:buSzPts val="4923"/>
              <a:buFont typeface="Economica"/>
              <a:buNone/>
            </a:pPr>
            <a:r>
              <a:rPr lang="en-US" sz="4923" dirty="0">
                <a:latin typeface="Economica"/>
                <a:sym typeface="Economica"/>
              </a:rPr>
              <a:t>What Would Adaptive </a:t>
            </a:r>
            <a:br>
              <a:rPr lang="en-US" sz="4923" dirty="0">
                <a:latin typeface="Economica"/>
                <a:sym typeface="Economica"/>
              </a:rPr>
            </a:br>
            <a:r>
              <a:rPr lang="en-US" sz="4923" dirty="0">
                <a:latin typeface="Economica"/>
                <a:sym typeface="Economica"/>
              </a:rPr>
              <a:t>Weights Look Like?</a:t>
            </a:r>
            <a:endParaRPr dirty="0"/>
          </a:p>
        </p:txBody>
      </p:sp>
      <p:sp>
        <p:nvSpPr>
          <p:cNvPr id="124" name="Google Shape;124;p4"/>
          <p:cNvSpPr txBox="1">
            <a:spLocks noGrp="1"/>
          </p:cNvSpPr>
          <p:nvPr>
            <p:ph type="body" idx="1"/>
          </p:nvPr>
        </p:nvSpPr>
        <p:spPr>
          <a:xfrm>
            <a:off x="838200" y="2430325"/>
            <a:ext cx="10515600" cy="404068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ct val="100000"/>
              <a:buNone/>
            </a:pPr>
            <a:r>
              <a:rPr lang="en-US" sz="2200" b="1" dirty="0"/>
              <a:t>Figure Out Weights Useful for Prediction</a:t>
            </a:r>
            <a:endParaRPr dirty="0"/>
          </a:p>
          <a:p>
            <a:pPr marL="347663" lvl="1" indent="-236600" algn="l" rtl="0">
              <a:lnSpc>
                <a:spcPct val="90000"/>
              </a:lnSpc>
              <a:spcBef>
                <a:spcPts val="500"/>
              </a:spcBef>
              <a:spcAft>
                <a:spcPts val="0"/>
              </a:spcAft>
              <a:buClr>
                <a:schemeClr val="dk1"/>
              </a:buClr>
              <a:buSzPct val="100000"/>
              <a:buChar char="•"/>
            </a:pPr>
            <a:r>
              <a:rPr lang="en-US" sz="1900" dirty="0"/>
              <a:t>Rather than telling the network the weights,</a:t>
            </a:r>
            <a:br>
              <a:rPr lang="en-US" sz="1900" dirty="0"/>
            </a:br>
            <a:r>
              <a:rPr lang="en-US" sz="1900" dirty="0"/>
              <a:t>which is what TF-IDF effectively does, </a:t>
            </a:r>
            <a:br>
              <a:rPr lang="en-US" sz="1900" dirty="0"/>
            </a:br>
            <a:r>
              <a:rPr lang="en-US" sz="1900" dirty="0"/>
              <a:t>we provide the network a weight matrix to</a:t>
            </a:r>
            <a:br>
              <a:rPr lang="en-US" sz="1900" dirty="0"/>
            </a:br>
            <a:r>
              <a:rPr lang="en-US" sz="1900" dirty="0"/>
              <a:t>update!</a:t>
            </a:r>
          </a:p>
          <a:p>
            <a:pPr marL="347663" lvl="1" indent="-236600" algn="l" rtl="0">
              <a:lnSpc>
                <a:spcPct val="90000"/>
              </a:lnSpc>
              <a:spcBef>
                <a:spcPts val="500"/>
              </a:spcBef>
              <a:spcAft>
                <a:spcPts val="0"/>
              </a:spcAft>
              <a:buClr>
                <a:schemeClr val="dk1"/>
              </a:buClr>
              <a:buSzPct val="100000"/>
              <a:buChar char="•"/>
            </a:pPr>
            <a:endParaRPr lang="en-US" sz="1900" dirty="0"/>
          </a:p>
          <a:p>
            <a:pPr marL="0" lvl="0" indent="0" algn="l" rtl="0">
              <a:lnSpc>
                <a:spcPct val="90000"/>
              </a:lnSpc>
              <a:spcBef>
                <a:spcPts val="0"/>
              </a:spcBef>
              <a:spcAft>
                <a:spcPts val="0"/>
              </a:spcAft>
              <a:buClr>
                <a:schemeClr val="dk1"/>
              </a:buClr>
              <a:buSzPct val="100000"/>
              <a:buNone/>
            </a:pPr>
            <a:r>
              <a:rPr lang="en-US" sz="2200" b="1" dirty="0"/>
              <a:t>This Yields Task-specific Token Weights</a:t>
            </a:r>
            <a:endParaRPr lang="en-US" dirty="0"/>
          </a:p>
          <a:p>
            <a:pPr marL="347663" lvl="1" indent="-236600" algn="l" rtl="0">
              <a:lnSpc>
                <a:spcPct val="90000"/>
              </a:lnSpc>
              <a:spcBef>
                <a:spcPts val="500"/>
              </a:spcBef>
              <a:spcAft>
                <a:spcPts val="0"/>
              </a:spcAft>
              <a:buClr>
                <a:schemeClr val="dk1"/>
              </a:buClr>
              <a:buSzPct val="100000"/>
              <a:buChar char="•"/>
            </a:pPr>
            <a:r>
              <a:rPr lang="en-US" sz="1900" dirty="0"/>
              <a:t>See some simple examples on the right.</a:t>
            </a:r>
          </a:p>
          <a:p>
            <a:pPr marL="347663" lvl="1" indent="-236600" algn="l" rtl="0">
              <a:lnSpc>
                <a:spcPct val="90000"/>
              </a:lnSpc>
              <a:spcBef>
                <a:spcPts val="500"/>
              </a:spcBef>
              <a:spcAft>
                <a:spcPts val="0"/>
              </a:spcAft>
              <a:buClr>
                <a:schemeClr val="dk1"/>
              </a:buClr>
              <a:buSzPct val="100000"/>
              <a:buChar char="•"/>
            </a:pPr>
            <a:r>
              <a:rPr lang="en-US" sz="1900" dirty="0"/>
              <a:t>Our network may learn that certain tokens</a:t>
            </a:r>
            <a:br>
              <a:rPr lang="en-US" sz="1900" dirty="0"/>
            </a:br>
            <a:r>
              <a:rPr lang="en-US" sz="1900" dirty="0"/>
              <a:t>are more important for predicting a given label.</a:t>
            </a:r>
            <a:endParaRPr lang="en-US" sz="2462" dirty="0"/>
          </a:p>
          <a:p>
            <a:pPr marL="347663" lvl="1" indent="-236600" algn="l" rtl="0">
              <a:lnSpc>
                <a:spcPct val="90000"/>
              </a:lnSpc>
              <a:spcBef>
                <a:spcPts val="500"/>
              </a:spcBef>
              <a:spcAft>
                <a:spcPts val="0"/>
              </a:spcAft>
              <a:buClr>
                <a:schemeClr val="dk1"/>
              </a:buClr>
              <a:buSzPct val="100000"/>
              <a:buChar char="•"/>
            </a:pPr>
            <a:endParaRPr sz="2462" dirty="0"/>
          </a:p>
        </p:txBody>
      </p:sp>
      <p:pic>
        <p:nvPicPr>
          <p:cNvPr id="1026" name="Picture 2">
            <a:extLst>
              <a:ext uri="{FF2B5EF4-FFF2-40B4-BE49-F238E27FC236}">
                <a16:creationId xmlns:a16="http://schemas.microsoft.com/office/drawing/2014/main" id="{F65E56DC-F4A3-120D-1DD6-53BF239257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57127" y="188207"/>
            <a:ext cx="4796673" cy="6481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5206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4" name="Google Shape;123;p4">
            <a:extLst>
              <a:ext uri="{FF2B5EF4-FFF2-40B4-BE49-F238E27FC236}">
                <a16:creationId xmlns:a16="http://schemas.microsoft.com/office/drawing/2014/main" id="{8F7DC805-AE9C-7D60-E41F-123D683B043D}"/>
              </a:ext>
            </a:extLst>
          </p:cNvPr>
          <p:cNvSpPr txBox="1">
            <a:spLocks noGrp="1"/>
          </p:cNvSpPr>
          <p:nvPr>
            <p:ph type="title"/>
          </p:nvPr>
        </p:nvSpPr>
        <p:spPr>
          <a:xfrm>
            <a:off x="3142422" y="431891"/>
            <a:ext cx="5907156" cy="132556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Where Attention Came From: Sequence-to-Sequence Models</a:t>
            </a:r>
            <a:endParaRPr dirty="0"/>
          </a:p>
        </p:txBody>
      </p:sp>
      <p:grpSp>
        <p:nvGrpSpPr>
          <p:cNvPr id="35" name="Group 34">
            <a:extLst>
              <a:ext uri="{FF2B5EF4-FFF2-40B4-BE49-F238E27FC236}">
                <a16:creationId xmlns:a16="http://schemas.microsoft.com/office/drawing/2014/main" id="{891581A5-465C-06EF-F12A-56EDC30214F0}"/>
              </a:ext>
            </a:extLst>
          </p:cNvPr>
          <p:cNvGrpSpPr/>
          <p:nvPr/>
        </p:nvGrpSpPr>
        <p:grpSpPr>
          <a:xfrm>
            <a:off x="6610132" y="3176566"/>
            <a:ext cx="3975652" cy="2471224"/>
            <a:chOff x="6701457" y="2925418"/>
            <a:chExt cx="3975652" cy="2471224"/>
          </a:xfrm>
        </p:grpSpPr>
        <p:sp>
          <p:nvSpPr>
            <p:cNvPr id="12" name="Oval 11">
              <a:extLst>
                <a:ext uri="{FF2B5EF4-FFF2-40B4-BE49-F238E27FC236}">
                  <a16:creationId xmlns:a16="http://schemas.microsoft.com/office/drawing/2014/main" id="{8D58EB02-8BAE-4474-9417-BE05195765B7}"/>
                </a:ext>
              </a:extLst>
            </p:cNvPr>
            <p:cNvSpPr/>
            <p:nvPr/>
          </p:nvSpPr>
          <p:spPr>
            <a:xfrm>
              <a:off x="6701458" y="3887704"/>
              <a:ext cx="1024551" cy="546652"/>
            </a:xfrm>
            <a:prstGeom prst="ellipse">
              <a:avLst/>
            </a:prstGeom>
            <a:solidFill>
              <a:srgbClr val="FDCB9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3E94934C-2AF9-9729-FAB6-ACF66255F633}"/>
                </a:ext>
              </a:extLst>
            </p:cNvPr>
            <p:cNvSpPr/>
            <p:nvPr/>
          </p:nvSpPr>
          <p:spPr>
            <a:xfrm>
              <a:off x="8177008" y="3884530"/>
              <a:ext cx="1024551" cy="546652"/>
            </a:xfrm>
            <a:prstGeom prst="ellipse">
              <a:avLst/>
            </a:prstGeom>
            <a:solidFill>
              <a:srgbClr val="FDCB9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D62FB115-A5B0-2EE5-C20E-EC3B9274BD2E}"/>
                </a:ext>
              </a:extLst>
            </p:cNvPr>
            <p:cNvSpPr/>
            <p:nvPr/>
          </p:nvSpPr>
          <p:spPr>
            <a:xfrm>
              <a:off x="9652558" y="3881356"/>
              <a:ext cx="1024551" cy="546652"/>
            </a:xfrm>
            <a:prstGeom prst="ellipse">
              <a:avLst/>
            </a:prstGeom>
            <a:solidFill>
              <a:srgbClr val="FDCB9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 name="Straight Arrow Connector 15">
              <a:extLst>
                <a:ext uri="{FF2B5EF4-FFF2-40B4-BE49-F238E27FC236}">
                  <a16:creationId xmlns:a16="http://schemas.microsoft.com/office/drawing/2014/main" id="{9159A578-EBB9-99F4-949A-50FDCF1CA811}"/>
                </a:ext>
              </a:extLst>
            </p:cNvPr>
            <p:cNvCxnSpPr>
              <a:stCxn id="12" idx="6"/>
              <a:endCxn id="13" idx="2"/>
            </p:cNvCxnSpPr>
            <p:nvPr/>
          </p:nvCxnSpPr>
          <p:spPr>
            <a:xfrm flipV="1">
              <a:off x="7726009" y="4157856"/>
              <a:ext cx="450999" cy="317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84C985C-9F31-109F-AD87-993EBC8BD874}"/>
                </a:ext>
              </a:extLst>
            </p:cNvPr>
            <p:cNvCxnSpPr/>
            <p:nvPr/>
          </p:nvCxnSpPr>
          <p:spPr>
            <a:xfrm flipV="1">
              <a:off x="9201559" y="4188090"/>
              <a:ext cx="450999" cy="317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8" name="Rounded Rectangle 17">
              <a:extLst>
                <a:ext uri="{FF2B5EF4-FFF2-40B4-BE49-F238E27FC236}">
                  <a16:creationId xmlns:a16="http://schemas.microsoft.com/office/drawing/2014/main" id="{93648746-09F9-568F-2BEE-350CBDC60765}"/>
                </a:ext>
              </a:extLst>
            </p:cNvPr>
            <p:cNvSpPr/>
            <p:nvPr/>
          </p:nvSpPr>
          <p:spPr>
            <a:xfrm>
              <a:off x="6701458" y="4893060"/>
              <a:ext cx="1024551" cy="503582"/>
            </a:xfrm>
            <a:prstGeom prst="roundRect">
              <a:avLst/>
            </a:prstGeom>
            <a:solidFill>
              <a:srgbClr val="ADC7F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ounded Rectangle 18">
              <a:extLst>
                <a:ext uri="{FF2B5EF4-FFF2-40B4-BE49-F238E27FC236}">
                  <a16:creationId xmlns:a16="http://schemas.microsoft.com/office/drawing/2014/main" id="{67AE9D93-9A71-C9CA-AE0F-1A743E584245}"/>
                </a:ext>
              </a:extLst>
            </p:cNvPr>
            <p:cNvSpPr/>
            <p:nvPr/>
          </p:nvSpPr>
          <p:spPr>
            <a:xfrm>
              <a:off x="8177007" y="4893060"/>
              <a:ext cx="1024551" cy="503582"/>
            </a:xfrm>
            <a:prstGeom prst="roundRect">
              <a:avLst/>
            </a:prstGeom>
            <a:solidFill>
              <a:srgbClr val="ADC7F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a:extLst>
                <a:ext uri="{FF2B5EF4-FFF2-40B4-BE49-F238E27FC236}">
                  <a16:creationId xmlns:a16="http://schemas.microsoft.com/office/drawing/2014/main" id="{E9C5CE53-F97E-D740-1D23-C0E19E6CA83B}"/>
                </a:ext>
              </a:extLst>
            </p:cNvPr>
            <p:cNvSpPr/>
            <p:nvPr/>
          </p:nvSpPr>
          <p:spPr>
            <a:xfrm>
              <a:off x="9652556" y="4893060"/>
              <a:ext cx="1024551" cy="503582"/>
            </a:xfrm>
            <a:prstGeom prst="roundRect">
              <a:avLst/>
            </a:prstGeom>
            <a:solidFill>
              <a:srgbClr val="ADC7F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Arrow Connector 20">
              <a:extLst>
                <a:ext uri="{FF2B5EF4-FFF2-40B4-BE49-F238E27FC236}">
                  <a16:creationId xmlns:a16="http://schemas.microsoft.com/office/drawing/2014/main" id="{9F8620F8-5E57-9296-835B-455492C13761}"/>
                </a:ext>
              </a:extLst>
            </p:cNvPr>
            <p:cNvCxnSpPr>
              <a:cxnSpLocks/>
              <a:stCxn id="18" idx="0"/>
              <a:endCxn id="12" idx="4"/>
            </p:cNvCxnSpPr>
            <p:nvPr/>
          </p:nvCxnSpPr>
          <p:spPr>
            <a:xfrm flipV="1">
              <a:off x="7213734" y="4434356"/>
              <a:ext cx="0" cy="4587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8540E9A8-7B4B-D85B-640A-ED03A4277CF6}"/>
                </a:ext>
              </a:extLst>
            </p:cNvPr>
            <p:cNvCxnSpPr>
              <a:cxnSpLocks/>
            </p:cNvCxnSpPr>
            <p:nvPr/>
          </p:nvCxnSpPr>
          <p:spPr>
            <a:xfrm flipV="1">
              <a:off x="8689282" y="4424556"/>
              <a:ext cx="0" cy="4587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F66BDF7-6388-3F53-95B7-9EDF589C44BF}"/>
                </a:ext>
              </a:extLst>
            </p:cNvPr>
            <p:cNvCxnSpPr>
              <a:cxnSpLocks/>
            </p:cNvCxnSpPr>
            <p:nvPr/>
          </p:nvCxnSpPr>
          <p:spPr>
            <a:xfrm flipV="1">
              <a:off x="10171456" y="4434356"/>
              <a:ext cx="0" cy="4587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ounded Rectangle 25">
              <a:extLst>
                <a:ext uri="{FF2B5EF4-FFF2-40B4-BE49-F238E27FC236}">
                  <a16:creationId xmlns:a16="http://schemas.microsoft.com/office/drawing/2014/main" id="{B5BE5964-F0D4-F092-23B7-B947778EDD12}"/>
                </a:ext>
              </a:extLst>
            </p:cNvPr>
            <p:cNvSpPr/>
            <p:nvPr/>
          </p:nvSpPr>
          <p:spPr>
            <a:xfrm>
              <a:off x="6701457" y="2925418"/>
              <a:ext cx="1024551" cy="503582"/>
            </a:xfrm>
            <a:prstGeom prst="roundRect">
              <a:avLst/>
            </a:prstGeom>
            <a:solidFill>
              <a:srgbClr val="A9CD9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ounded Rectangle 26">
              <a:extLst>
                <a:ext uri="{FF2B5EF4-FFF2-40B4-BE49-F238E27FC236}">
                  <a16:creationId xmlns:a16="http://schemas.microsoft.com/office/drawing/2014/main" id="{E35574A9-4800-E030-DB7A-135BDA5F826C}"/>
                </a:ext>
              </a:extLst>
            </p:cNvPr>
            <p:cNvSpPr/>
            <p:nvPr/>
          </p:nvSpPr>
          <p:spPr>
            <a:xfrm>
              <a:off x="8177006" y="2925418"/>
              <a:ext cx="1024551" cy="503582"/>
            </a:xfrm>
            <a:prstGeom prst="roundRect">
              <a:avLst/>
            </a:prstGeom>
            <a:solidFill>
              <a:srgbClr val="A9CD9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ounded Rectangle 27">
              <a:extLst>
                <a:ext uri="{FF2B5EF4-FFF2-40B4-BE49-F238E27FC236}">
                  <a16:creationId xmlns:a16="http://schemas.microsoft.com/office/drawing/2014/main" id="{66C9CA91-84F2-070E-DD5B-D70E80C86790}"/>
                </a:ext>
              </a:extLst>
            </p:cNvPr>
            <p:cNvSpPr/>
            <p:nvPr/>
          </p:nvSpPr>
          <p:spPr>
            <a:xfrm>
              <a:off x="9652555" y="2925418"/>
              <a:ext cx="1024551" cy="503582"/>
            </a:xfrm>
            <a:prstGeom prst="roundRect">
              <a:avLst/>
            </a:prstGeom>
            <a:solidFill>
              <a:srgbClr val="A9CD9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8D15F2A4-EC04-A89F-CAAB-A485BF1C04F8}"/>
                </a:ext>
              </a:extLst>
            </p:cNvPr>
            <p:cNvCxnSpPr>
              <a:cxnSpLocks/>
            </p:cNvCxnSpPr>
            <p:nvPr/>
          </p:nvCxnSpPr>
          <p:spPr>
            <a:xfrm flipV="1">
              <a:off x="7213734" y="3429000"/>
              <a:ext cx="0" cy="4587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5D8C0CD6-E1FE-E63B-C09C-5352ABB8E6C9}"/>
                </a:ext>
              </a:extLst>
            </p:cNvPr>
            <p:cNvCxnSpPr>
              <a:cxnSpLocks/>
            </p:cNvCxnSpPr>
            <p:nvPr/>
          </p:nvCxnSpPr>
          <p:spPr>
            <a:xfrm flipV="1">
              <a:off x="8689281" y="3411072"/>
              <a:ext cx="0" cy="4587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AA88AF06-DB0D-61CA-7175-81B7EBD81C22}"/>
                </a:ext>
              </a:extLst>
            </p:cNvPr>
            <p:cNvCxnSpPr>
              <a:cxnSpLocks/>
            </p:cNvCxnSpPr>
            <p:nvPr/>
          </p:nvCxnSpPr>
          <p:spPr>
            <a:xfrm flipV="1">
              <a:off x="10171455" y="3420872"/>
              <a:ext cx="0" cy="4587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pic>
        <p:nvPicPr>
          <p:cNvPr id="37" name="Picture 36">
            <a:extLst>
              <a:ext uri="{FF2B5EF4-FFF2-40B4-BE49-F238E27FC236}">
                <a16:creationId xmlns:a16="http://schemas.microsoft.com/office/drawing/2014/main" id="{4B7C379E-A0C6-8C20-AC73-B669ABF05B88}"/>
              </a:ext>
            </a:extLst>
          </p:cNvPr>
          <p:cNvPicPr>
            <a:picLocks noChangeAspect="1"/>
          </p:cNvPicPr>
          <p:nvPr/>
        </p:nvPicPr>
        <p:blipFill>
          <a:blip r:embed="rId3"/>
          <a:stretch>
            <a:fillRect/>
          </a:stretch>
        </p:blipFill>
        <p:spPr>
          <a:xfrm>
            <a:off x="-173339" y="2123469"/>
            <a:ext cx="6123561" cy="2611061"/>
          </a:xfrm>
          <a:prstGeom prst="rect">
            <a:avLst/>
          </a:prstGeom>
        </p:spPr>
      </p:pic>
    </p:spTree>
    <p:extLst>
      <p:ext uri="{BB962C8B-B14F-4D97-AF65-F5344CB8AC3E}">
        <p14:creationId xmlns:p14="http://schemas.microsoft.com/office/powerpoint/2010/main" val="9179721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4" name="Google Shape;123;p4">
            <a:extLst>
              <a:ext uri="{FF2B5EF4-FFF2-40B4-BE49-F238E27FC236}">
                <a16:creationId xmlns:a16="http://schemas.microsoft.com/office/drawing/2014/main" id="{8F7DC805-AE9C-7D60-E41F-123D683B043D}"/>
              </a:ext>
            </a:extLst>
          </p:cNvPr>
          <p:cNvSpPr txBox="1">
            <a:spLocks noGrp="1"/>
          </p:cNvSpPr>
          <p:nvPr>
            <p:ph type="title"/>
          </p:nvPr>
        </p:nvSpPr>
        <p:spPr>
          <a:xfrm>
            <a:off x="1881667" y="390830"/>
            <a:ext cx="8428665"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Struggling to Remember Long Sequences</a:t>
            </a:r>
            <a:endParaRPr dirty="0"/>
          </a:p>
        </p:txBody>
      </p:sp>
      <p:pic>
        <p:nvPicPr>
          <p:cNvPr id="57" name="Picture 56">
            <a:extLst>
              <a:ext uri="{FF2B5EF4-FFF2-40B4-BE49-F238E27FC236}">
                <a16:creationId xmlns:a16="http://schemas.microsoft.com/office/drawing/2014/main" id="{5070A8E7-0E3E-3FEF-5E30-877ED27E59BD}"/>
              </a:ext>
            </a:extLst>
          </p:cNvPr>
          <p:cNvPicPr>
            <a:picLocks noChangeAspect="1"/>
          </p:cNvPicPr>
          <p:nvPr/>
        </p:nvPicPr>
        <p:blipFill>
          <a:blip r:embed="rId3"/>
          <a:stretch>
            <a:fillRect/>
          </a:stretch>
        </p:blipFill>
        <p:spPr>
          <a:xfrm>
            <a:off x="616308" y="1901213"/>
            <a:ext cx="4788000" cy="2435431"/>
          </a:xfrm>
          <a:prstGeom prst="rect">
            <a:avLst/>
          </a:prstGeom>
        </p:spPr>
      </p:pic>
      <p:grpSp>
        <p:nvGrpSpPr>
          <p:cNvPr id="69" name="Group 68">
            <a:extLst>
              <a:ext uri="{FF2B5EF4-FFF2-40B4-BE49-F238E27FC236}">
                <a16:creationId xmlns:a16="http://schemas.microsoft.com/office/drawing/2014/main" id="{606DE4ED-3A78-CCDF-BEDA-F61249D543EA}"/>
              </a:ext>
            </a:extLst>
          </p:cNvPr>
          <p:cNvGrpSpPr/>
          <p:nvPr/>
        </p:nvGrpSpPr>
        <p:grpSpPr>
          <a:xfrm>
            <a:off x="4242769" y="3721614"/>
            <a:ext cx="6926750" cy="2493608"/>
            <a:chOff x="4242769" y="3721614"/>
            <a:chExt cx="6926750" cy="2493608"/>
          </a:xfrm>
        </p:grpSpPr>
        <p:sp>
          <p:nvSpPr>
            <p:cNvPr id="40" name="Oval 39">
              <a:extLst>
                <a:ext uri="{FF2B5EF4-FFF2-40B4-BE49-F238E27FC236}">
                  <a16:creationId xmlns:a16="http://schemas.microsoft.com/office/drawing/2014/main" id="{024FC40E-2513-B9B4-619F-40790950C399}"/>
                </a:ext>
              </a:extLst>
            </p:cNvPr>
            <p:cNvSpPr/>
            <p:nvPr/>
          </p:nvSpPr>
          <p:spPr>
            <a:xfrm>
              <a:off x="4242769" y="4706284"/>
              <a:ext cx="1024551" cy="546652"/>
            </a:xfrm>
            <a:prstGeom prst="ellipse">
              <a:avLst/>
            </a:prstGeom>
            <a:solidFill>
              <a:srgbClr val="FDCB9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728C52F1-0BB5-72B3-58CD-F58CCAAB4A27}"/>
                </a:ext>
              </a:extLst>
            </p:cNvPr>
            <p:cNvSpPr/>
            <p:nvPr/>
          </p:nvSpPr>
          <p:spPr>
            <a:xfrm>
              <a:off x="5718319" y="4703110"/>
              <a:ext cx="1024551" cy="546652"/>
            </a:xfrm>
            <a:prstGeom prst="ellipse">
              <a:avLst/>
            </a:prstGeom>
            <a:solidFill>
              <a:srgbClr val="FDCB9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F34C8BA9-4C95-76C4-BB05-578F2E6DDA1B}"/>
                </a:ext>
              </a:extLst>
            </p:cNvPr>
            <p:cNvSpPr/>
            <p:nvPr/>
          </p:nvSpPr>
          <p:spPr>
            <a:xfrm>
              <a:off x="7193869" y="4699936"/>
              <a:ext cx="1024551" cy="546652"/>
            </a:xfrm>
            <a:prstGeom prst="ellipse">
              <a:avLst/>
            </a:prstGeom>
            <a:solidFill>
              <a:srgbClr val="FDCB9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3E797481-111D-BA30-550A-F8CF389D05D6}"/>
                </a:ext>
              </a:extLst>
            </p:cNvPr>
            <p:cNvCxnSpPr>
              <a:stCxn id="40" idx="6"/>
              <a:endCxn id="41" idx="2"/>
            </p:cNvCxnSpPr>
            <p:nvPr/>
          </p:nvCxnSpPr>
          <p:spPr>
            <a:xfrm flipV="1">
              <a:off x="5267320" y="4976436"/>
              <a:ext cx="450999" cy="317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9E6BEF46-C290-A2D4-F5E1-763F76AA1B23}"/>
                </a:ext>
              </a:extLst>
            </p:cNvPr>
            <p:cNvCxnSpPr/>
            <p:nvPr/>
          </p:nvCxnSpPr>
          <p:spPr>
            <a:xfrm flipV="1">
              <a:off x="6742870" y="5006670"/>
              <a:ext cx="450999" cy="317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Rounded Rectangle 44">
              <a:extLst>
                <a:ext uri="{FF2B5EF4-FFF2-40B4-BE49-F238E27FC236}">
                  <a16:creationId xmlns:a16="http://schemas.microsoft.com/office/drawing/2014/main" id="{D505B8E3-50B5-558F-9DF1-0C402BB057B0}"/>
                </a:ext>
              </a:extLst>
            </p:cNvPr>
            <p:cNvSpPr/>
            <p:nvPr/>
          </p:nvSpPr>
          <p:spPr>
            <a:xfrm>
              <a:off x="4242769" y="5711640"/>
              <a:ext cx="1024551" cy="503582"/>
            </a:xfrm>
            <a:prstGeom prst="roundRect">
              <a:avLst/>
            </a:prstGeom>
            <a:solidFill>
              <a:srgbClr val="ADC7F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ounded Rectangle 45">
              <a:extLst>
                <a:ext uri="{FF2B5EF4-FFF2-40B4-BE49-F238E27FC236}">
                  <a16:creationId xmlns:a16="http://schemas.microsoft.com/office/drawing/2014/main" id="{F84E4B02-4BFD-26C5-AB2C-123E8D634300}"/>
                </a:ext>
              </a:extLst>
            </p:cNvPr>
            <p:cNvSpPr/>
            <p:nvPr/>
          </p:nvSpPr>
          <p:spPr>
            <a:xfrm>
              <a:off x="5718318" y="5711640"/>
              <a:ext cx="1024551" cy="503582"/>
            </a:xfrm>
            <a:prstGeom prst="roundRect">
              <a:avLst/>
            </a:prstGeom>
            <a:solidFill>
              <a:srgbClr val="ADC7F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ounded Rectangle 46">
              <a:extLst>
                <a:ext uri="{FF2B5EF4-FFF2-40B4-BE49-F238E27FC236}">
                  <a16:creationId xmlns:a16="http://schemas.microsoft.com/office/drawing/2014/main" id="{6F0E6A11-86A8-E5DC-6286-0528FDF824A1}"/>
                </a:ext>
              </a:extLst>
            </p:cNvPr>
            <p:cNvSpPr/>
            <p:nvPr/>
          </p:nvSpPr>
          <p:spPr>
            <a:xfrm>
              <a:off x="7193867" y="5711640"/>
              <a:ext cx="1024551" cy="503582"/>
            </a:xfrm>
            <a:prstGeom prst="roundRect">
              <a:avLst/>
            </a:prstGeom>
            <a:solidFill>
              <a:srgbClr val="ADC7F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8" name="Straight Arrow Connector 47">
              <a:extLst>
                <a:ext uri="{FF2B5EF4-FFF2-40B4-BE49-F238E27FC236}">
                  <a16:creationId xmlns:a16="http://schemas.microsoft.com/office/drawing/2014/main" id="{00B9B07C-FE27-ED1A-12BB-44202CB16C84}"/>
                </a:ext>
              </a:extLst>
            </p:cNvPr>
            <p:cNvCxnSpPr>
              <a:cxnSpLocks/>
              <a:stCxn id="45" idx="0"/>
              <a:endCxn id="40" idx="4"/>
            </p:cNvCxnSpPr>
            <p:nvPr/>
          </p:nvCxnSpPr>
          <p:spPr>
            <a:xfrm flipV="1">
              <a:off x="4755045" y="5252936"/>
              <a:ext cx="0" cy="4587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2B7564E1-2C61-3A68-2A50-84198B925E94}"/>
                </a:ext>
              </a:extLst>
            </p:cNvPr>
            <p:cNvCxnSpPr>
              <a:cxnSpLocks/>
            </p:cNvCxnSpPr>
            <p:nvPr/>
          </p:nvCxnSpPr>
          <p:spPr>
            <a:xfrm flipV="1">
              <a:off x="6230593" y="5243136"/>
              <a:ext cx="0" cy="4587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552D3D9-6BB3-B84E-F3D7-8B3E6DC2D15B}"/>
                </a:ext>
              </a:extLst>
            </p:cNvPr>
            <p:cNvCxnSpPr>
              <a:cxnSpLocks/>
            </p:cNvCxnSpPr>
            <p:nvPr/>
          </p:nvCxnSpPr>
          <p:spPr>
            <a:xfrm flipV="1">
              <a:off x="7712767" y="5252936"/>
              <a:ext cx="0" cy="4587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9" name="Oval 58">
              <a:extLst>
                <a:ext uri="{FF2B5EF4-FFF2-40B4-BE49-F238E27FC236}">
                  <a16:creationId xmlns:a16="http://schemas.microsoft.com/office/drawing/2014/main" id="{306545A3-00CA-BC9A-1918-9E658D824D84}"/>
                </a:ext>
              </a:extLst>
            </p:cNvPr>
            <p:cNvSpPr/>
            <p:nvPr/>
          </p:nvSpPr>
          <p:spPr>
            <a:xfrm>
              <a:off x="8669418" y="4680726"/>
              <a:ext cx="1024551" cy="546652"/>
            </a:xfrm>
            <a:prstGeom prst="ellipse">
              <a:avLst/>
            </a:prstGeom>
            <a:solidFill>
              <a:srgbClr val="FDCB9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D8B8305D-4F97-9417-3FF9-62E1A27E0067}"/>
                </a:ext>
              </a:extLst>
            </p:cNvPr>
            <p:cNvSpPr/>
            <p:nvPr/>
          </p:nvSpPr>
          <p:spPr>
            <a:xfrm>
              <a:off x="10144968" y="4677552"/>
              <a:ext cx="1024551" cy="546652"/>
            </a:xfrm>
            <a:prstGeom prst="ellipse">
              <a:avLst/>
            </a:prstGeom>
            <a:solidFill>
              <a:srgbClr val="FDCB9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Arrow Connector 60">
              <a:extLst>
                <a:ext uri="{FF2B5EF4-FFF2-40B4-BE49-F238E27FC236}">
                  <a16:creationId xmlns:a16="http://schemas.microsoft.com/office/drawing/2014/main" id="{A24131DB-D1FD-DC25-E3FE-A2C75214CFC7}"/>
                </a:ext>
              </a:extLst>
            </p:cNvPr>
            <p:cNvCxnSpPr>
              <a:cxnSpLocks/>
              <a:endCxn id="59" idx="2"/>
            </p:cNvCxnSpPr>
            <p:nvPr/>
          </p:nvCxnSpPr>
          <p:spPr>
            <a:xfrm flipV="1">
              <a:off x="8218419" y="4954052"/>
              <a:ext cx="450999" cy="317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A397E5BC-4028-5EC7-C671-F62EA87D5945}"/>
                </a:ext>
              </a:extLst>
            </p:cNvPr>
            <p:cNvCxnSpPr/>
            <p:nvPr/>
          </p:nvCxnSpPr>
          <p:spPr>
            <a:xfrm flipV="1">
              <a:off x="9693969" y="4984286"/>
              <a:ext cx="450999" cy="317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Rounded Rectangle 62">
              <a:extLst>
                <a:ext uri="{FF2B5EF4-FFF2-40B4-BE49-F238E27FC236}">
                  <a16:creationId xmlns:a16="http://schemas.microsoft.com/office/drawing/2014/main" id="{8B768FC2-D0D2-3AEA-69DB-F1810388173B}"/>
                </a:ext>
              </a:extLst>
            </p:cNvPr>
            <p:cNvSpPr/>
            <p:nvPr/>
          </p:nvSpPr>
          <p:spPr>
            <a:xfrm>
              <a:off x="7193867" y="3721614"/>
              <a:ext cx="1024551" cy="503582"/>
            </a:xfrm>
            <a:prstGeom prst="roundRect">
              <a:avLst/>
            </a:prstGeom>
            <a:solidFill>
              <a:srgbClr val="A9CD9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ounded Rectangle 63">
              <a:extLst>
                <a:ext uri="{FF2B5EF4-FFF2-40B4-BE49-F238E27FC236}">
                  <a16:creationId xmlns:a16="http://schemas.microsoft.com/office/drawing/2014/main" id="{7F0D7EB6-45E5-65D4-86C9-8598F2F9300A}"/>
                </a:ext>
              </a:extLst>
            </p:cNvPr>
            <p:cNvSpPr/>
            <p:nvPr/>
          </p:nvSpPr>
          <p:spPr>
            <a:xfrm>
              <a:off x="8669416" y="3721614"/>
              <a:ext cx="1024551" cy="503582"/>
            </a:xfrm>
            <a:prstGeom prst="roundRect">
              <a:avLst/>
            </a:prstGeom>
            <a:solidFill>
              <a:srgbClr val="A9CD9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ounded Rectangle 64">
              <a:extLst>
                <a:ext uri="{FF2B5EF4-FFF2-40B4-BE49-F238E27FC236}">
                  <a16:creationId xmlns:a16="http://schemas.microsoft.com/office/drawing/2014/main" id="{59A95F6D-ABA2-22A0-6A64-874FE0CDA1E0}"/>
                </a:ext>
              </a:extLst>
            </p:cNvPr>
            <p:cNvSpPr/>
            <p:nvPr/>
          </p:nvSpPr>
          <p:spPr>
            <a:xfrm>
              <a:off x="10144965" y="3721614"/>
              <a:ext cx="1024551" cy="503582"/>
            </a:xfrm>
            <a:prstGeom prst="roundRect">
              <a:avLst/>
            </a:prstGeom>
            <a:solidFill>
              <a:srgbClr val="A9CD9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6" name="Straight Arrow Connector 65">
              <a:extLst>
                <a:ext uri="{FF2B5EF4-FFF2-40B4-BE49-F238E27FC236}">
                  <a16:creationId xmlns:a16="http://schemas.microsoft.com/office/drawing/2014/main" id="{903042AD-D40C-6651-2AEE-FE8D2642B0FE}"/>
                </a:ext>
              </a:extLst>
            </p:cNvPr>
            <p:cNvCxnSpPr>
              <a:cxnSpLocks/>
            </p:cNvCxnSpPr>
            <p:nvPr/>
          </p:nvCxnSpPr>
          <p:spPr>
            <a:xfrm flipV="1">
              <a:off x="7706144" y="4225196"/>
              <a:ext cx="0" cy="4587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99F97AD3-AA88-C2F0-487D-83EC4DB3548F}"/>
                </a:ext>
              </a:extLst>
            </p:cNvPr>
            <p:cNvCxnSpPr>
              <a:cxnSpLocks/>
            </p:cNvCxnSpPr>
            <p:nvPr/>
          </p:nvCxnSpPr>
          <p:spPr>
            <a:xfrm flipV="1">
              <a:off x="9181691" y="4207268"/>
              <a:ext cx="0" cy="4587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96FD2B04-A54A-022D-0712-61FB83178DAA}"/>
                </a:ext>
              </a:extLst>
            </p:cNvPr>
            <p:cNvCxnSpPr>
              <a:cxnSpLocks/>
            </p:cNvCxnSpPr>
            <p:nvPr/>
          </p:nvCxnSpPr>
          <p:spPr>
            <a:xfrm flipV="1">
              <a:off x="10663865" y="4217068"/>
              <a:ext cx="0" cy="45870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00966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4" name="Google Shape;123;p4">
            <a:extLst>
              <a:ext uri="{FF2B5EF4-FFF2-40B4-BE49-F238E27FC236}">
                <a16:creationId xmlns:a16="http://schemas.microsoft.com/office/drawing/2014/main" id="{8F7DC805-AE9C-7D60-E41F-123D683B043D}"/>
              </a:ext>
            </a:extLst>
          </p:cNvPr>
          <p:cNvSpPr txBox="1">
            <a:spLocks noGrp="1"/>
          </p:cNvSpPr>
          <p:nvPr>
            <p:ph type="title"/>
          </p:nvPr>
        </p:nvSpPr>
        <p:spPr>
          <a:xfrm>
            <a:off x="1881667" y="390830"/>
            <a:ext cx="8428665"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The First (RNN) Attention Model</a:t>
            </a:r>
            <a:endParaRPr dirty="0"/>
          </a:p>
        </p:txBody>
      </p:sp>
      <p:pic>
        <p:nvPicPr>
          <p:cNvPr id="3" name="Picture 2">
            <a:extLst>
              <a:ext uri="{FF2B5EF4-FFF2-40B4-BE49-F238E27FC236}">
                <a16:creationId xmlns:a16="http://schemas.microsoft.com/office/drawing/2014/main" id="{FBAE51EF-4FF1-42B9-4C82-A5E3E512F18E}"/>
              </a:ext>
            </a:extLst>
          </p:cNvPr>
          <p:cNvPicPr>
            <a:picLocks noChangeAspect="1"/>
          </p:cNvPicPr>
          <p:nvPr/>
        </p:nvPicPr>
        <p:blipFill>
          <a:blip r:embed="rId3"/>
          <a:stretch>
            <a:fillRect/>
          </a:stretch>
        </p:blipFill>
        <p:spPr>
          <a:xfrm>
            <a:off x="682171" y="1663457"/>
            <a:ext cx="6510917" cy="2445767"/>
          </a:xfrm>
          <a:prstGeom prst="rect">
            <a:avLst/>
          </a:prstGeom>
        </p:spPr>
      </p:pic>
      <p:pic>
        <p:nvPicPr>
          <p:cNvPr id="2" name="Picture 1">
            <a:extLst>
              <a:ext uri="{FF2B5EF4-FFF2-40B4-BE49-F238E27FC236}">
                <a16:creationId xmlns:a16="http://schemas.microsoft.com/office/drawing/2014/main" id="{9EF1DF7A-8CFC-0CE4-B2D5-3A53BB29076D}"/>
              </a:ext>
            </a:extLst>
          </p:cNvPr>
          <p:cNvPicPr>
            <a:picLocks noChangeAspect="1"/>
          </p:cNvPicPr>
          <p:nvPr/>
        </p:nvPicPr>
        <p:blipFill>
          <a:blip r:embed="rId4"/>
          <a:stretch>
            <a:fillRect/>
          </a:stretch>
        </p:blipFill>
        <p:spPr>
          <a:xfrm>
            <a:off x="2564510" y="3820155"/>
            <a:ext cx="7317562" cy="2748776"/>
          </a:xfrm>
          <a:prstGeom prst="rect">
            <a:avLst/>
          </a:prstGeom>
        </p:spPr>
      </p:pic>
      <p:sp>
        <p:nvSpPr>
          <p:cNvPr id="6" name="TextBox 5">
            <a:extLst>
              <a:ext uri="{FF2B5EF4-FFF2-40B4-BE49-F238E27FC236}">
                <a16:creationId xmlns:a16="http://schemas.microsoft.com/office/drawing/2014/main" id="{B4814C49-ECEB-FED6-26F5-4F0283B96D6E}"/>
              </a:ext>
            </a:extLst>
          </p:cNvPr>
          <p:cNvSpPr txBox="1"/>
          <p:nvPr/>
        </p:nvSpPr>
        <p:spPr>
          <a:xfrm>
            <a:off x="7315200" y="2522639"/>
            <a:ext cx="4455885" cy="1200329"/>
          </a:xfrm>
          <a:prstGeom prst="rect">
            <a:avLst/>
          </a:prstGeom>
          <a:noFill/>
        </p:spPr>
        <p:txBody>
          <a:bodyPr wrap="square" rtlCol="0">
            <a:spAutoFit/>
          </a:bodyPr>
          <a:lstStyle/>
          <a:p>
            <a:r>
              <a:rPr lang="en-US" sz="1800" i="1" dirty="0"/>
              <a:t>“ … allowing a model to automatically (soft-)search for parts of a source sentence that are relevant to predicting a target word …”</a:t>
            </a:r>
          </a:p>
        </p:txBody>
      </p:sp>
    </p:spTree>
    <p:extLst>
      <p:ext uri="{BB962C8B-B14F-4D97-AF65-F5344CB8AC3E}">
        <p14:creationId xmlns:p14="http://schemas.microsoft.com/office/powerpoint/2010/main" val="4276279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0" name="Google Shape;123;p4">
            <a:extLst>
              <a:ext uri="{FF2B5EF4-FFF2-40B4-BE49-F238E27FC236}">
                <a16:creationId xmlns:a16="http://schemas.microsoft.com/office/drawing/2014/main" id="{DF6987E2-243F-98CA-DD02-7DBD16FDA0D1}"/>
              </a:ext>
            </a:extLst>
          </p:cNvPr>
          <p:cNvSpPr txBox="1">
            <a:spLocks noGrp="1"/>
          </p:cNvSpPr>
          <p:nvPr>
            <p:ph type="title"/>
          </p:nvPr>
        </p:nvSpPr>
        <p:spPr>
          <a:xfrm>
            <a:off x="557517" y="396833"/>
            <a:ext cx="8428665" cy="1325563"/>
          </a:xfrm>
          <a:prstGeom prst="rect">
            <a:avLst/>
          </a:prstGeom>
          <a:noFill/>
          <a:ln>
            <a:noFill/>
          </a:ln>
        </p:spPr>
        <p:txBody>
          <a:bodyPr spcFirstLastPara="1" wrap="square" lIns="91425" tIns="45700" rIns="91425" bIns="45700" anchor="ctr" anchorCtr="0">
            <a:normAutofit/>
          </a:bodyPr>
          <a:lstStyle/>
          <a:p>
            <a:pPr marL="0" lvl="0" indent="0" rtl="0">
              <a:lnSpc>
                <a:spcPct val="90000"/>
              </a:lnSpc>
              <a:spcBef>
                <a:spcPts val="0"/>
              </a:spcBef>
              <a:spcAft>
                <a:spcPts val="0"/>
              </a:spcAft>
              <a:buClr>
                <a:schemeClr val="dk1"/>
              </a:buClr>
              <a:buSzPts val="4923"/>
              <a:buFont typeface="Economica"/>
              <a:buNone/>
            </a:pPr>
            <a:r>
              <a:rPr lang="en-US" sz="4923" dirty="0" err="1">
                <a:latin typeface="Economica"/>
                <a:ea typeface="Economica"/>
                <a:cs typeface="Economica"/>
                <a:sym typeface="Economica"/>
              </a:rPr>
              <a:t>Bahdanau</a:t>
            </a:r>
            <a:r>
              <a:rPr lang="en-US" sz="4923" dirty="0">
                <a:latin typeface="Economica"/>
                <a:ea typeface="Economica"/>
                <a:cs typeface="Economica"/>
                <a:sym typeface="Economica"/>
              </a:rPr>
              <a:t> (2014) Attention</a:t>
            </a:r>
            <a:endParaRPr dirty="0"/>
          </a:p>
        </p:txBody>
      </p:sp>
      <p:pic>
        <p:nvPicPr>
          <p:cNvPr id="4" name="Picture 3">
            <a:extLst>
              <a:ext uri="{FF2B5EF4-FFF2-40B4-BE49-F238E27FC236}">
                <a16:creationId xmlns:a16="http://schemas.microsoft.com/office/drawing/2014/main" id="{727B631A-68FD-FD73-D9C0-0F4B9D390867}"/>
              </a:ext>
            </a:extLst>
          </p:cNvPr>
          <p:cNvPicPr>
            <a:picLocks noChangeAspect="1"/>
          </p:cNvPicPr>
          <p:nvPr/>
        </p:nvPicPr>
        <p:blipFill>
          <a:blip r:embed="rId3"/>
          <a:srcRect l="29918"/>
          <a:stretch>
            <a:fillRect/>
          </a:stretch>
        </p:blipFill>
        <p:spPr>
          <a:xfrm>
            <a:off x="427653" y="1722396"/>
            <a:ext cx="5447029" cy="4623339"/>
          </a:xfrm>
          <a:prstGeom prst="rect">
            <a:avLst/>
          </a:prstGeom>
        </p:spPr>
      </p:pic>
      <p:pic>
        <p:nvPicPr>
          <p:cNvPr id="6" name="Picture 5">
            <a:extLst>
              <a:ext uri="{FF2B5EF4-FFF2-40B4-BE49-F238E27FC236}">
                <a16:creationId xmlns:a16="http://schemas.microsoft.com/office/drawing/2014/main" id="{8AFF6FF3-2178-E203-9E3B-947B4F6625D2}"/>
              </a:ext>
            </a:extLst>
          </p:cNvPr>
          <p:cNvPicPr>
            <a:picLocks noChangeAspect="1"/>
          </p:cNvPicPr>
          <p:nvPr/>
        </p:nvPicPr>
        <p:blipFill>
          <a:blip r:embed="rId4"/>
          <a:stretch>
            <a:fillRect/>
          </a:stretch>
        </p:blipFill>
        <p:spPr>
          <a:xfrm>
            <a:off x="5874682" y="4178631"/>
            <a:ext cx="3111500" cy="2336800"/>
          </a:xfrm>
          <a:prstGeom prst="rect">
            <a:avLst/>
          </a:prstGeom>
          <a:ln w="28575">
            <a:solidFill>
              <a:schemeClr val="tx1"/>
            </a:solidFill>
          </a:ln>
        </p:spPr>
      </p:pic>
      <p:pic>
        <p:nvPicPr>
          <p:cNvPr id="5" name="Picture 4">
            <a:extLst>
              <a:ext uri="{FF2B5EF4-FFF2-40B4-BE49-F238E27FC236}">
                <a16:creationId xmlns:a16="http://schemas.microsoft.com/office/drawing/2014/main" id="{9F4D456E-5EA7-9C9E-0549-85325CB64AB6}"/>
              </a:ext>
            </a:extLst>
          </p:cNvPr>
          <p:cNvPicPr>
            <a:picLocks noChangeAspect="1"/>
          </p:cNvPicPr>
          <p:nvPr/>
        </p:nvPicPr>
        <p:blipFill>
          <a:blip r:embed="rId5"/>
          <a:srcRect l="12892" t="5806"/>
          <a:stretch/>
        </p:blipFill>
        <p:spPr>
          <a:xfrm>
            <a:off x="9312373" y="5676081"/>
            <a:ext cx="2336823" cy="354016"/>
          </a:xfrm>
          <a:prstGeom prst="rect">
            <a:avLst/>
          </a:prstGeom>
        </p:spPr>
      </p:pic>
      <p:pic>
        <p:nvPicPr>
          <p:cNvPr id="7" name="Picture 6">
            <a:extLst>
              <a:ext uri="{FF2B5EF4-FFF2-40B4-BE49-F238E27FC236}">
                <a16:creationId xmlns:a16="http://schemas.microsoft.com/office/drawing/2014/main" id="{0659E389-E6B1-7AE9-7820-5BEC5B2461C3}"/>
              </a:ext>
            </a:extLst>
          </p:cNvPr>
          <p:cNvPicPr>
            <a:picLocks noChangeAspect="1"/>
          </p:cNvPicPr>
          <p:nvPr/>
        </p:nvPicPr>
        <p:blipFill>
          <a:blip r:embed="rId4"/>
          <a:srcRect l="41069" t="20270" r="39472" b="45887"/>
          <a:stretch/>
        </p:blipFill>
        <p:spPr>
          <a:xfrm>
            <a:off x="10216001" y="4633130"/>
            <a:ext cx="605481" cy="790832"/>
          </a:xfrm>
          <a:prstGeom prst="rect">
            <a:avLst/>
          </a:prstGeom>
          <a:ln w="28575">
            <a:noFill/>
          </a:ln>
        </p:spPr>
      </p:pic>
      <p:sp>
        <p:nvSpPr>
          <p:cNvPr id="11" name="TextBox 10"/>
          <p:cNvSpPr txBox="1"/>
          <p:nvPr/>
        </p:nvSpPr>
        <p:spPr>
          <a:xfrm>
            <a:off x="6487297" y="232473"/>
            <a:ext cx="5593492" cy="3365024"/>
          </a:xfrm>
          <a:prstGeom prst="rect">
            <a:avLst/>
          </a:prstGeom>
          <a:noFill/>
        </p:spPr>
        <p:txBody>
          <a:bodyPr wrap="square">
            <a:spAutoFit/>
          </a:bodyPr>
          <a:lstStyle/>
          <a:p>
            <a:r>
              <a:rPr sz="2000" b="1" dirty="0">
                <a:latin typeface="Quicksand"/>
              </a:rPr>
              <a:t>Step by Step</a:t>
            </a:r>
          </a:p>
          <a:p>
            <a:pPr>
              <a:spcBef>
                <a:spcPts val="400"/>
              </a:spcBef>
            </a:pPr>
            <a:r>
              <a:rPr sz="1600" b="1" dirty="0">
                <a:latin typeface="Quicksand"/>
              </a:rPr>
              <a:t>1. Encode:</a:t>
            </a:r>
            <a:r>
              <a:rPr sz="1600" b="0" dirty="0">
                <a:latin typeface="Quicksand"/>
              </a:rPr>
              <a:t> A bidirectional RNN processes the full input sequence, producing a hidden state at every position.</a:t>
            </a:r>
          </a:p>
          <a:p>
            <a:pPr>
              <a:spcBef>
                <a:spcPts val="400"/>
              </a:spcBef>
            </a:pPr>
            <a:r>
              <a:rPr sz="1600" b="1" dirty="0">
                <a:latin typeface="Quicksand"/>
              </a:rPr>
              <a:t>2. Score:</a:t>
            </a:r>
            <a:r>
              <a:rPr sz="1600" b="0" dirty="0">
                <a:latin typeface="Quicksand"/>
              </a:rPr>
              <a:t> At each decoding step, compare</a:t>
            </a:r>
            <a:r>
              <a:rPr lang="en-US" sz="1600" b="0" dirty="0">
                <a:latin typeface="Quicksand"/>
              </a:rPr>
              <a:t> </a:t>
            </a:r>
            <a:r>
              <a:rPr sz="1600" b="0" dirty="0">
                <a:latin typeface="Quicksand"/>
              </a:rPr>
              <a:t>the decoder’s current hidden state</a:t>
            </a:r>
            <a:r>
              <a:rPr lang="en-US" sz="1600" b="0" dirty="0">
                <a:latin typeface="Quicksand"/>
              </a:rPr>
              <a:t> </a:t>
            </a:r>
            <a:r>
              <a:rPr sz="1600" b="0" dirty="0">
                <a:latin typeface="Quicksand"/>
              </a:rPr>
              <a:t>to each encoder hidden state</a:t>
            </a:r>
            <a:r>
              <a:rPr lang="en-US" sz="1600" dirty="0">
                <a:latin typeface="Quicksand"/>
              </a:rPr>
              <a:t> (S_t-1 vs. h’s) </a:t>
            </a:r>
            <a:r>
              <a:rPr sz="1600" b="0" dirty="0">
                <a:latin typeface="Quicksand"/>
              </a:rPr>
              <a:t>. This produces a relevance score per input</a:t>
            </a:r>
            <a:r>
              <a:rPr lang="en-US" sz="1600" b="0" dirty="0">
                <a:latin typeface="Quicksand"/>
              </a:rPr>
              <a:t> token.</a:t>
            </a:r>
            <a:r>
              <a:rPr sz="1600" b="0" dirty="0">
                <a:latin typeface="Quicksand"/>
              </a:rPr>
              <a:t> </a:t>
            </a:r>
          </a:p>
          <a:p>
            <a:pPr>
              <a:spcBef>
                <a:spcPts val="400"/>
              </a:spcBef>
            </a:pPr>
            <a:r>
              <a:rPr sz="1600" b="1" dirty="0">
                <a:latin typeface="Quicksand"/>
              </a:rPr>
              <a:t>3. </a:t>
            </a:r>
            <a:r>
              <a:rPr lang="en-US" sz="1600" b="1" dirty="0">
                <a:latin typeface="Quicksand"/>
              </a:rPr>
              <a:t>Attention Weights</a:t>
            </a:r>
            <a:r>
              <a:rPr sz="1600" b="1" dirty="0">
                <a:latin typeface="Quicksand"/>
              </a:rPr>
              <a:t>:</a:t>
            </a:r>
            <a:r>
              <a:rPr sz="1600" b="0" dirty="0">
                <a:latin typeface="Quicksand"/>
              </a:rPr>
              <a:t> </a:t>
            </a:r>
            <a:r>
              <a:rPr sz="1600" b="0" dirty="0" err="1">
                <a:latin typeface="Quicksand"/>
              </a:rPr>
              <a:t>Softmax</a:t>
            </a:r>
            <a:r>
              <a:rPr sz="1600" b="0" dirty="0">
                <a:latin typeface="Quicksand"/>
              </a:rPr>
              <a:t> the scores (</a:t>
            </a:r>
            <a:r>
              <a:rPr lang="en-US" sz="1600" b="0" dirty="0">
                <a:latin typeface="Quicksand"/>
              </a:rPr>
              <a:t>they </a:t>
            </a:r>
            <a:r>
              <a:rPr sz="1600" b="0" dirty="0">
                <a:latin typeface="Quicksand"/>
              </a:rPr>
              <a:t>sum to 1).</a:t>
            </a:r>
          </a:p>
          <a:p>
            <a:pPr>
              <a:spcBef>
                <a:spcPts val="400"/>
              </a:spcBef>
            </a:pPr>
            <a:r>
              <a:rPr sz="1600" b="1" dirty="0">
                <a:latin typeface="Quicksand"/>
              </a:rPr>
              <a:t>4. Context:</a:t>
            </a:r>
            <a:r>
              <a:rPr sz="1600" b="0" dirty="0">
                <a:latin typeface="Quicksand"/>
              </a:rPr>
              <a:t> Weighted sum of </a:t>
            </a:r>
            <a:r>
              <a:rPr lang="en-US" sz="1600" b="0" dirty="0">
                <a:latin typeface="Quicksand"/>
              </a:rPr>
              <a:t>scaled </a:t>
            </a:r>
            <a:r>
              <a:rPr sz="1600" b="0" dirty="0">
                <a:latin typeface="Quicksand"/>
              </a:rPr>
              <a:t>encoder hidden states. This </a:t>
            </a:r>
            <a:r>
              <a:rPr lang="en-US" sz="1600" b="0" dirty="0">
                <a:latin typeface="Quicksand"/>
              </a:rPr>
              <a:t>vector </a:t>
            </a:r>
            <a:r>
              <a:rPr sz="1600" b="0" dirty="0">
                <a:latin typeface="Quicksand"/>
              </a:rPr>
              <a:t>tells the decoder what’s relevant from the </a:t>
            </a:r>
            <a:r>
              <a:rPr lang="en-US" sz="1600" b="0" dirty="0">
                <a:latin typeface="Quicksand"/>
              </a:rPr>
              <a:t>rest of the sequence</a:t>
            </a:r>
            <a:r>
              <a:rPr sz="1600" b="0" dirty="0">
                <a:latin typeface="Quicksand"/>
              </a:rPr>
              <a:t> </a:t>
            </a:r>
            <a:r>
              <a:rPr lang="en-US" sz="1600" dirty="0">
                <a:latin typeface="Quicksand"/>
              </a:rPr>
              <a:t>for the current output token</a:t>
            </a:r>
            <a:r>
              <a:rPr sz="1600" b="0" dirty="0">
                <a:latin typeface="Quicksand"/>
              </a:rPr>
              <a:t>.</a:t>
            </a:r>
          </a:p>
          <a:p>
            <a:pPr>
              <a:spcBef>
                <a:spcPts val="400"/>
              </a:spcBef>
            </a:pPr>
            <a:r>
              <a:rPr sz="1600" b="1" dirty="0">
                <a:latin typeface="Quicksand"/>
              </a:rPr>
              <a:t>5. Predict:</a:t>
            </a:r>
            <a:r>
              <a:rPr sz="1600" b="0" dirty="0">
                <a:latin typeface="Quicksand"/>
              </a:rPr>
              <a:t> Concatenate context vector with decoder hidden state → predict next output token.</a:t>
            </a:r>
          </a:p>
        </p:txBody>
      </p:sp>
    </p:spTree>
    <p:extLst>
      <p:ext uri="{BB962C8B-B14F-4D97-AF65-F5344CB8AC3E}">
        <p14:creationId xmlns:p14="http://schemas.microsoft.com/office/powerpoint/2010/main" val="4114092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pic>
        <p:nvPicPr>
          <p:cNvPr id="2" name="Picture 1">
            <a:extLst>
              <a:ext uri="{FF2B5EF4-FFF2-40B4-BE49-F238E27FC236}">
                <a16:creationId xmlns:a16="http://schemas.microsoft.com/office/drawing/2014/main" id="{D103227F-D4CF-81E8-8198-A5BDB855E1CB}"/>
              </a:ext>
            </a:extLst>
          </p:cNvPr>
          <p:cNvPicPr>
            <a:picLocks noChangeAspect="1"/>
          </p:cNvPicPr>
          <p:nvPr/>
        </p:nvPicPr>
        <p:blipFill>
          <a:blip r:embed="rId3"/>
          <a:stretch>
            <a:fillRect/>
          </a:stretch>
        </p:blipFill>
        <p:spPr>
          <a:xfrm>
            <a:off x="1980557" y="1228098"/>
            <a:ext cx="5882691" cy="5233069"/>
          </a:xfrm>
          <a:prstGeom prst="rect">
            <a:avLst/>
          </a:prstGeom>
        </p:spPr>
      </p:pic>
      <p:sp>
        <p:nvSpPr>
          <p:cNvPr id="10" name="Google Shape;123;p4">
            <a:extLst>
              <a:ext uri="{FF2B5EF4-FFF2-40B4-BE49-F238E27FC236}">
                <a16:creationId xmlns:a16="http://schemas.microsoft.com/office/drawing/2014/main" id="{DF6987E2-243F-98CA-DD02-7DBD16FDA0D1}"/>
              </a:ext>
            </a:extLst>
          </p:cNvPr>
          <p:cNvSpPr txBox="1">
            <a:spLocks noGrp="1"/>
          </p:cNvSpPr>
          <p:nvPr>
            <p:ph type="title"/>
          </p:nvPr>
        </p:nvSpPr>
        <p:spPr>
          <a:xfrm>
            <a:off x="707569" y="172899"/>
            <a:ext cx="8428665" cy="1325563"/>
          </a:xfrm>
          <a:prstGeom prst="rect">
            <a:avLst/>
          </a:prstGeom>
          <a:noFill/>
          <a:ln>
            <a:noFill/>
          </a:ln>
        </p:spPr>
        <p:txBody>
          <a:bodyPr spcFirstLastPara="1" wrap="square" lIns="91425" tIns="45700" rIns="91425" bIns="45700" anchor="ctr" anchorCtr="0">
            <a:normAutofit/>
          </a:bodyPr>
          <a:lstStyle/>
          <a:p>
            <a:pPr marL="0" lvl="0" indent="0"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The First (RNN) Attention Model</a:t>
            </a:r>
            <a:endParaRPr dirty="0"/>
          </a:p>
        </p:txBody>
      </p:sp>
      <p:pic>
        <p:nvPicPr>
          <p:cNvPr id="3" name="Picture 2">
            <a:extLst>
              <a:ext uri="{FF2B5EF4-FFF2-40B4-BE49-F238E27FC236}">
                <a16:creationId xmlns:a16="http://schemas.microsoft.com/office/drawing/2014/main" id="{FE2815CA-0705-B00F-0892-4E7750C8A877}"/>
              </a:ext>
            </a:extLst>
          </p:cNvPr>
          <p:cNvPicPr>
            <a:picLocks noChangeAspect="1"/>
          </p:cNvPicPr>
          <p:nvPr/>
        </p:nvPicPr>
        <p:blipFill>
          <a:blip r:embed="rId4"/>
          <a:stretch>
            <a:fillRect/>
          </a:stretch>
        </p:blipFill>
        <p:spPr>
          <a:xfrm>
            <a:off x="8652847" y="2426049"/>
            <a:ext cx="3111500" cy="2336800"/>
          </a:xfrm>
          <a:prstGeom prst="rect">
            <a:avLst/>
          </a:prstGeom>
          <a:ln w="28575">
            <a:solidFill>
              <a:schemeClr val="tx1"/>
            </a:solidFill>
          </a:ln>
        </p:spPr>
      </p:pic>
      <p:pic>
        <p:nvPicPr>
          <p:cNvPr id="4" name="Picture 3">
            <a:extLst>
              <a:ext uri="{FF2B5EF4-FFF2-40B4-BE49-F238E27FC236}">
                <a16:creationId xmlns:a16="http://schemas.microsoft.com/office/drawing/2014/main" id="{E83D2635-A7D8-D7FD-E9E5-E8C63E7F6B2B}"/>
              </a:ext>
            </a:extLst>
          </p:cNvPr>
          <p:cNvPicPr>
            <a:picLocks noChangeAspect="1"/>
          </p:cNvPicPr>
          <p:nvPr/>
        </p:nvPicPr>
        <p:blipFill>
          <a:blip r:embed="rId5"/>
          <a:srcRect l="12892" t="5806"/>
          <a:stretch/>
        </p:blipFill>
        <p:spPr>
          <a:xfrm>
            <a:off x="9438976" y="5918885"/>
            <a:ext cx="2045453" cy="309875"/>
          </a:xfrm>
          <a:prstGeom prst="rect">
            <a:avLst/>
          </a:prstGeom>
        </p:spPr>
      </p:pic>
      <p:pic>
        <p:nvPicPr>
          <p:cNvPr id="5" name="Picture 4">
            <a:extLst>
              <a:ext uri="{FF2B5EF4-FFF2-40B4-BE49-F238E27FC236}">
                <a16:creationId xmlns:a16="http://schemas.microsoft.com/office/drawing/2014/main" id="{8719CF71-FE51-7E88-C503-BE727E59AE26}"/>
              </a:ext>
            </a:extLst>
          </p:cNvPr>
          <p:cNvPicPr>
            <a:picLocks noChangeAspect="1"/>
          </p:cNvPicPr>
          <p:nvPr/>
        </p:nvPicPr>
        <p:blipFill>
          <a:blip r:embed="rId4"/>
          <a:srcRect l="41069" t="20270" r="39472" b="45887"/>
          <a:stretch/>
        </p:blipFill>
        <p:spPr>
          <a:xfrm>
            <a:off x="8833495" y="5667441"/>
            <a:ext cx="605481" cy="790832"/>
          </a:xfrm>
          <a:prstGeom prst="rect">
            <a:avLst/>
          </a:prstGeom>
          <a:ln w="28575">
            <a:noFill/>
          </a:ln>
        </p:spPr>
      </p:pic>
    </p:spTree>
    <p:extLst>
      <p:ext uri="{BB962C8B-B14F-4D97-AF65-F5344CB8AC3E}">
        <p14:creationId xmlns:p14="http://schemas.microsoft.com/office/powerpoint/2010/main" val="6950472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0" name="Google Shape;123;p4">
            <a:extLst>
              <a:ext uri="{FF2B5EF4-FFF2-40B4-BE49-F238E27FC236}">
                <a16:creationId xmlns:a16="http://schemas.microsoft.com/office/drawing/2014/main" id="{DF6987E2-243F-98CA-DD02-7DBD16FDA0D1}"/>
              </a:ext>
            </a:extLst>
          </p:cNvPr>
          <p:cNvSpPr txBox="1">
            <a:spLocks noGrp="1"/>
          </p:cNvSpPr>
          <p:nvPr>
            <p:ph type="title"/>
          </p:nvPr>
        </p:nvSpPr>
        <p:spPr>
          <a:xfrm>
            <a:off x="1881667" y="210222"/>
            <a:ext cx="8428665"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sym typeface="Economica"/>
              </a:rPr>
              <a:t>We Don’t Need an RNN for This!</a:t>
            </a:r>
            <a:endParaRPr dirty="0"/>
          </a:p>
        </p:txBody>
      </p:sp>
      <p:sp>
        <p:nvSpPr>
          <p:cNvPr id="5" name="Google Shape;124;p4">
            <a:extLst>
              <a:ext uri="{FF2B5EF4-FFF2-40B4-BE49-F238E27FC236}">
                <a16:creationId xmlns:a16="http://schemas.microsoft.com/office/drawing/2014/main" id="{9D7E3D3D-9915-948A-B20B-E0327B384B1E}"/>
              </a:ext>
            </a:extLst>
          </p:cNvPr>
          <p:cNvSpPr txBox="1">
            <a:spLocks noGrp="1"/>
          </p:cNvSpPr>
          <p:nvPr>
            <p:ph type="body" idx="1"/>
          </p:nvPr>
        </p:nvSpPr>
        <p:spPr>
          <a:xfrm>
            <a:off x="838198" y="1535785"/>
            <a:ext cx="10515600" cy="404068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ct val="100000"/>
              <a:buNone/>
            </a:pPr>
            <a:r>
              <a:rPr lang="en-US" sz="2200" b="1" dirty="0"/>
              <a:t>We Can Drop the RNN and Process the Whole Sequence in Parallel</a:t>
            </a:r>
            <a:endParaRPr dirty="0"/>
          </a:p>
          <a:p>
            <a:pPr marL="347663" lvl="1" indent="-236600" algn="l" rtl="0">
              <a:lnSpc>
                <a:spcPct val="90000"/>
              </a:lnSpc>
              <a:spcBef>
                <a:spcPts val="500"/>
              </a:spcBef>
              <a:spcAft>
                <a:spcPts val="0"/>
              </a:spcAft>
              <a:buClr>
                <a:schemeClr val="dk1"/>
              </a:buClr>
              <a:buSzPct val="100000"/>
              <a:buChar char="•"/>
            </a:pPr>
            <a:r>
              <a:rPr lang="en-US" sz="1900" dirty="0"/>
              <a:t>Note that transformers work with a similar encoder architecture, but no LSTMs are needed </a:t>
            </a:r>
            <a:br>
              <a:rPr lang="en-US" sz="1900" dirty="0"/>
            </a:br>
            <a:r>
              <a:rPr lang="en-US" sz="1900" dirty="0"/>
              <a:t>(we use ”stacked attention layers”).</a:t>
            </a:r>
          </a:p>
          <a:p>
            <a:pPr marL="347663" lvl="1" indent="-236600" algn="l" rtl="0">
              <a:lnSpc>
                <a:spcPct val="90000"/>
              </a:lnSpc>
              <a:spcBef>
                <a:spcPts val="500"/>
              </a:spcBef>
              <a:spcAft>
                <a:spcPts val="0"/>
              </a:spcAft>
              <a:buClr>
                <a:schemeClr val="dk1"/>
              </a:buClr>
              <a:buSzPct val="100000"/>
              <a:buChar char="•"/>
            </a:pPr>
            <a:r>
              <a:rPr lang="en-US" sz="1900" dirty="0"/>
              <a:t>Transformers are more computationally expensive (more calculations required), </a:t>
            </a:r>
            <a:br>
              <a:rPr lang="en-US" sz="1900" dirty="0"/>
            </a:br>
            <a:r>
              <a:rPr lang="en-US" sz="1900" dirty="0"/>
              <a:t>but because we can parallelize them, they can be trained faster than RNNs.</a:t>
            </a:r>
          </a:p>
          <a:p>
            <a:pPr marL="347663" lvl="1" indent="-236600" algn="l" rtl="0">
              <a:lnSpc>
                <a:spcPct val="90000"/>
              </a:lnSpc>
              <a:spcBef>
                <a:spcPts val="500"/>
              </a:spcBef>
              <a:spcAft>
                <a:spcPts val="0"/>
              </a:spcAft>
              <a:buClr>
                <a:schemeClr val="dk1"/>
              </a:buClr>
              <a:buSzPct val="100000"/>
              <a:buChar char="•"/>
            </a:pPr>
            <a:r>
              <a:rPr lang="en-US" sz="1900" dirty="0"/>
              <a:t>By moving away from RNN specific implementation we can also think about more general forms of attention (e.g.,. For CNNs). </a:t>
            </a:r>
          </a:p>
          <a:p>
            <a:pPr marL="111063" lvl="1" indent="0" algn="l" rtl="0">
              <a:lnSpc>
                <a:spcPct val="90000"/>
              </a:lnSpc>
              <a:spcBef>
                <a:spcPts val="500"/>
              </a:spcBef>
              <a:spcAft>
                <a:spcPts val="0"/>
              </a:spcAft>
              <a:buClr>
                <a:schemeClr val="dk1"/>
              </a:buClr>
              <a:buSzPct val="100000"/>
              <a:buNone/>
            </a:pPr>
            <a:endParaRPr lang="en-US" sz="1900" dirty="0"/>
          </a:p>
        </p:txBody>
      </p:sp>
      <p:pic>
        <p:nvPicPr>
          <p:cNvPr id="7" name="Picture 6">
            <a:extLst>
              <a:ext uri="{FF2B5EF4-FFF2-40B4-BE49-F238E27FC236}">
                <a16:creationId xmlns:a16="http://schemas.microsoft.com/office/drawing/2014/main" id="{9ACE5024-E579-96BC-7050-71747CBA9D40}"/>
              </a:ext>
            </a:extLst>
          </p:cNvPr>
          <p:cNvPicPr>
            <a:picLocks noChangeAspect="1"/>
          </p:cNvPicPr>
          <p:nvPr/>
        </p:nvPicPr>
        <p:blipFill>
          <a:blip r:embed="rId3"/>
          <a:stretch>
            <a:fillRect/>
          </a:stretch>
        </p:blipFill>
        <p:spPr>
          <a:xfrm>
            <a:off x="3875382" y="3862873"/>
            <a:ext cx="4441233" cy="278490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1373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0427D82-7E8F-0647-3239-9A9E83A784DA}"/>
              </a:ext>
            </a:extLst>
          </p:cNvPr>
          <p:cNvPicPr>
            <a:picLocks noChangeAspect="1"/>
          </p:cNvPicPr>
          <p:nvPr/>
        </p:nvPicPr>
        <p:blipFill rotWithShape="1">
          <a:blip r:embed="rId3"/>
          <a:srcRect t="21645"/>
          <a:stretch/>
        </p:blipFill>
        <p:spPr>
          <a:xfrm>
            <a:off x="1754790" y="1528996"/>
            <a:ext cx="8682419" cy="4827353"/>
          </a:xfrm>
          <a:prstGeom prst="rect">
            <a:avLst/>
          </a:prstGeom>
        </p:spPr>
      </p:pic>
      <p:sp>
        <p:nvSpPr>
          <p:cNvPr id="4" name="Slide Number Placeholder 3">
            <a:extLst>
              <a:ext uri="{FF2B5EF4-FFF2-40B4-BE49-F238E27FC236}">
                <a16:creationId xmlns:a16="http://schemas.microsoft.com/office/drawing/2014/main" id="{F16B93D3-D271-0ABF-C273-2A6C25D617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sp>
        <p:nvSpPr>
          <p:cNvPr id="6" name="Google Shape;123;p4">
            <a:extLst>
              <a:ext uri="{FF2B5EF4-FFF2-40B4-BE49-F238E27FC236}">
                <a16:creationId xmlns:a16="http://schemas.microsoft.com/office/drawing/2014/main" id="{99CBDFFB-777A-82AE-AD51-3B2C09C426C9}"/>
              </a:ext>
            </a:extLst>
          </p:cNvPr>
          <p:cNvSpPr txBox="1">
            <a:spLocks noGrp="1"/>
          </p:cNvSpPr>
          <p:nvPr>
            <p:ph type="title"/>
          </p:nvPr>
        </p:nvSpPr>
        <p:spPr>
          <a:xfrm>
            <a:off x="1881667" y="210222"/>
            <a:ext cx="8428665" cy="132556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sym typeface="Economica"/>
              </a:rPr>
              <a:t>A Simpler (Less-Flexible) Attention Mechanism</a:t>
            </a:r>
            <a:endParaRPr dirty="0"/>
          </a:p>
        </p:txBody>
      </p:sp>
    </p:spTree>
    <p:extLst>
      <p:ext uri="{BB962C8B-B14F-4D97-AF65-F5344CB8AC3E}">
        <p14:creationId xmlns:p14="http://schemas.microsoft.com/office/powerpoint/2010/main" val="36933280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6B93D3-D271-0ABF-C273-2A6C25D617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pic>
        <p:nvPicPr>
          <p:cNvPr id="2" name="Picture 1">
            <a:extLst>
              <a:ext uri="{FF2B5EF4-FFF2-40B4-BE49-F238E27FC236}">
                <a16:creationId xmlns:a16="http://schemas.microsoft.com/office/drawing/2014/main" id="{CC138192-65F1-6E86-F6CD-D411F3C454F8}"/>
              </a:ext>
            </a:extLst>
          </p:cNvPr>
          <p:cNvPicPr>
            <a:picLocks noChangeAspect="1"/>
          </p:cNvPicPr>
          <p:nvPr/>
        </p:nvPicPr>
        <p:blipFill rotWithShape="1">
          <a:blip r:embed="rId3"/>
          <a:srcRect t="20503"/>
          <a:stretch/>
        </p:blipFill>
        <p:spPr>
          <a:xfrm>
            <a:off x="1807806" y="1633928"/>
            <a:ext cx="8576388" cy="4837892"/>
          </a:xfrm>
          <a:prstGeom prst="rect">
            <a:avLst/>
          </a:prstGeom>
        </p:spPr>
      </p:pic>
      <p:sp>
        <p:nvSpPr>
          <p:cNvPr id="3" name="Google Shape;123;p4">
            <a:extLst>
              <a:ext uri="{FF2B5EF4-FFF2-40B4-BE49-F238E27FC236}">
                <a16:creationId xmlns:a16="http://schemas.microsoft.com/office/drawing/2014/main" id="{D9E8C6DB-2EDC-F70C-DECD-8302C4D6DFB1}"/>
              </a:ext>
            </a:extLst>
          </p:cNvPr>
          <p:cNvSpPr txBox="1">
            <a:spLocks noGrp="1"/>
          </p:cNvSpPr>
          <p:nvPr>
            <p:ph type="title"/>
          </p:nvPr>
        </p:nvSpPr>
        <p:spPr>
          <a:xfrm>
            <a:off x="1881667" y="210222"/>
            <a:ext cx="8428665" cy="132556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sym typeface="Economica"/>
              </a:rPr>
              <a:t>A Simpler (Less-Flexible) Attention Mechanism</a:t>
            </a:r>
            <a:endParaRPr dirty="0"/>
          </a:p>
        </p:txBody>
      </p:sp>
    </p:spTree>
    <p:extLst>
      <p:ext uri="{BB962C8B-B14F-4D97-AF65-F5344CB8AC3E}">
        <p14:creationId xmlns:p14="http://schemas.microsoft.com/office/powerpoint/2010/main" val="31409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6B93D3-D271-0ABF-C273-2A6C25D6178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3" name="Picture 2">
            <a:extLst>
              <a:ext uri="{FF2B5EF4-FFF2-40B4-BE49-F238E27FC236}">
                <a16:creationId xmlns:a16="http://schemas.microsoft.com/office/drawing/2014/main" id="{3DA559ED-AB67-76BB-1D20-EA639A84E012}"/>
              </a:ext>
            </a:extLst>
          </p:cNvPr>
          <p:cNvPicPr>
            <a:picLocks noChangeAspect="1"/>
          </p:cNvPicPr>
          <p:nvPr/>
        </p:nvPicPr>
        <p:blipFill rotWithShape="1">
          <a:blip r:embed="rId3"/>
          <a:srcRect t="26873"/>
          <a:stretch/>
        </p:blipFill>
        <p:spPr>
          <a:xfrm>
            <a:off x="1817137" y="1873770"/>
            <a:ext cx="8557726" cy="4440592"/>
          </a:xfrm>
          <a:prstGeom prst="rect">
            <a:avLst/>
          </a:prstGeom>
        </p:spPr>
      </p:pic>
      <p:sp>
        <p:nvSpPr>
          <p:cNvPr id="5" name="Google Shape;123;p4">
            <a:extLst>
              <a:ext uri="{FF2B5EF4-FFF2-40B4-BE49-F238E27FC236}">
                <a16:creationId xmlns:a16="http://schemas.microsoft.com/office/drawing/2014/main" id="{3DAEFC9D-B933-18BE-2E42-32A1F1864F01}"/>
              </a:ext>
            </a:extLst>
          </p:cNvPr>
          <p:cNvSpPr txBox="1">
            <a:spLocks noGrp="1"/>
          </p:cNvSpPr>
          <p:nvPr>
            <p:ph type="title"/>
          </p:nvPr>
        </p:nvSpPr>
        <p:spPr>
          <a:xfrm>
            <a:off x="1881667" y="210222"/>
            <a:ext cx="8428665" cy="1325563"/>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sym typeface="Economica"/>
              </a:rPr>
              <a:t>A Simpler (Less Flexible) Attention Mechanism</a:t>
            </a:r>
            <a:endParaRPr dirty="0"/>
          </a:p>
        </p:txBody>
      </p:sp>
    </p:spTree>
    <p:extLst>
      <p:ext uri="{BB962C8B-B14F-4D97-AF65-F5344CB8AC3E}">
        <p14:creationId xmlns:p14="http://schemas.microsoft.com/office/powerpoint/2010/main" val="3811677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4" name="Google Shape;124;p4"/>
          <p:cNvSpPr txBox="1">
            <a:spLocks noGrp="1"/>
          </p:cNvSpPr>
          <p:nvPr>
            <p:ph type="body" idx="1"/>
          </p:nvPr>
        </p:nvSpPr>
        <p:spPr>
          <a:xfrm>
            <a:off x="838200" y="1993004"/>
            <a:ext cx="10677939" cy="404068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ct val="100000"/>
              <a:buNone/>
            </a:pPr>
            <a:r>
              <a:rPr lang="en-US" sz="2200" b="1" dirty="0"/>
              <a:t>Basic Self-Attention</a:t>
            </a:r>
            <a:endParaRPr dirty="0"/>
          </a:p>
          <a:p>
            <a:pPr marL="347663" lvl="1" indent="-236600" algn="l" rtl="0">
              <a:lnSpc>
                <a:spcPct val="90000"/>
              </a:lnSpc>
              <a:spcBef>
                <a:spcPts val="500"/>
              </a:spcBef>
              <a:spcAft>
                <a:spcPts val="0"/>
              </a:spcAft>
              <a:buClr>
                <a:schemeClr val="dk1"/>
              </a:buClr>
              <a:buSzPct val="100000"/>
              <a:buChar char="•"/>
            </a:pPr>
            <a:r>
              <a:rPr lang="en-US" sz="1900" dirty="0"/>
              <a:t>This is what the textbook introduces. </a:t>
            </a:r>
          </a:p>
          <a:p>
            <a:pPr marL="347663" lvl="1" indent="-236600" algn="l" rtl="0">
              <a:lnSpc>
                <a:spcPct val="90000"/>
              </a:lnSpc>
              <a:spcBef>
                <a:spcPts val="500"/>
              </a:spcBef>
              <a:spcAft>
                <a:spcPts val="0"/>
              </a:spcAft>
              <a:buClr>
                <a:schemeClr val="dk1"/>
              </a:buClr>
              <a:buSzPct val="100000"/>
              <a:buChar char="•"/>
            </a:pPr>
            <a:r>
              <a:rPr lang="en-US" sz="1900" dirty="0"/>
              <a:t>We ‘shift’ each input word embedding </a:t>
            </a:r>
            <a:br>
              <a:rPr lang="en-US" sz="1900" dirty="0"/>
            </a:br>
            <a:r>
              <a:rPr lang="en-US" sz="1900" dirty="0"/>
              <a:t>(vector representation) </a:t>
            </a:r>
            <a:r>
              <a:rPr lang="en-US" sz="1900" i="1" dirty="0"/>
              <a:t>toward </a:t>
            </a:r>
            <a:r>
              <a:rPr lang="en-US" sz="1900" dirty="0"/>
              <a:t>other </a:t>
            </a:r>
            <a:br>
              <a:rPr lang="en-US" sz="1900" dirty="0"/>
            </a:br>
            <a:r>
              <a:rPr lang="en-US" sz="1900" dirty="0"/>
              <a:t>words in the input that are most similar </a:t>
            </a:r>
            <a:br>
              <a:rPr lang="en-US" sz="1900" dirty="0"/>
            </a:br>
            <a:r>
              <a:rPr lang="en-US" sz="1900" dirty="0"/>
              <a:t>(smallest cosine distance).</a:t>
            </a:r>
          </a:p>
          <a:p>
            <a:pPr marL="347663" lvl="1" indent="-236600" algn="l" rtl="0">
              <a:lnSpc>
                <a:spcPct val="90000"/>
              </a:lnSpc>
              <a:spcBef>
                <a:spcPts val="500"/>
              </a:spcBef>
              <a:spcAft>
                <a:spcPts val="0"/>
              </a:spcAft>
              <a:buClr>
                <a:schemeClr val="dk1"/>
              </a:buClr>
              <a:buSzPct val="100000"/>
              <a:buChar char="•"/>
            </a:pPr>
            <a:r>
              <a:rPr lang="en-US" sz="1900" dirty="0"/>
              <a:t>This ‘contextualizes’ each word</a:t>
            </a:r>
            <a:br>
              <a:rPr lang="en-US" sz="1900" dirty="0"/>
            </a:br>
            <a:r>
              <a:rPr lang="en-US" sz="1900" dirty="0"/>
              <a:t>embedding, changing its representation</a:t>
            </a:r>
            <a:br>
              <a:rPr lang="en-US" sz="1900" dirty="0"/>
            </a:br>
            <a:r>
              <a:rPr lang="en-US" sz="1900" dirty="0"/>
              <a:t>depending on the other words that</a:t>
            </a:r>
            <a:br>
              <a:rPr lang="en-US" sz="1900" dirty="0"/>
            </a:br>
            <a:r>
              <a:rPr lang="en-US" sz="1900" dirty="0"/>
              <a:t>appear alongside it.</a:t>
            </a:r>
          </a:p>
          <a:p>
            <a:pPr marL="347663" lvl="1" indent="-236600" algn="l" rtl="0">
              <a:lnSpc>
                <a:spcPct val="90000"/>
              </a:lnSpc>
              <a:spcBef>
                <a:spcPts val="500"/>
              </a:spcBef>
              <a:spcAft>
                <a:spcPts val="0"/>
              </a:spcAft>
              <a:buClr>
                <a:schemeClr val="dk1"/>
              </a:buClr>
              <a:buSzPct val="100000"/>
              <a:buChar char="•"/>
            </a:pPr>
            <a:endParaRPr sz="2462" dirty="0"/>
          </a:p>
        </p:txBody>
      </p:sp>
      <p:pic>
        <p:nvPicPr>
          <p:cNvPr id="7" name="Google Shape;180;p14">
            <a:extLst>
              <a:ext uri="{FF2B5EF4-FFF2-40B4-BE49-F238E27FC236}">
                <a16:creationId xmlns:a16="http://schemas.microsoft.com/office/drawing/2014/main" id="{E8452A65-FE8C-E426-F675-89A581B5DB1A}"/>
              </a:ext>
            </a:extLst>
          </p:cNvPr>
          <p:cNvPicPr preferRelativeResize="0"/>
          <p:nvPr/>
        </p:nvPicPr>
        <p:blipFill rotWithShape="1">
          <a:blip r:embed="rId3">
            <a:alphaModFix/>
          </a:blip>
          <a:srcRect/>
          <a:stretch/>
        </p:blipFill>
        <p:spPr>
          <a:xfrm>
            <a:off x="5721064" y="1806992"/>
            <a:ext cx="5855669" cy="4040686"/>
          </a:xfrm>
          <a:prstGeom prst="rect">
            <a:avLst/>
          </a:prstGeom>
          <a:noFill/>
          <a:ln>
            <a:noFill/>
          </a:ln>
        </p:spPr>
      </p:pic>
      <p:pic>
        <p:nvPicPr>
          <p:cNvPr id="8" name="Google Shape;181;p14">
            <a:extLst>
              <a:ext uri="{FF2B5EF4-FFF2-40B4-BE49-F238E27FC236}">
                <a16:creationId xmlns:a16="http://schemas.microsoft.com/office/drawing/2014/main" id="{64A12705-C13C-13D3-424A-8AA324BD314B}"/>
              </a:ext>
            </a:extLst>
          </p:cNvPr>
          <p:cNvPicPr preferRelativeResize="0"/>
          <p:nvPr/>
        </p:nvPicPr>
        <p:blipFill rotWithShape="1">
          <a:blip r:embed="rId4">
            <a:alphaModFix/>
          </a:blip>
          <a:srcRect/>
          <a:stretch/>
        </p:blipFill>
        <p:spPr>
          <a:xfrm>
            <a:off x="2046782" y="5047578"/>
            <a:ext cx="3492500" cy="1600200"/>
          </a:xfrm>
          <a:prstGeom prst="rect">
            <a:avLst/>
          </a:prstGeom>
          <a:noFill/>
          <a:ln>
            <a:noFill/>
          </a:ln>
        </p:spPr>
      </p:pic>
      <p:sp>
        <p:nvSpPr>
          <p:cNvPr id="4" name="Google Shape;123;p4">
            <a:extLst>
              <a:ext uri="{FF2B5EF4-FFF2-40B4-BE49-F238E27FC236}">
                <a16:creationId xmlns:a16="http://schemas.microsoft.com/office/drawing/2014/main" id="{D7A2500B-C610-724B-E837-5BB23E9BEC1F}"/>
              </a:ext>
            </a:extLst>
          </p:cNvPr>
          <p:cNvSpPr txBox="1">
            <a:spLocks/>
          </p:cNvSpPr>
          <p:nvPr/>
        </p:nvSpPr>
        <p:spPr>
          <a:xfrm>
            <a:off x="1546315" y="210222"/>
            <a:ext cx="9099370" cy="1325563"/>
          </a:xfrm>
          <a:prstGeom prst="rect">
            <a:avLst/>
          </a:prstGeom>
          <a:noFill/>
          <a:ln>
            <a:noFill/>
          </a:ln>
        </p:spPr>
        <p:txBody>
          <a:bodyPr spcFirstLastPara="1" wrap="square" lIns="91425" tIns="45700" rIns="91425" bIns="45700" anchor="ctr" anchorCtr="0">
            <a:normAutofit fontScale="97500"/>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SzPts val="4923"/>
              <a:buFont typeface="Economica"/>
              <a:buNone/>
            </a:pPr>
            <a:r>
              <a:rPr lang="en-US" sz="4923" dirty="0">
                <a:latin typeface="Economica"/>
                <a:sym typeface="Economica"/>
              </a:rPr>
              <a:t>A Simpler (Less Flexible) Attention Mechanism</a:t>
            </a:r>
            <a:endParaRPr lang="en-US" dirty="0"/>
          </a:p>
        </p:txBody>
      </p:sp>
    </p:spTree>
    <p:extLst>
      <p:ext uri="{BB962C8B-B14F-4D97-AF65-F5344CB8AC3E}">
        <p14:creationId xmlns:p14="http://schemas.microsoft.com/office/powerpoint/2010/main" val="2151532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4" name="Google Shape;124;p4"/>
          <p:cNvSpPr txBox="1">
            <a:spLocks noGrp="1"/>
          </p:cNvSpPr>
          <p:nvPr>
            <p:ph type="body" idx="1"/>
          </p:nvPr>
        </p:nvSpPr>
        <p:spPr>
          <a:xfrm>
            <a:off x="753763" y="2045622"/>
            <a:ext cx="9429822" cy="404068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ct val="100000"/>
              <a:buNone/>
            </a:pPr>
            <a:r>
              <a:rPr lang="en-US" sz="2200" b="1" dirty="0"/>
              <a:t>The Approach Considers the Input Context in a ‘Fixed’ Manner</a:t>
            </a:r>
            <a:endParaRPr dirty="0"/>
          </a:p>
          <a:p>
            <a:pPr marL="347663" lvl="1" indent="-236600">
              <a:buSzPct val="100000"/>
            </a:pPr>
            <a:r>
              <a:rPr lang="en-US" sz="1900" dirty="0"/>
              <a:t>Although it doesn’t assume forward or backward sequence/ordering is most important (like an RNN does), it </a:t>
            </a:r>
            <a:r>
              <a:rPr lang="en-US" sz="1900" i="1" dirty="0"/>
              <a:t>does </a:t>
            </a:r>
            <a:r>
              <a:rPr lang="en-US" sz="1900" dirty="0"/>
              <a:t>assume a specific attention rule. </a:t>
            </a:r>
            <a:r>
              <a:rPr lang="en-US" sz="1900" b="1" u="sng" dirty="0">
                <a:solidFill>
                  <a:srgbClr val="FF0000"/>
                </a:solidFill>
              </a:rPr>
              <a:t>Notice the approach does not use any weights! </a:t>
            </a:r>
            <a:r>
              <a:rPr lang="en-US" sz="1900" dirty="0">
                <a:solidFill>
                  <a:schemeClr val="tx1"/>
                </a:solidFill>
              </a:rPr>
              <a:t>The network cannot ‘learn’ how it should decide which tokens to attend to in a context.  </a:t>
            </a:r>
          </a:p>
          <a:p>
            <a:pPr marL="347663" lvl="1" indent="-236600" algn="l" rtl="0">
              <a:lnSpc>
                <a:spcPct val="90000"/>
              </a:lnSpc>
              <a:spcBef>
                <a:spcPts val="500"/>
              </a:spcBef>
              <a:spcAft>
                <a:spcPts val="0"/>
              </a:spcAft>
              <a:buClr>
                <a:schemeClr val="dk1"/>
              </a:buClr>
              <a:buSzPct val="100000"/>
              <a:buChar char="•"/>
            </a:pPr>
            <a:r>
              <a:rPr lang="en-US" sz="1900" dirty="0"/>
              <a:t>We get context-specific attention weights, but the notion of how context is processed is pre-defined / hard-coded in the dot-product-summation procedure; there is no way to ‘adjust’ or ’adapt’ this attention rule.</a:t>
            </a:r>
          </a:p>
          <a:p>
            <a:pPr marL="347663" lvl="1" indent="-236600" algn="l" rtl="0">
              <a:lnSpc>
                <a:spcPct val="90000"/>
              </a:lnSpc>
              <a:spcBef>
                <a:spcPts val="500"/>
              </a:spcBef>
              <a:spcAft>
                <a:spcPts val="0"/>
              </a:spcAft>
              <a:buClr>
                <a:schemeClr val="dk1"/>
              </a:buClr>
              <a:buSzPct val="100000"/>
              <a:buChar char="•"/>
            </a:pPr>
            <a:r>
              <a:rPr lang="en-US" sz="1900" dirty="0"/>
              <a:t>This pre-defined approach to attention also might not generalize well outside of language. The pre-defined approach to attention assumes that shared semantic similarity is the best heuristic for attention, but perhaps it is not in some cases. Most obviously, perhaps in some scenarios it is ideal to focus attention on words that are semantically </a:t>
            </a:r>
            <a:r>
              <a:rPr lang="en-US" sz="1900" i="1" dirty="0"/>
              <a:t>dissimilar</a:t>
            </a:r>
            <a:r>
              <a:rPr lang="en-US" sz="1900" dirty="0"/>
              <a:t>. </a:t>
            </a:r>
          </a:p>
          <a:p>
            <a:pPr marL="347663" lvl="1" indent="-236600" algn="l" rtl="0">
              <a:lnSpc>
                <a:spcPct val="90000"/>
              </a:lnSpc>
              <a:spcBef>
                <a:spcPts val="500"/>
              </a:spcBef>
              <a:spcAft>
                <a:spcPts val="0"/>
              </a:spcAft>
              <a:buClr>
                <a:schemeClr val="dk1"/>
              </a:buClr>
              <a:buSzPct val="100000"/>
              <a:buChar char="•"/>
            </a:pPr>
            <a:r>
              <a:rPr lang="en-US" sz="1900" dirty="0"/>
              <a:t>How can we enable a procedure of this sort, but injecting trainable parameters, so the network can figure out an optimal attention rule during training? </a:t>
            </a:r>
          </a:p>
        </p:txBody>
      </p:sp>
      <p:sp>
        <p:nvSpPr>
          <p:cNvPr id="9" name="Google Shape;123;p4">
            <a:extLst>
              <a:ext uri="{FF2B5EF4-FFF2-40B4-BE49-F238E27FC236}">
                <a16:creationId xmlns:a16="http://schemas.microsoft.com/office/drawing/2014/main" id="{B0387FC0-9F77-878B-4A9B-8A6A41BBB477}"/>
              </a:ext>
            </a:extLst>
          </p:cNvPr>
          <p:cNvSpPr txBox="1">
            <a:spLocks/>
          </p:cNvSpPr>
          <p:nvPr/>
        </p:nvSpPr>
        <p:spPr>
          <a:xfrm>
            <a:off x="1881666" y="465055"/>
            <a:ext cx="8428665" cy="1325563"/>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18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buSzPts val="4923"/>
              <a:buFont typeface="Economica"/>
              <a:buNone/>
            </a:pPr>
            <a:r>
              <a:rPr lang="en-US" sz="4923" dirty="0">
                <a:latin typeface="Economica"/>
                <a:sym typeface="Economica"/>
              </a:rPr>
              <a:t>This Attention Mechanism is ‘Rigid’</a:t>
            </a:r>
            <a:endParaRPr lang="en-US" dirty="0"/>
          </a:p>
        </p:txBody>
      </p:sp>
    </p:spTree>
    <p:extLst>
      <p:ext uri="{BB962C8B-B14F-4D97-AF65-F5344CB8AC3E}">
        <p14:creationId xmlns:p14="http://schemas.microsoft.com/office/powerpoint/2010/main" val="16439805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4" name="Google Shape;123;p4">
            <a:extLst>
              <a:ext uri="{FF2B5EF4-FFF2-40B4-BE49-F238E27FC236}">
                <a16:creationId xmlns:a16="http://schemas.microsoft.com/office/drawing/2014/main" id="{8F7DC805-AE9C-7D60-E41F-123D683B043D}"/>
              </a:ext>
            </a:extLst>
          </p:cNvPr>
          <p:cNvSpPr txBox="1">
            <a:spLocks noGrp="1"/>
          </p:cNvSpPr>
          <p:nvPr>
            <p:ph type="title"/>
          </p:nvPr>
        </p:nvSpPr>
        <p:spPr>
          <a:xfrm>
            <a:off x="838200" y="376414"/>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Query Key Value Framework</a:t>
            </a:r>
            <a:endParaRPr dirty="0"/>
          </a:p>
        </p:txBody>
      </p:sp>
      <p:pic>
        <p:nvPicPr>
          <p:cNvPr id="2" name="Picture 1">
            <a:extLst>
              <a:ext uri="{FF2B5EF4-FFF2-40B4-BE49-F238E27FC236}">
                <a16:creationId xmlns:a16="http://schemas.microsoft.com/office/drawing/2014/main" id="{0361D5D4-BA99-2759-E83D-10F6C5CF87D9}"/>
              </a:ext>
            </a:extLst>
          </p:cNvPr>
          <p:cNvPicPr>
            <a:picLocks noChangeAspect="1"/>
          </p:cNvPicPr>
          <p:nvPr/>
        </p:nvPicPr>
        <p:blipFill rotWithShape="1">
          <a:blip r:embed="rId3"/>
          <a:srcRect l="37445" t="46488" r="37692" b="23181"/>
          <a:stretch/>
        </p:blipFill>
        <p:spPr>
          <a:xfrm>
            <a:off x="2049161" y="5021326"/>
            <a:ext cx="2008682" cy="1738859"/>
          </a:xfrm>
          <a:prstGeom prst="rect">
            <a:avLst/>
          </a:prstGeom>
        </p:spPr>
      </p:pic>
      <p:pic>
        <p:nvPicPr>
          <p:cNvPr id="7" name="Picture 6">
            <a:extLst>
              <a:ext uri="{FF2B5EF4-FFF2-40B4-BE49-F238E27FC236}">
                <a16:creationId xmlns:a16="http://schemas.microsoft.com/office/drawing/2014/main" id="{E4D9943A-454A-BDEA-ACED-8CD682BA750B}"/>
              </a:ext>
            </a:extLst>
          </p:cNvPr>
          <p:cNvPicPr>
            <a:picLocks noChangeAspect="1"/>
          </p:cNvPicPr>
          <p:nvPr/>
        </p:nvPicPr>
        <p:blipFill rotWithShape="1">
          <a:blip r:embed="rId4"/>
          <a:srcRect t="11257"/>
          <a:stretch/>
        </p:blipFill>
        <p:spPr>
          <a:xfrm>
            <a:off x="5102989" y="2195883"/>
            <a:ext cx="6547374" cy="4122889"/>
          </a:xfrm>
          <a:prstGeom prst="rect">
            <a:avLst/>
          </a:prstGeom>
        </p:spPr>
      </p:pic>
      <p:sp>
        <p:nvSpPr>
          <p:cNvPr id="3" name="Google Shape;124;p4">
            <a:extLst>
              <a:ext uri="{FF2B5EF4-FFF2-40B4-BE49-F238E27FC236}">
                <a16:creationId xmlns:a16="http://schemas.microsoft.com/office/drawing/2014/main" id="{CB4F68F1-9F46-DA95-F85F-5BCC5164EFA3}"/>
              </a:ext>
            </a:extLst>
          </p:cNvPr>
          <p:cNvSpPr txBox="1">
            <a:spLocks noGrp="1"/>
          </p:cNvSpPr>
          <p:nvPr>
            <p:ph type="body" idx="1"/>
          </p:nvPr>
        </p:nvSpPr>
        <p:spPr>
          <a:xfrm>
            <a:off x="343930" y="1850070"/>
            <a:ext cx="10677939" cy="4040686"/>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ct val="100000"/>
              <a:buNone/>
            </a:pPr>
            <a:r>
              <a:rPr lang="en-US" sz="2200" b="1" dirty="0"/>
              <a:t>We Add Some Weight Matrices!</a:t>
            </a:r>
            <a:endParaRPr dirty="0"/>
          </a:p>
          <a:p>
            <a:pPr marL="347663" lvl="1" indent="-236600" algn="l" rtl="0">
              <a:lnSpc>
                <a:spcPct val="90000"/>
              </a:lnSpc>
              <a:spcBef>
                <a:spcPts val="500"/>
              </a:spcBef>
              <a:spcAft>
                <a:spcPts val="0"/>
              </a:spcAft>
              <a:buClr>
                <a:schemeClr val="dk1"/>
              </a:buClr>
              <a:buSzPct val="100000"/>
              <a:buChar char="•"/>
            </a:pPr>
            <a:r>
              <a:rPr lang="en-US" sz="1900" dirty="0"/>
              <a:t>We begin by taking an input embedding </a:t>
            </a:r>
            <a:br>
              <a:rPr lang="en-US" sz="1900" dirty="0"/>
            </a:br>
            <a:r>
              <a:rPr lang="en-US" sz="1900" dirty="0"/>
              <a:t>(e.g., a word embedding) and we multiply </a:t>
            </a:r>
            <a:br>
              <a:rPr lang="en-US" sz="1900" dirty="0"/>
            </a:br>
            <a:r>
              <a:rPr lang="en-US" sz="1900" dirty="0"/>
              <a:t>it by a matrix of randomly initialized </a:t>
            </a:r>
            <a:br>
              <a:rPr lang="en-US" sz="1900" dirty="0"/>
            </a:br>
            <a:r>
              <a:rPr lang="en-US" sz="1900" dirty="0"/>
              <a:t>(but refined in training) weights. </a:t>
            </a:r>
          </a:p>
          <a:p>
            <a:pPr marL="347663" lvl="1" indent="-236600" algn="l" rtl="0">
              <a:lnSpc>
                <a:spcPct val="90000"/>
              </a:lnSpc>
              <a:spcBef>
                <a:spcPts val="500"/>
              </a:spcBef>
              <a:spcAft>
                <a:spcPts val="0"/>
              </a:spcAft>
              <a:buClr>
                <a:schemeClr val="dk1"/>
              </a:buClr>
              <a:buSzPct val="100000"/>
              <a:buChar char="•"/>
            </a:pPr>
            <a:r>
              <a:rPr lang="en-US" sz="1900" dirty="0"/>
              <a:t>The NN can learn how to ‘pre-transform’ </a:t>
            </a:r>
            <a:br>
              <a:rPr lang="en-US" sz="1900" dirty="0"/>
            </a:br>
            <a:r>
              <a:rPr lang="en-US" sz="1900" dirty="0"/>
              <a:t>the embeddings, thereby modifying </a:t>
            </a:r>
            <a:br>
              <a:rPr lang="en-US" sz="1900" dirty="0"/>
            </a:br>
            <a:r>
              <a:rPr lang="en-US" sz="1900" dirty="0"/>
              <a:t>the overall attention rule. </a:t>
            </a:r>
          </a:p>
          <a:p>
            <a:pPr marL="347663" lvl="1" indent="-236600" algn="l" rtl="0">
              <a:lnSpc>
                <a:spcPct val="90000"/>
              </a:lnSpc>
              <a:spcBef>
                <a:spcPts val="500"/>
              </a:spcBef>
              <a:spcAft>
                <a:spcPts val="0"/>
              </a:spcAft>
              <a:buClr>
                <a:schemeClr val="dk1"/>
              </a:buClr>
              <a:buSzPct val="100000"/>
              <a:buChar char="•"/>
            </a:pPr>
            <a:r>
              <a:rPr lang="en-US" sz="1900" dirty="0"/>
              <a:t>We learn to project the embedding</a:t>
            </a:r>
            <a:br>
              <a:rPr lang="en-US" sz="1900" dirty="0"/>
            </a:br>
            <a:r>
              <a:rPr lang="en-US" sz="1900" dirty="0"/>
              <a:t>into a ‘new latent space’ before </a:t>
            </a:r>
            <a:br>
              <a:rPr lang="en-US" sz="1900" dirty="0"/>
            </a:br>
            <a:r>
              <a:rPr lang="en-US" sz="1900" dirty="0"/>
              <a:t>doing our dot product comparisons, etc.</a:t>
            </a:r>
          </a:p>
          <a:p>
            <a:pPr marL="347663" lvl="1" indent="-236600" algn="l" rtl="0">
              <a:lnSpc>
                <a:spcPct val="90000"/>
              </a:lnSpc>
              <a:spcBef>
                <a:spcPts val="500"/>
              </a:spcBef>
              <a:spcAft>
                <a:spcPts val="0"/>
              </a:spcAft>
              <a:buClr>
                <a:schemeClr val="dk1"/>
              </a:buClr>
              <a:buSzPct val="100000"/>
              <a:buChar char="•"/>
            </a:pPr>
            <a:endParaRPr sz="2462" dirty="0"/>
          </a:p>
        </p:txBody>
      </p:sp>
    </p:spTree>
    <p:extLst>
      <p:ext uri="{BB962C8B-B14F-4D97-AF65-F5344CB8AC3E}">
        <p14:creationId xmlns:p14="http://schemas.microsoft.com/office/powerpoint/2010/main" val="24874845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4" name="Google Shape;123;p4">
            <a:extLst>
              <a:ext uri="{FF2B5EF4-FFF2-40B4-BE49-F238E27FC236}">
                <a16:creationId xmlns:a16="http://schemas.microsoft.com/office/drawing/2014/main" id="{8F7DC805-AE9C-7D60-E41F-123D683B043D}"/>
              </a:ext>
            </a:extLst>
          </p:cNvPr>
          <p:cNvSpPr txBox="1">
            <a:spLocks noGrp="1"/>
          </p:cNvSpPr>
          <p:nvPr>
            <p:ph type="title"/>
          </p:nvPr>
        </p:nvSpPr>
        <p:spPr>
          <a:xfrm>
            <a:off x="838200" y="376414"/>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‘Scaled’ Dot Product</a:t>
            </a:r>
            <a:endParaRPr dirty="0"/>
          </a:p>
        </p:txBody>
      </p:sp>
      <p:pic>
        <p:nvPicPr>
          <p:cNvPr id="12290" name="Picture 2">
            <a:extLst>
              <a:ext uri="{FF2B5EF4-FFF2-40B4-BE49-F238E27FC236}">
                <a16:creationId xmlns:a16="http://schemas.microsoft.com/office/drawing/2014/main" id="{E96BB117-1FA8-C441-4E81-9A9F3682CB4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21287" y="4614496"/>
            <a:ext cx="5749426" cy="1325562"/>
          </a:xfrm>
          <a:prstGeom prst="rect">
            <a:avLst/>
          </a:prstGeom>
          <a:noFill/>
          <a:extLst>
            <a:ext uri="{909E8E84-426E-40DD-AFC4-6F175D3DCCD1}">
              <a14:hiddenFill xmlns:a14="http://schemas.microsoft.com/office/drawing/2010/main">
                <a:solidFill>
                  <a:srgbClr val="FFFFFF"/>
                </a:solidFill>
              </a14:hiddenFill>
            </a:ext>
          </a:extLst>
        </p:spPr>
      </p:pic>
      <p:sp>
        <p:nvSpPr>
          <p:cNvPr id="6" name="Google Shape;195;p16">
            <a:extLst>
              <a:ext uri="{FF2B5EF4-FFF2-40B4-BE49-F238E27FC236}">
                <a16:creationId xmlns:a16="http://schemas.microsoft.com/office/drawing/2014/main" id="{2473FC97-2382-7BE9-7A91-4C3DD11F34E7}"/>
              </a:ext>
            </a:extLst>
          </p:cNvPr>
          <p:cNvSpPr txBox="1"/>
          <p:nvPr/>
        </p:nvSpPr>
        <p:spPr>
          <a:xfrm>
            <a:off x="772620" y="1880984"/>
            <a:ext cx="10093751" cy="255450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Scaled Dot-Product Attention…</a:t>
            </a:r>
            <a:endParaRPr sz="2000" dirty="0">
              <a:solidFill>
                <a:schemeClr val="dk1"/>
              </a:solidFill>
              <a:latin typeface="Quicksand"/>
              <a:ea typeface="Quicksand"/>
              <a:cs typeface="Quicksand"/>
              <a:sym typeface="Quicksand"/>
            </a:endParaRPr>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Quicksand"/>
                <a:sym typeface="Quicksand"/>
              </a:rPr>
              <a:t>One other nuance is that we scale the </a:t>
            </a:r>
            <a:r>
              <a:rPr lang="en-US" sz="2000" dirty="0" err="1">
                <a:solidFill>
                  <a:schemeClr val="dk1"/>
                </a:solidFill>
                <a:latin typeface="Quicksand"/>
                <a:sym typeface="Quicksand"/>
              </a:rPr>
              <a:t>Softmax</a:t>
            </a:r>
            <a:r>
              <a:rPr lang="en-US" sz="2000" dirty="0">
                <a:solidFill>
                  <a:schemeClr val="dk1"/>
                </a:solidFill>
                <a:latin typeface="Quicksand"/>
                <a:sym typeface="Quicksand"/>
              </a:rPr>
              <a:t> input. </a:t>
            </a:r>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Quicksand"/>
                <a:sym typeface="Quicksand"/>
              </a:rPr>
              <a:t>This is done to prevent the dot products from getting too big, which can cause the output of </a:t>
            </a:r>
            <a:r>
              <a:rPr lang="en-US" sz="2000" dirty="0" err="1">
                <a:solidFill>
                  <a:schemeClr val="dk1"/>
                </a:solidFill>
                <a:latin typeface="Quicksand"/>
                <a:sym typeface="Quicksand"/>
              </a:rPr>
              <a:t>softmax</a:t>
            </a:r>
            <a:r>
              <a:rPr lang="en-US" sz="2000" dirty="0">
                <a:solidFill>
                  <a:schemeClr val="dk1"/>
                </a:solidFill>
                <a:latin typeface="Quicksand"/>
                <a:sym typeface="Quicksand"/>
              </a:rPr>
              <a:t> to tend toward 1 or 0 and lead to vanishing gradient issues. </a:t>
            </a:r>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Quicksand"/>
                <a:sym typeface="Quicksand"/>
              </a:rPr>
              <a:t>sqrt(d</a:t>
            </a:r>
            <a:r>
              <a:rPr lang="en-US" sz="2000" baseline="-25000" dirty="0">
                <a:solidFill>
                  <a:schemeClr val="dk1"/>
                </a:solidFill>
                <a:latin typeface="Quicksand"/>
                <a:sym typeface="Quicksand"/>
              </a:rPr>
              <a:t>k</a:t>
            </a:r>
            <a:r>
              <a:rPr lang="en-US" sz="2000" dirty="0">
                <a:solidFill>
                  <a:schemeClr val="dk1"/>
                </a:solidFill>
                <a:latin typeface="Quicksand"/>
                <a:sym typeface="Quicksand"/>
              </a:rPr>
              <a:t>) is the square root of the dimensionality of the input key embeddings (in the original paper, this was the same as the dimension of the word embeddings). </a:t>
            </a:r>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Quicksand"/>
                <a:sym typeface="Quicksand"/>
              </a:rPr>
              <a:t>We write this in big-letter notation because we can parallelize everything as tensor calculations. </a:t>
            </a:r>
          </a:p>
        </p:txBody>
      </p:sp>
    </p:spTree>
    <p:extLst>
      <p:ext uri="{BB962C8B-B14F-4D97-AF65-F5344CB8AC3E}">
        <p14:creationId xmlns:p14="http://schemas.microsoft.com/office/powerpoint/2010/main" val="33674780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C33A83C9-D382-C69B-7D07-C5926BB5F87A}"/>
            </a:ext>
          </a:extLst>
        </p:cNvPr>
        <p:cNvGrpSpPr/>
        <p:nvPr/>
      </p:nvGrpSpPr>
      <p:grpSpPr>
        <a:xfrm>
          <a:off x="0" y="0"/>
          <a:ext cx="0" cy="0"/>
          <a:chOff x="0" y="0"/>
          <a:chExt cx="0" cy="0"/>
        </a:xfrm>
      </p:grpSpPr>
      <p:sp>
        <p:nvSpPr>
          <p:cNvPr id="4" name="Google Shape;123;p4">
            <a:extLst>
              <a:ext uri="{FF2B5EF4-FFF2-40B4-BE49-F238E27FC236}">
                <a16:creationId xmlns:a16="http://schemas.microsoft.com/office/drawing/2014/main" id="{D7029555-272B-159B-9031-0E2B1777C539}"/>
              </a:ext>
            </a:extLst>
          </p:cNvPr>
          <p:cNvSpPr txBox="1">
            <a:spLocks noGrp="1"/>
          </p:cNvSpPr>
          <p:nvPr>
            <p:ph type="title"/>
          </p:nvPr>
        </p:nvSpPr>
        <p:spPr>
          <a:xfrm>
            <a:off x="838200" y="376414"/>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From Self-Attention to Cross-Attention</a:t>
            </a:r>
            <a:endParaRPr dirty="0"/>
          </a:p>
        </p:txBody>
      </p:sp>
      <p:sp>
        <p:nvSpPr>
          <p:cNvPr id="6" name="Google Shape;195;p16">
            <a:extLst>
              <a:ext uri="{FF2B5EF4-FFF2-40B4-BE49-F238E27FC236}">
                <a16:creationId xmlns:a16="http://schemas.microsoft.com/office/drawing/2014/main" id="{A71F228C-C384-FEA3-F31D-D6EBBFCC7248}"/>
              </a:ext>
            </a:extLst>
          </p:cNvPr>
          <p:cNvSpPr txBox="1"/>
          <p:nvPr/>
        </p:nvSpPr>
        <p:spPr>
          <a:xfrm>
            <a:off x="486355" y="1831557"/>
            <a:ext cx="10867445" cy="4524275"/>
          </a:xfrm>
          <a:prstGeom prst="rect">
            <a:avLst/>
          </a:prstGeom>
          <a:noFill/>
          <a:ln>
            <a:noFill/>
          </a:ln>
        </p:spPr>
        <p:txBody>
          <a:bodyPr spcFirstLastPara="1" wrap="square" lIns="91425" tIns="45700" rIns="91425" bIns="45700" anchor="t" anchorCtr="0">
            <a:spAutoFit/>
          </a:bodyPr>
          <a:lstStyle/>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Quicksand"/>
                <a:sym typeface="Quicksand"/>
              </a:rPr>
              <a:t>We now have the freedom to learn attention </a:t>
            </a:r>
            <a:br>
              <a:rPr lang="en-US" sz="2000" dirty="0">
                <a:solidFill>
                  <a:schemeClr val="dk1"/>
                </a:solidFill>
                <a:latin typeface="Quicksand"/>
                <a:sym typeface="Quicksand"/>
              </a:rPr>
            </a:br>
            <a:r>
              <a:rPr lang="en-US" sz="2000" dirty="0">
                <a:solidFill>
                  <a:schemeClr val="dk1"/>
                </a:solidFill>
                <a:latin typeface="Quicksand"/>
                <a:sym typeface="Quicksand"/>
              </a:rPr>
              <a:t>scores for input in one modality of input </a:t>
            </a:r>
            <a:br>
              <a:rPr lang="en-US" sz="2000" dirty="0">
                <a:solidFill>
                  <a:schemeClr val="dk1"/>
                </a:solidFill>
                <a:latin typeface="Quicksand"/>
                <a:sym typeface="Quicksand"/>
              </a:rPr>
            </a:br>
            <a:r>
              <a:rPr lang="en-US" sz="2000" dirty="0">
                <a:solidFill>
                  <a:schemeClr val="dk1"/>
                </a:solidFill>
                <a:latin typeface="Quicksand"/>
                <a:sym typeface="Quicksand"/>
              </a:rPr>
              <a:t>data to inform what we do with input in </a:t>
            </a:r>
            <a:br>
              <a:rPr lang="en-US" sz="2000" dirty="0">
                <a:solidFill>
                  <a:schemeClr val="dk1"/>
                </a:solidFill>
                <a:latin typeface="Quicksand"/>
                <a:sym typeface="Quicksand"/>
              </a:rPr>
            </a:br>
            <a:r>
              <a:rPr lang="en-US" sz="2000" dirty="0">
                <a:solidFill>
                  <a:schemeClr val="dk1"/>
                </a:solidFill>
                <a:latin typeface="Quicksand"/>
                <a:sym typeface="Quicksand"/>
              </a:rPr>
              <a:t>another modality. The dot product might be </a:t>
            </a:r>
            <a:br>
              <a:rPr lang="en-US" sz="2000" dirty="0">
                <a:solidFill>
                  <a:schemeClr val="dk1"/>
                </a:solidFill>
                <a:latin typeface="Quicksand"/>
                <a:sym typeface="Quicksand"/>
              </a:rPr>
            </a:br>
            <a:r>
              <a:rPr lang="en-US" sz="2000" dirty="0">
                <a:solidFill>
                  <a:schemeClr val="dk1"/>
                </a:solidFill>
                <a:latin typeface="Quicksand"/>
                <a:sym typeface="Quicksand"/>
              </a:rPr>
              <a:t>applied to compare a word embedding </a:t>
            </a:r>
            <a:br>
              <a:rPr lang="en-US" sz="2000" dirty="0">
                <a:solidFill>
                  <a:schemeClr val="dk1"/>
                </a:solidFill>
                <a:latin typeface="Quicksand"/>
                <a:sym typeface="Quicksand"/>
              </a:rPr>
            </a:br>
            <a:r>
              <a:rPr lang="en-US" sz="2000" dirty="0">
                <a:solidFill>
                  <a:schemeClr val="dk1"/>
                </a:solidFill>
                <a:latin typeface="Quicksand"/>
                <a:sym typeface="Quicksand"/>
              </a:rPr>
              <a:t>against a set of other document or image </a:t>
            </a:r>
            <a:br>
              <a:rPr lang="en-US" sz="2000" dirty="0">
                <a:solidFill>
                  <a:schemeClr val="dk1"/>
                </a:solidFill>
                <a:latin typeface="Quicksand"/>
                <a:sym typeface="Quicksand"/>
              </a:rPr>
            </a:br>
            <a:r>
              <a:rPr lang="en-US" sz="2000" dirty="0">
                <a:solidFill>
                  <a:schemeClr val="dk1"/>
                </a:solidFill>
                <a:latin typeface="Quicksand"/>
                <a:sym typeface="Quicksand"/>
              </a:rPr>
              <a:t>embeddings (this is what modern Retrieval </a:t>
            </a:r>
            <a:br>
              <a:rPr lang="en-US" sz="2000" dirty="0">
                <a:solidFill>
                  <a:schemeClr val="dk1"/>
                </a:solidFill>
                <a:latin typeface="Quicksand"/>
                <a:sym typeface="Quicksand"/>
              </a:rPr>
            </a:br>
            <a:r>
              <a:rPr lang="en-US" sz="2000" dirty="0">
                <a:solidFill>
                  <a:schemeClr val="dk1"/>
                </a:solidFill>
                <a:latin typeface="Quicksand"/>
                <a:sym typeface="Quicksand"/>
              </a:rPr>
              <a:t>Augmented Generation does!)</a:t>
            </a:r>
          </a:p>
          <a:p>
            <a:pPr marL="342900" marR="0" lvl="0" indent="-342900" algn="l" rtl="0">
              <a:spcBef>
                <a:spcPts val="0"/>
              </a:spcBef>
              <a:spcAft>
                <a:spcPts val="0"/>
              </a:spcAft>
              <a:buClr>
                <a:schemeClr val="dk1"/>
              </a:buClr>
              <a:buSzPts val="2000"/>
              <a:buFont typeface="Arial"/>
              <a:buChar char="•"/>
            </a:pPr>
            <a:endParaRPr lang="en-US" sz="2000" dirty="0">
              <a:solidFill>
                <a:schemeClr val="dk1"/>
              </a:solidFill>
              <a:latin typeface="Quicksand"/>
              <a:sym typeface="Quicksand"/>
            </a:endParaRPr>
          </a:p>
          <a:p>
            <a:pPr>
              <a:buNone/>
            </a:pPr>
            <a:r>
              <a:rPr lang="en-US" sz="1800" b="1" dirty="0">
                <a:latin typeface="Quicksand" pitchFamily="2" charset="77"/>
              </a:rPr>
              <a:t>Example: Image Q&amp;A</a:t>
            </a:r>
            <a:br>
              <a:rPr lang="en-US" sz="1800" b="1" dirty="0">
                <a:latin typeface="Quicksand" pitchFamily="2" charset="77"/>
              </a:rPr>
            </a:br>
            <a:endParaRPr lang="en-US" sz="1800" dirty="0">
              <a:latin typeface="Quicksand" pitchFamily="2" charset="77"/>
            </a:endParaRPr>
          </a:p>
          <a:p>
            <a:pPr marL="285750" indent="-285750">
              <a:buFont typeface="Arial" panose="020B0604020202020204" pitchFamily="34" charset="0"/>
              <a:buChar char="•"/>
            </a:pPr>
            <a:r>
              <a:rPr lang="en-US" sz="1800" dirty="0">
                <a:latin typeface="Quicksand" pitchFamily="2" charset="77"/>
              </a:rPr>
              <a:t>You input an </a:t>
            </a:r>
            <a:r>
              <a:rPr lang="en-US" sz="1800" b="1" dirty="0">
                <a:latin typeface="Quicksand" pitchFamily="2" charset="77"/>
              </a:rPr>
              <a:t>image</a:t>
            </a:r>
            <a:r>
              <a:rPr lang="en-US" sz="1800" dirty="0">
                <a:latin typeface="Quicksand" pitchFamily="2" charset="77"/>
              </a:rPr>
              <a:t> (e.g., via a CNN or </a:t>
            </a:r>
            <a:r>
              <a:rPr lang="en-US" sz="1800" dirty="0" err="1">
                <a:latin typeface="Quicksand" pitchFamily="2" charset="77"/>
              </a:rPr>
              <a:t>ViT</a:t>
            </a:r>
            <a:r>
              <a:rPr lang="en-US" sz="1800" dirty="0">
                <a:latin typeface="Quicksand" pitchFamily="2" charset="77"/>
              </a:rPr>
              <a:t>),</a:t>
            </a:r>
            <a:br>
              <a:rPr lang="en-US" sz="1800" dirty="0">
                <a:latin typeface="Quicksand" pitchFamily="2" charset="77"/>
              </a:rPr>
            </a:br>
            <a:r>
              <a:rPr lang="en-US" sz="1800" dirty="0">
                <a:latin typeface="Quicksand" pitchFamily="2" charset="77"/>
              </a:rPr>
              <a:t>then input a </a:t>
            </a:r>
            <a:r>
              <a:rPr lang="en-US" sz="1800" b="1" dirty="0">
                <a:latin typeface="Quicksand" pitchFamily="2" charset="77"/>
              </a:rPr>
              <a:t>text prompt</a:t>
            </a:r>
            <a:r>
              <a:rPr lang="en-US" sz="1800" dirty="0">
                <a:latin typeface="Quicksand" pitchFamily="2" charset="77"/>
              </a:rPr>
              <a:t> (e.g., for captioning or VQA).</a:t>
            </a:r>
          </a:p>
          <a:p>
            <a:pPr marL="285750" indent="-285750">
              <a:buFont typeface="Arial" panose="020B0604020202020204" pitchFamily="34" charset="0"/>
              <a:buChar char="•"/>
            </a:pPr>
            <a:r>
              <a:rPr lang="en-US" sz="1800" dirty="0">
                <a:latin typeface="Quicksand" pitchFamily="2" charset="77"/>
              </a:rPr>
              <a:t>Use </a:t>
            </a:r>
            <a:r>
              <a:rPr lang="en-US" sz="1800" b="1" dirty="0">
                <a:latin typeface="Quicksand" pitchFamily="2" charset="77"/>
              </a:rPr>
              <a:t>cross-attention</a:t>
            </a:r>
            <a:r>
              <a:rPr lang="en-US" sz="1800" dirty="0">
                <a:latin typeface="Quicksand" pitchFamily="2" charset="77"/>
              </a:rPr>
              <a:t>: the text tokens query the image features to decide what visual content is relevant before producing the textual response.</a:t>
            </a:r>
          </a:p>
        </p:txBody>
      </p:sp>
      <p:pic>
        <p:nvPicPr>
          <p:cNvPr id="2" name="Picture 1">
            <a:extLst>
              <a:ext uri="{FF2B5EF4-FFF2-40B4-BE49-F238E27FC236}">
                <a16:creationId xmlns:a16="http://schemas.microsoft.com/office/drawing/2014/main" id="{FAA87F15-C2FA-F568-BFB4-268FDC483325}"/>
              </a:ext>
            </a:extLst>
          </p:cNvPr>
          <p:cNvPicPr>
            <a:picLocks noChangeAspect="1"/>
          </p:cNvPicPr>
          <p:nvPr/>
        </p:nvPicPr>
        <p:blipFill>
          <a:blip r:embed="rId3"/>
          <a:stretch>
            <a:fillRect/>
          </a:stretch>
        </p:blipFill>
        <p:spPr>
          <a:xfrm>
            <a:off x="6663888" y="1657405"/>
            <a:ext cx="5170005" cy="354319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1015733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6"/>
          <p:cNvSpPr txBox="1"/>
          <p:nvPr/>
        </p:nvSpPr>
        <p:spPr>
          <a:xfrm>
            <a:off x="1325629" y="570405"/>
            <a:ext cx="9540742" cy="83095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800" dirty="0">
                <a:solidFill>
                  <a:schemeClr val="dk1"/>
                </a:solidFill>
                <a:latin typeface="Economica"/>
                <a:ea typeface="Economica"/>
                <a:cs typeface="Economica"/>
                <a:sym typeface="Economica"/>
              </a:rPr>
              <a:t>Multi-Head Attention</a:t>
            </a:r>
            <a:endParaRPr sz="1200" dirty="0"/>
          </a:p>
        </p:txBody>
      </p:sp>
      <p:pic>
        <p:nvPicPr>
          <p:cNvPr id="2" name="Picture 1">
            <a:extLst>
              <a:ext uri="{FF2B5EF4-FFF2-40B4-BE49-F238E27FC236}">
                <a16:creationId xmlns:a16="http://schemas.microsoft.com/office/drawing/2014/main" id="{2723A3C1-ACFA-0A8A-2F91-5EC99F18349F}"/>
              </a:ext>
            </a:extLst>
          </p:cNvPr>
          <p:cNvPicPr>
            <a:picLocks noChangeAspect="1"/>
          </p:cNvPicPr>
          <p:nvPr/>
        </p:nvPicPr>
        <p:blipFill>
          <a:blip r:embed="rId3"/>
          <a:stretch>
            <a:fillRect/>
          </a:stretch>
        </p:blipFill>
        <p:spPr>
          <a:xfrm>
            <a:off x="5636301" y="2066826"/>
            <a:ext cx="6054777" cy="3663474"/>
          </a:xfrm>
          <a:prstGeom prst="rect">
            <a:avLst/>
          </a:prstGeom>
        </p:spPr>
      </p:pic>
      <p:sp>
        <p:nvSpPr>
          <p:cNvPr id="5" name="Google Shape;195;p16">
            <a:extLst>
              <a:ext uri="{FF2B5EF4-FFF2-40B4-BE49-F238E27FC236}">
                <a16:creationId xmlns:a16="http://schemas.microsoft.com/office/drawing/2014/main" id="{E54A93B6-066B-5420-E37C-DBEC00E6C50D}"/>
              </a:ext>
            </a:extLst>
          </p:cNvPr>
          <p:cNvSpPr txBox="1"/>
          <p:nvPr/>
        </p:nvSpPr>
        <p:spPr>
          <a:xfrm>
            <a:off x="786049" y="1851869"/>
            <a:ext cx="4490286" cy="378561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dirty="0">
                <a:solidFill>
                  <a:schemeClr val="dk1"/>
                </a:solidFill>
                <a:latin typeface="Quicksand"/>
                <a:ea typeface="Quicksand"/>
                <a:cs typeface="Quicksand"/>
                <a:sym typeface="Quicksand"/>
              </a:rPr>
              <a:t>We have Multiple ‘Heads’ </a:t>
            </a:r>
            <a:br>
              <a:rPr lang="en-US" sz="2000" b="1" dirty="0">
                <a:solidFill>
                  <a:schemeClr val="dk1"/>
                </a:solidFill>
                <a:latin typeface="Quicksand"/>
                <a:ea typeface="Quicksand"/>
                <a:cs typeface="Quicksand"/>
                <a:sym typeface="Quicksand"/>
              </a:rPr>
            </a:br>
            <a:r>
              <a:rPr lang="en-US" sz="2000" b="1" dirty="0">
                <a:solidFill>
                  <a:schemeClr val="dk1"/>
                </a:solidFill>
                <a:latin typeface="Quicksand"/>
                <a:ea typeface="Quicksand"/>
                <a:cs typeface="Quicksand"/>
                <a:sym typeface="Quicksand"/>
              </a:rPr>
              <a:t>Paying Attention in Different Ways </a:t>
            </a:r>
            <a:br>
              <a:rPr lang="en-US" sz="2000" b="1" dirty="0">
                <a:solidFill>
                  <a:schemeClr val="dk1"/>
                </a:solidFill>
                <a:latin typeface="Quicksand"/>
                <a:ea typeface="Quicksand"/>
                <a:cs typeface="Quicksand"/>
                <a:sym typeface="Quicksand"/>
              </a:rPr>
            </a:br>
            <a:endParaRPr sz="2000" dirty="0">
              <a:solidFill>
                <a:schemeClr val="dk1"/>
              </a:solidFill>
              <a:latin typeface="Quicksand"/>
              <a:ea typeface="Quicksand"/>
              <a:cs typeface="Quicksand"/>
              <a:sym typeface="Quicksand"/>
            </a:endParaRPr>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Quicksand"/>
                <a:ea typeface="Quicksand"/>
                <a:cs typeface="Quicksand"/>
                <a:sym typeface="Quicksand"/>
              </a:rPr>
              <a:t>Each head can be attending to something very different. </a:t>
            </a:r>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Quicksand"/>
                <a:sym typeface="Quicksand"/>
              </a:rPr>
              <a:t>By using multiple sets of query, key and value weight matrices, the network can learn to consider different combinations of input features. </a:t>
            </a:r>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Quicksand"/>
                <a:sym typeface="Quicksand"/>
              </a:rPr>
              <a:t>This lets it capture more complex patterns in the data.</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22">
          <a:extLst>
            <a:ext uri="{FF2B5EF4-FFF2-40B4-BE49-F238E27FC236}">
              <a16:creationId xmlns:a16="http://schemas.microsoft.com/office/drawing/2014/main" id="{CB653243-089F-F6C1-04D1-6418BB8C8277}"/>
            </a:ext>
          </a:extLst>
        </p:cNvPr>
        <p:cNvGrpSpPr/>
        <p:nvPr/>
      </p:nvGrpSpPr>
      <p:grpSpPr>
        <a:xfrm>
          <a:off x="0" y="0"/>
          <a:ext cx="0" cy="0"/>
          <a:chOff x="0" y="0"/>
          <a:chExt cx="0" cy="0"/>
        </a:xfrm>
      </p:grpSpPr>
      <p:sp>
        <p:nvSpPr>
          <p:cNvPr id="4" name="Google Shape;123;p4">
            <a:extLst>
              <a:ext uri="{FF2B5EF4-FFF2-40B4-BE49-F238E27FC236}">
                <a16:creationId xmlns:a16="http://schemas.microsoft.com/office/drawing/2014/main" id="{A5ED6CDB-CBFD-27B5-693C-8EAD5A177206}"/>
              </a:ext>
            </a:extLst>
          </p:cNvPr>
          <p:cNvSpPr txBox="1">
            <a:spLocks noGrp="1"/>
          </p:cNvSpPr>
          <p:nvPr>
            <p:ph type="title"/>
          </p:nvPr>
        </p:nvSpPr>
        <p:spPr>
          <a:xfrm>
            <a:off x="838200" y="376414"/>
            <a:ext cx="10515600" cy="1325563"/>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923"/>
              <a:buFont typeface="Economica"/>
              <a:buNone/>
            </a:pPr>
            <a:r>
              <a:rPr lang="en-US" sz="4923" dirty="0">
                <a:latin typeface="Economica"/>
                <a:ea typeface="Economica"/>
                <a:cs typeface="Economica"/>
                <a:sym typeface="Economica"/>
              </a:rPr>
              <a:t>Attention is Not Just for Text</a:t>
            </a:r>
            <a:endParaRPr dirty="0"/>
          </a:p>
        </p:txBody>
      </p:sp>
      <p:sp>
        <p:nvSpPr>
          <p:cNvPr id="6" name="Google Shape;195;p16">
            <a:extLst>
              <a:ext uri="{FF2B5EF4-FFF2-40B4-BE49-F238E27FC236}">
                <a16:creationId xmlns:a16="http://schemas.microsoft.com/office/drawing/2014/main" id="{53D1297A-53CF-1FE9-5713-6F8BA25DF95C}"/>
              </a:ext>
            </a:extLst>
          </p:cNvPr>
          <p:cNvSpPr txBox="1"/>
          <p:nvPr/>
        </p:nvSpPr>
        <p:spPr>
          <a:xfrm>
            <a:off x="772620" y="1615480"/>
            <a:ext cx="10581180" cy="3139281"/>
          </a:xfrm>
          <a:prstGeom prst="rect">
            <a:avLst/>
          </a:prstGeom>
          <a:noFill/>
          <a:ln>
            <a:noFill/>
          </a:ln>
        </p:spPr>
        <p:txBody>
          <a:bodyPr spcFirstLastPara="1" wrap="square" lIns="91425" tIns="45700" rIns="91425" bIns="45700" anchor="t" anchorCtr="0">
            <a:spAutoFit/>
          </a:bodyPr>
          <a:lstStyle/>
          <a:p>
            <a:pPr marR="0" lvl="0" algn="l" rtl="0">
              <a:spcBef>
                <a:spcPts val="0"/>
              </a:spcBef>
              <a:spcAft>
                <a:spcPts val="0"/>
              </a:spcAft>
              <a:buClr>
                <a:schemeClr val="dk1"/>
              </a:buClr>
              <a:buSzPts val="2000"/>
            </a:pPr>
            <a:r>
              <a:rPr lang="en-US" sz="1800" b="1" dirty="0">
                <a:solidFill>
                  <a:schemeClr val="dk1"/>
                </a:solidFill>
                <a:latin typeface="Quicksand" pitchFamily="2" charset="77"/>
                <a:sym typeface="Quicksand"/>
              </a:rPr>
              <a:t>Spatial Attention</a:t>
            </a:r>
          </a:p>
          <a:p>
            <a:pPr marR="0" lvl="0" algn="l" rtl="0">
              <a:spcBef>
                <a:spcPts val="0"/>
              </a:spcBef>
              <a:spcAft>
                <a:spcPts val="0"/>
              </a:spcAft>
              <a:buClr>
                <a:schemeClr val="dk1"/>
              </a:buClr>
              <a:buSzPts val="2000"/>
            </a:pPr>
            <a:endParaRPr lang="en-US" sz="1800" b="1" dirty="0">
              <a:solidFill>
                <a:schemeClr val="dk1"/>
              </a:solidFill>
              <a:latin typeface="Quicksand" pitchFamily="2" charset="77"/>
              <a:sym typeface="Quicksand"/>
            </a:endParaRPr>
          </a:p>
          <a:p>
            <a:pPr marR="0" lvl="0" algn="l" rtl="0">
              <a:spcBef>
                <a:spcPts val="0"/>
              </a:spcBef>
              <a:spcAft>
                <a:spcPts val="0"/>
              </a:spcAft>
              <a:buClr>
                <a:schemeClr val="dk1"/>
              </a:buClr>
              <a:buSzPts val="2000"/>
            </a:pPr>
            <a:r>
              <a:rPr lang="en-US" sz="1800" dirty="0">
                <a:solidFill>
                  <a:schemeClr val="dk1"/>
                </a:solidFill>
                <a:latin typeface="Quicksand" pitchFamily="2" charset="77"/>
                <a:sym typeface="Quicksand"/>
              </a:rPr>
              <a:t>We chunk images spatially and implement an attention mechanism to allow a model to decide which portions of the image it should focus on. </a:t>
            </a:r>
          </a:p>
          <a:p>
            <a:pPr marR="0" lvl="0" algn="l" rtl="0">
              <a:spcBef>
                <a:spcPts val="0"/>
              </a:spcBef>
              <a:spcAft>
                <a:spcPts val="0"/>
              </a:spcAft>
              <a:buClr>
                <a:schemeClr val="dk1"/>
              </a:buClr>
              <a:buSzPts val="2000"/>
            </a:pPr>
            <a:endParaRPr lang="en-US" sz="1800" dirty="0">
              <a:solidFill>
                <a:schemeClr val="dk1"/>
              </a:solidFill>
              <a:latin typeface="Quicksand" pitchFamily="2" charset="77"/>
              <a:sym typeface="Quicksand"/>
            </a:endParaRPr>
          </a:p>
          <a:p>
            <a:pPr marR="0" lvl="0" algn="l" rtl="0">
              <a:spcBef>
                <a:spcPts val="0"/>
              </a:spcBef>
              <a:spcAft>
                <a:spcPts val="0"/>
              </a:spcAft>
              <a:buClr>
                <a:schemeClr val="dk1"/>
              </a:buClr>
              <a:buSzPts val="2000"/>
            </a:pPr>
            <a:r>
              <a:rPr lang="en-US" sz="1800" b="1" dirty="0">
                <a:solidFill>
                  <a:schemeClr val="dk1"/>
                </a:solidFill>
                <a:latin typeface="Quicksand" pitchFamily="2" charset="77"/>
                <a:sym typeface="Quicksand"/>
              </a:rPr>
              <a:t>Channel Attention</a:t>
            </a:r>
          </a:p>
          <a:p>
            <a:pPr marR="0" lvl="0" algn="l" rtl="0">
              <a:spcBef>
                <a:spcPts val="0"/>
              </a:spcBef>
              <a:spcAft>
                <a:spcPts val="0"/>
              </a:spcAft>
              <a:buClr>
                <a:schemeClr val="dk1"/>
              </a:buClr>
              <a:buSzPts val="2000"/>
            </a:pPr>
            <a:endParaRPr lang="en-US" sz="1800" b="1" dirty="0">
              <a:solidFill>
                <a:schemeClr val="dk1"/>
              </a:solidFill>
              <a:latin typeface="Quicksand" pitchFamily="2" charset="77"/>
              <a:sym typeface="Quicksand"/>
            </a:endParaRPr>
          </a:p>
          <a:p>
            <a:pPr marR="0" lvl="0" algn="l" rtl="0">
              <a:spcBef>
                <a:spcPts val="0"/>
              </a:spcBef>
              <a:spcAft>
                <a:spcPts val="0"/>
              </a:spcAft>
              <a:buClr>
                <a:schemeClr val="dk1"/>
              </a:buClr>
              <a:buSzPts val="2000"/>
            </a:pPr>
            <a:r>
              <a:rPr lang="en-US" sz="1800" dirty="0">
                <a:solidFill>
                  <a:schemeClr val="dk1"/>
                </a:solidFill>
                <a:latin typeface="Quicksand" pitchFamily="2" charset="77"/>
                <a:sym typeface="Quicksand"/>
              </a:rPr>
              <a:t>We implement an attention mechanism that allows the model to decide which feature maps are important for a given prediction task. You could, e.g., flatten each feature map into a vector and treat it just like word embeddings are handled in the QKV framework. You can similarly take ‘patches’ of input (like we do in pooling layers) and decide which to attend to in the same way. </a:t>
            </a:r>
          </a:p>
        </p:txBody>
      </p:sp>
      <p:pic>
        <p:nvPicPr>
          <p:cNvPr id="1026" name="Picture 2" descr="Convolutional Block Attention Module layout">
            <a:extLst>
              <a:ext uri="{FF2B5EF4-FFF2-40B4-BE49-F238E27FC236}">
                <a16:creationId xmlns:a16="http://schemas.microsoft.com/office/drawing/2014/main" id="{665BF768-3F98-9D5B-6629-B1138CD924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47884" y="4875846"/>
            <a:ext cx="5896232" cy="1829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4317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17"/>
          <p:cNvSpPr txBox="1"/>
          <p:nvPr/>
        </p:nvSpPr>
        <p:spPr>
          <a:xfrm>
            <a:off x="1750621" y="2828835"/>
            <a:ext cx="8690758" cy="120032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7200"/>
              <a:buFont typeface="Arial"/>
              <a:buNone/>
            </a:pPr>
            <a:r>
              <a:rPr lang="en-US" sz="7200" b="0" i="0" u="none" strike="noStrike" cap="none">
                <a:solidFill>
                  <a:schemeClr val="dk1"/>
                </a:solidFill>
                <a:latin typeface="Economica"/>
                <a:ea typeface="Economica"/>
                <a:cs typeface="Economica"/>
                <a:sym typeface="Economica"/>
              </a:rPr>
              <a:t>Questions?</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941</TotalTime>
  <Words>2537</Words>
  <Application>Microsoft Macintosh PowerPoint</Application>
  <PresentationFormat>Widescreen</PresentationFormat>
  <Paragraphs>135</Paragraphs>
  <Slides>21</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Economica</vt:lpstr>
      <vt:lpstr>Arial</vt:lpstr>
      <vt:lpstr>Quicksand</vt:lpstr>
      <vt:lpstr>Calibri</vt:lpstr>
      <vt:lpstr>Office Theme</vt:lpstr>
      <vt:lpstr>PowerPoint Presentation</vt:lpstr>
      <vt:lpstr>PowerPoint Presentation</vt:lpstr>
      <vt:lpstr>TF-IDF is “Static Attention”</vt:lpstr>
      <vt:lpstr>What Would Adaptive  Weights Look Like?</vt:lpstr>
      <vt:lpstr>Where Attention Came From: Sequence-to-Sequence Models</vt:lpstr>
      <vt:lpstr>Struggling to Remember Long Sequences</vt:lpstr>
      <vt:lpstr>The First (RNN) Attention Model</vt:lpstr>
      <vt:lpstr>Bahdanau (2014) Attention</vt:lpstr>
      <vt:lpstr>The First (RNN) Attention Model</vt:lpstr>
      <vt:lpstr>We Don’t Need an RNN for This!</vt:lpstr>
      <vt:lpstr>A Simpler (Less-Flexible) Attention Mechanism</vt:lpstr>
      <vt:lpstr>A Simpler (Less-Flexible) Attention Mechanism</vt:lpstr>
      <vt:lpstr>A Simpler (Less Flexible) Attention Mechanism</vt:lpstr>
      <vt:lpstr>PowerPoint Presentation</vt:lpstr>
      <vt:lpstr>PowerPoint Presentation</vt:lpstr>
      <vt:lpstr>Query Key Value Framework</vt:lpstr>
      <vt:lpstr>‘Scaled’ Dot Product</vt:lpstr>
      <vt:lpstr>From Self-Attention to Cross-Attention</vt:lpstr>
      <vt:lpstr>PowerPoint Presentation</vt:lpstr>
      <vt:lpstr>Attention is Not Just for Text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Gordon Burtch</dc:creator>
  <cp:lastModifiedBy>Burtch, Gordon</cp:lastModifiedBy>
  <cp:revision>26</cp:revision>
  <dcterms:created xsi:type="dcterms:W3CDTF">2019-12-28T13:51:56Z</dcterms:created>
  <dcterms:modified xsi:type="dcterms:W3CDTF">2026-03-23T02:29:23Z</dcterms:modified>
</cp:coreProperties>
</file>