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6" r:id="rId2"/>
    <p:sldId id="369" r:id="rId5"/>
    <p:sldId id="401" r:id="rId6"/>
    <p:sldId id="402" r:id="rId7"/>
    <p:sldId id="403" r:id="rId8"/>
    <p:sldId id="404" r:id="rId9"/>
    <p:sldId id="405" r:id="rId10"/>
    <p:sldId id="406" r:id="rId11"/>
    <p:sldId id="407" r:id="rId12"/>
    <p:sldId id="408" r:id="rId13"/>
    <p:sldId id="409" r:id="rId14"/>
    <p:sldId id="411" r:id="rId15"/>
    <p:sldId id="415" r:id="rId16"/>
    <p:sldId id="416" r:id="rId17"/>
    <p:sldId id="41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a:srgbClr val="FBFBFB"/>
    <a:srgbClr val="FDFDFD"/>
    <a:srgbClr val="F9F9F9"/>
    <a:srgbClr val="F1F5F9"/>
    <a:srgbClr val="F2F5FA"/>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6712"/>
  </p:normalViewPr>
  <p:slideViewPr>
    <p:cSldViewPr snapToGrid="0" snapToObjects="1">
      <p:cViewPr varScale="1">
        <p:scale>
          <a:sx n="105" d="100"/>
          <a:sy n="105" d="100"/>
        </p:scale>
        <p:origin x="12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A659FB-0419-C24D-A6C0-9A1B475B1E65}" type="datetimeFigureOut">
              <a:rPr lang="en-US" smtClean="0"/>
              <a:t>10/14/25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07AF2C-A832-324A-A13C-3791A9476477}" type="slidenum">
              <a:rPr lang="en-US" smtClean="0"/>
              <a:t>‹#›</a:t>
            </a:fld>
            <a:endParaRPr lang="en-US"/>
          </a:p>
        </p:txBody>
      </p:sp>
    </p:spTree>
    <p:extLst>
      <p:ext uri="{BB962C8B-B14F-4D97-AF65-F5344CB8AC3E}">
        <p14:creationId xmlns:p14="http://schemas.microsoft.com/office/powerpoint/2010/main" val="181518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Similarity loss is also known as contrastive loss… it’s a loss function that is based on a function that compares the two embedding vectors, e.g., cosine distance, Euclidean distance, and takes labels that indicate whether the pair is positive (they should be close together) or negative (they should be at least some threshold, m, apart from one another. </a:t>
            </a:r>
          </a:p>
        </p:txBody>
      </p:sp>
      <p:sp>
        <p:nvSpPr>
          <p:cNvPr id="4" name="Slide Number Placeholder 3"/>
          <p:cNvSpPr>
            <a:spLocks noGrp="1"/>
          </p:cNvSpPr>
          <p:nvPr>
            <p:ph type="sldNum" sz="quarter" idx="5"/>
          </p:nvPr>
        </p:nvSpPr>
        <p:spPr/>
        <p:txBody>
          <a:bodyPr/>
          <a:lstStyle/>
          <a:p>
            <a:fld id="{E707AF2C-A832-324A-A13C-3791A9476477}" type="slidenum">
              <a:rPr lang="en-US" smtClean="0"/>
              <a:t>3</a:t>
            </a:fld>
            <a:endParaRPr lang="en-US"/>
          </a:p>
        </p:txBody>
      </p:sp>
    </p:spTree>
    <p:extLst>
      <p:ext uri="{BB962C8B-B14F-4D97-AF65-F5344CB8AC3E}">
        <p14:creationId xmlns:p14="http://schemas.microsoft.com/office/powerpoint/2010/main" val="2123700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10</a:t>
            </a:fld>
            <a:endParaRPr lang="en-US"/>
          </a:p>
        </p:txBody>
      </p:sp>
    </p:spTree>
    <p:extLst>
      <p:ext uri="{BB962C8B-B14F-4D97-AF65-F5344CB8AC3E}">
        <p14:creationId xmlns:p14="http://schemas.microsoft.com/office/powerpoint/2010/main" val="2456601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11</a:t>
            </a:fld>
            <a:endParaRPr lang="en-US"/>
          </a:p>
        </p:txBody>
      </p:sp>
    </p:spTree>
    <p:extLst>
      <p:ext uri="{BB962C8B-B14F-4D97-AF65-F5344CB8AC3E}">
        <p14:creationId xmlns:p14="http://schemas.microsoft.com/office/powerpoint/2010/main" val="3071426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12</a:t>
            </a:fld>
            <a:endParaRPr lang="en-US"/>
          </a:p>
        </p:txBody>
      </p:sp>
    </p:spTree>
    <p:extLst>
      <p:ext uri="{BB962C8B-B14F-4D97-AF65-F5344CB8AC3E}">
        <p14:creationId xmlns:p14="http://schemas.microsoft.com/office/powerpoint/2010/main" val="733296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13</a:t>
            </a:fld>
            <a:endParaRPr lang="en-US"/>
          </a:p>
        </p:txBody>
      </p:sp>
    </p:spTree>
    <p:extLst>
      <p:ext uri="{BB962C8B-B14F-4D97-AF65-F5344CB8AC3E}">
        <p14:creationId xmlns:p14="http://schemas.microsoft.com/office/powerpoint/2010/main" val="3214283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14</a:t>
            </a:fld>
            <a:endParaRPr lang="en-US"/>
          </a:p>
        </p:txBody>
      </p:sp>
    </p:spTree>
    <p:extLst>
      <p:ext uri="{BB962C8B-B14F-4D97-AF65-F5344CB8AC3E}">
        <p14:creationId xmlns:p14="http://schemas.microsoft.com/office/powerpoint/2010/main" val="1233669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15</a:t>
            </a:fld>
            <a:endParaRPr lang="en-US"/>
          </a:p>
        </p:txBody>
      </p:sp>
    </p:spTree>
    <p:extLst>
      <p:ext uri="{BB962C8B-B14F-4D97-AF65-F5344CB8AC3E}">
        <p14:creationId xmlns:p14="http://schemas.microsoft.com/office/powerpoint/2010/main" val="3938390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16</a:t>
            </a:fld>
            <a:endParaRPr lang="en-US"/>
          </a:p>
        </p:txBody>
      </p:sp>
    </p:spTree>
    <p:extLst>
      <p:ext uri="{BB962C8B-B14F-4D97-AF65-F5344CB8AC3E}">
        <p14:creationId xmlns:p14="http://schemas.microsoft.com/office/powerpoint/2010/main" val="4210640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not initialized until you “build” the model (or compile it, which will </a:t>
            </a:r>
            <a:r>
              <a:rPr lang="en-US"/>
              <a:t>first build). </a:t>
            </a:r>
          </a:p>
        </p:txBody>
      </p:sp>
      <p:sp>
        <p:nvSpPr>
          <p:cNvPr id="4" name="Slide Number Placeholder 3"/>
          <p:cNvSpPr>
            <a:spLocks noGrp="1"/>
          </p:cNvSpPr>
          <p:nvPr>
            <p:ph type="sldNum" sz="quarter" idx="5"/>
          </p:nvPr>
        </p:nvSpPr>
        <p:spPr/>
        <p:txBody>
          <a:bodyPr/>
          <a:lstStyle/>
          <a:p>
            <a:fld id="{E707AF2C-A832-324A-A13C-3791A9476477}" type="slidenum">
              <a:rPr lang="en-US" smtClean="0"/>
              <a:t>17</a:t>
            </a:fld>
            <a:endParaRPr lang="en-US"/>
          </a:p>
        </p:txBody>
      </p:sp>
    </p:spTree>
    <p:extLst>
      <p:ext uri="{BB962C8B-B14F-4D97-AF65-F5344CB8AC3E}">
        <p14:creationId xmlns:p14="http://schemas.microsoft.com/office/powerpoint/2010/main" val="1696002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58EB1-4315-0B45-BC48-6834F7A498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293AC9-FE44-6D4E-9E9B-DFF2BAE10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26815C1-30B0-FC43-A054-A32361208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92BD1-5BF6-D549-B796-A6913C4E0FE0}"/>
              </a:ext>
            </a:extLst>
          </p:cNvPr>
          <p:cNvSpPr>
            <a:spLocks noGrp="1"/>
          </p:cNvSpPr>
          <p:nvPr>
            <p:ph type="sldNum" sz="quarter" idx="12"/>
          </p:nvPr>
        </p:nvSpPr>
        <p:spPr/>
        <p:txBody>
          <a:bodyPr/>
          <a:lstStyle/>
          <a:p>
            <a:fld id="{5F85BDAF-76E7-5E4A-80A9-F732B06DC713}" type="slidenum">
              <a:rPr lang="en-US" smtClean="0"/>
              <a:t>‹#›</a:t>
            </a:fld>
            <a:endParaRPr lang="en-US"/>
          </a:p>
        </p:txBody>
      </p:sp>
      <p:sp>
        <p:nvSpPr>
          <p:cNvPr id="7" name="TextBox 6">
            <a:extLst>
              <a:ext uri="{FF2B5EF4-FFF2-40B4-BE49-F238E27FC236}">
                <a16:creationId xmlns:a16="http://schemas.microsoft.com/office/drawing/2014/main" id="{8B916AB2-FE7E-054B-A1E4-563D250382B5}"/>
              </a:ext>
            </a:extLst>
          </p:cNvPr>
          <p:cNvSpPr txBox="1"/>
          <p:nvPr userDrawn="1"/>
        </p:nvSpPr>
        <p:spPr>
          <a:xfrm>
            <a:off x="168440" y="6349018"/>
            <a:ext cx="1695083" cy="338554"/>
          </a:xfrm>
          <a:prstGeom prst="rect">
            <a:avLst/>
          </a:prstGeom>
          <a:noFill/>
        </p:spPr>
        <p:txBody>
          <a:bodyPr wrap="square" rtlCol="0">
            <a:spAutoFit/>
          </a:bodyPr>
          <a:lstStyle/>
          <a:p>
            <a:pPr algn="ctr"/>
            <a:r>
              <a:rPr lang="en-US" sz="1600" dirty="0">
                <a:latin typeface="Economica" panose="02000506040000020004" pitchFamily="2" charset="77"/>
              </a:rPr>
              <a:t>© Gordon Burtch, 2026</a:t>
            </a:r>
          </a:p>
        </p:txBody>
      </p:sp>
    </p:spTree>
    <p:extLst>
      <p:ext uri="{BB962C8B-B14F-4D97-AF65-F5344CB8AC3E}">
        <p14:creationId xmlns:p14="http://schemas.microsoft.com/office/powerpoint/2010/main" val="177999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3E46-908A-C04D-9981-8A3084417B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6089C4-435B-C74A-A233-FC3069A076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4D541-FAFD-8942-86AB-278DC2D9A8D5}"/>
              </a:ext>
            </a:extLst>
          </p:cNvPr>
          <p:cNvSpPr>
            <a:spLocks noGrp="1"/>
          </p:cNvSpPr>
          <p:nvPr>
            <p:ph type="dt" sz="half" idx="10"/>
          </p:nvPr>
        </p:nvSpPr>
        <p:spPr/>
        <p:txBody>
          <a:bodyPr/>
          <a:lstStyle/>
          <a:p>
            <a:fld id="{91871F70-41C7-F44D-9284-EB301E270CC7}" type="datetime1">
              <a:rPr lang="en-US" smtClean="0"/>
              <a:t>10/14/25</a:t>
            </a:fld>
            <a:endParaRPr lang="en-US"/>
          </a:p>
        </p:txBody>
      </p:sp>
      <p:sp>
        <p:nvSpPr>
          <p:cNvPr id="5" name="Footer Placeholder 4">
            <a:extLst>
              <a:ext uri="{FF2B5EF4-FFF2-40B4-BE49-F238E27FC236}">
                <a16:creationId xmlns:a16="http://schemas.microsoft.com/office/drawing/2014/main" id="{6F6AA10F-22F0-3349-A613-9AAA7D618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9A220-6975-B245-BB1A-A220197A105B}"/>
              </a:ext>
            </a:extLst>
          </p:cNvPr>
          <p:cNvSpPr>
            <a:spLocks noGrp="1"/>
          </p:cNvSpPr>
          <p:nvPr>
            <p:ph type="sldNum" sz="quarter" idx="12"/>
          </p:nvPr>
        </p:nvSpPr>
        <p:spPr/>
        <p:txBody>
          <a:bodyPr/>
          <a:lstStyle/>
          <a:p>
            <a:fld id="{5F85BDAF-76E7-5E4A-80A9-F732B06DC713}" type="slidenum">
              <a:rPr lang="en-US" smtClean="0"/>
              <a:t>‹#›</a:t>
            </a:fld>
            <a:endParaRPr lang="en-US"/>
          </a:p>
        </p:txBody>
      </p:sp>
      <p:sp>
        <p:nvSpPr>
          <p:cNvPr id="7" name="TextBox 6">
            <a:extLst>
              <a:ext uri="{FF2B5EF4-FFF2-40B4-BE49-F238E27FC236}">
                <a16:creationId xmlns:a16="http://schemas.microsoft.com/office/drawing/2014/main" id="{7D6162B0-E279-9541-8146-AD5BCEB90953}"/>
              </a:ext>
            </a:extLst>
          </p:cNvPr>
          <p:cNvSpPr txBox="1"/>
          <p:nvPr userDrawn="1"/>
        </p:nvSpPr>
        <p:spPr>
          <a:xfrm>
            <a:off x="168440" y="6349018"/>
            <a:ext cx="1695083" cy="338554"/>
          </a:xfrm>
          <a:prstGeom prst="rect">
            <a:avLst/>
          </a:prstGeom>
          <a:noFill/>
        </p:spPr>
        <p:txBody>
          <a:bodyPr wrap="square" rtlCol="0">
            <a:spAutoFit/>
          </a:bodyPr>
          <a:lstStyle/>
          <a:p>
            <a:pPr algn="ctr"/>
            <a:r>
              <a:rPr lang="en-US" sz="1600" dirty="0">
                <a:latin typeface="Economica" panose="02000506040000020004" pitchFamily="2" charset="77"/>
              </a:rPr>
              <a:t>© Gordon Burtch, 2026</a:t>
            </a:r>
          </a:p>
        </p:txBody>
      </p:sp>
    </p:spTree>
    <p:extLst>
      <p:ext uri="{BB962C8B-B14F-4D97-AF65-F5344CB8AC3E}">
        <p14:creationId xmlns:p14="http://schemas.microsoft.com/office/powerpoint/2010/main" val="214245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2A2A-922B-0346-B7EA-75D7B10DCF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95D8E8-28AA-D948-A636-339D3F2A01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A2ABFB-F394-B943-9456-37EA53A894EB}"/>
              </a:ext>
            </a:extLst>
          </p:cNvPr>
          <p:cNvSpPr>
            <a:spLocks noGrp="1"/>
          </p:cNvSpPr>
          <p:nvPr>
            <p:ph type="dt" sz="half" idx="10"/>
          </p:nvPr>
        </p:nvSpPr>
        <p:spPr/>
        <p:txBody>
          <a:bodyPr/>
          <a:lstStyle/>
          <a:p>
            <a:fld id="{E33F645A-02C2-AF41-9FDB-389E34E8B990}" type="datetime1">
              <a:rPr lang="en-US" smtClean="0"/>
              <a:t>10/14/25</a:t>
            </a:fld>
            <a:endParaRPr lang="en-US"/>
          </a:p>
        </p:txBody>
      </p:sp>
      <p:sp>
        <p:nvSpPr>
          <p:cNvPr id="5" name="Footer Placeholder 4">
            <a:extLst>
              <a:ext uri="{FF2B5EF4-FFF2-40B4-BE49-F238E27FC236}">
                <a16:creationId xmlns:a16="http://schemas.microsoft.com/office/drawing/2014/main" id="{C02C9EEB-C178-3D4E-B208-AD5046C8D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21868-B995-9742-85D5-45B98C9EC85A}"/>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44817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34BF-EFF7-0C4A-ACC3-61E8A7BF3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8BC29-A056-D841-BF2D-AB3FD80A8A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E858A7-1C7A-AA45-BB8D-392648E63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9F041C-0C80-0748-B32E-22CF1B3DBA36}"/>
              </a:ext>
            </a:extLst>
          </p:cNvPr>
          <p:cNvSpPr>
            <a:spLocks noGrp="1"/>
          </p:cNvSpPr>
          <p:nvPr>
            <p:ph type="dt" sz="half" idx="10"/>
          </p:nvPr>
        </p:nvSpPr>
        <p:spPr/>
        <p:txBody>
          <a:bodyPr/>
          <a:lstStyle/>
          <a:p>
            <a:fld id="{AB873A4C-DE8A-2F49-8ABE-1735EE515528}" type="datetime1">
              <a:rPr lang="en-US" smtClean="0"/>
              <a:t>10/14/25</a:t>
            </a:fld>
            <a:endParaRPr lang="en-US"/>
          </a:p>
        </p:txBody>
      </p:sp>
      <p:sp>
        <p:nvSpPr>
          <p:cNvPr id="6" name="Footer Placeholder 5">
            <a:extLst>
              <a:ext uri="{FF2B5EF4-FFF2-40B4-BE49-F238E27FC236}">
                <a16:creationId xmlns:a16="http://schemas.microsoft.com/office/drawing/2014/main" id="{92322579-B479-A844-9E52-D5FD9A1E4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C21B5-4359-4543-8FF3-3066A40C341E}"/>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43091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A9874-FD7D-2A4D-AEBD-677AE09D74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21CEBE-0E6C-7047-9C5C-4AA0A105DC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5909BD-DF02-CD4C-90A2-920DE5C2A4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726810-D033-9F43-B547-D777D29089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C29DDC-1456-3643-A06F-B75412DAAE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18370D-F984-7247-A9DD-3EA91612DDEF}"/>
              </a:ext>
            </a:extLst>
          </p:cNvPr>
          <p:cNvSpPr>
            <a:spLocks noGrp="1"/>
          </p:cNvSpPr>
          <p:nvPr>
            <p:ph type="dt" sz="half" idx="10"/>
          </p:nvPr>
        </p:nvSpPr>
        <p:spPr/>
        <p:txBody>
          <a:bodyPr/>
          <a:lstStyle/>
          <a:p>
            <a:fld id="{7DA13BA6-E929-9643-AF0C-C0B90BC6EAC0}" type="datetime1">
              <a:rPr lang="en-US" smtClean="0"/>
              <a:t>10/14/25</a:t>
            </a:fld>
            <a:endParaRPr lang="en-US"/>
          </a:p>
        </p:txBody>
      </p:sp>
      <p:sp>
        <p:nvSpPr>
          <p:cNvPr id="8" name="Footer Placeholder 7">
            <a:extLst>
              <a:ext uri="{FF2B5EF4-FFF2-40B4-BE49-F238E27FC236}">
                <a16:creationId xmlns:a16="http://schemas.microsoft.com/office/drawing/2014/main" id="{2DDE8A36-46FF-5F4B-BFC9-260F45EE21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285DF5-2269-4B42-8F8D-D3D350784389}"/>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751633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7EAE-0662-C14D-8647-164620F738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31AD01-E0D8-DA48-8558-4DB1DF379804}"/>
              </a:ext>
            </a:extLst>
          </p:cNvPr>
          <p:cNvSpPr>
            <a:spLocks noGrp="1"/>
          </p:cNvSpPr>
          <p:nvPr>
            <p:ph type="dt" sz="half" idx="10"/>
          </p:nvPr>
        </p:nvSpPr>
        <p:spPr/>
        <p:txBody>
          <a:bodyPr/>
          <a:lstStyle/>
          <a:p>
            <a:fld id="{1062371E-C5A0-7448-8CF8-A797D242C61D}" type="datetime1">
              <a:rPr lang="en-US" smtClean="0"/>
              <a:t>10/14/25</a:t>
            </a:fld>
            <a:endParaRPr lang="en-US"/>
          </a:p>
        </p:txBody>
      </p:sp>
      <p:sp>
        <p:nvSpPr>
          <p:cNvPr id="4" name="Footer Placeholder 3">
            <a:extLst>
              <a:ext uri="{FF2B5EF4-FFF2-40B4-BE49-F238E27FC236}">
                <a16:creationId xmlns:a16="http://schemas.microsoft.com/office/drawing/2014/main" id="{E3B3CB74-66EB-2E41-B429-DD059CC534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22CEDC-6830-A146-947E-074B58A7025B}"/>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175211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33039-B3F1-E74E-A3E9-B768C3091465}"/>
              </a:ext>
            </a:extLst>
          </p:cNvPr>
          <p:cNvSpPr>
            <a:spLocks noGrp="1"/>
          </p:cNvSpPr>
          <p:nvPr>
            <p:ph type="dt" sz="half" idx="10"/>
          </p:nvPr>
        </p:nvSpPr>
        <p:spPr/>
        <p:txBody>
          <a:bodyPr/>
          <a:lstStyle/>
          <a:p>
            <a:fld id="{33C9D714-59A4-C649-915B-E960BF4AC878}" type="datetime1">
              <a:rPr lang="en-US" smtClean="0"/>
              <a:t>10/14/25</a:t>
            </a:fld>
            <a:endParaRPr lang="en-US"/>
          </a:p>
        </p:txBody>
      </p:sp>
      <p:sp>
        <p:nvSpPr>
          <p:cNvPr id="3" name="Footer Placeholder 2">
            <a:extLst>
              <a:ext uri="{FF2B5EF4-FFF2-40B4-BE49-F238E27FC236}">
                <a16:creationId xmlns:a16="http://schemas.microsoft.com/office/drawing/2014/main" id="{3F780AF2-CA80-244F-BE35-6B5FF47AE3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9DB4EA-64DE-0D4F-BE60-622C9072E8CD}"/>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953315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A010-AEC3-5D4B-8BA4-6DB5AA5C0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650F6E-166D-394A-A4DF-0BF69EE7C5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0294C6-7668-514F-9ADF-59DD93528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F1B62-A79B-4F4F-9C11-251DDA4B15DF}"/>
              </a:ext>
            </a:extLst>
          </p:cNvPr>
          <p:cNvSpPr>
            <a:spLocks noGrp="1"/>
          </p:cNvSpPr>
          <p:nvPr>
            <p:ph type="dt" sz="half" idx="10"/>
          </p:nvPr>
        </p:nvSpPr>
        <p:spPr/>
        <p:txBody>
          <a:bodyPr/>
          <a:lstStyle/>
          <a:p>
            <a:fld id="{3951679C-160D-1F41-A3C3-54837256FB50}" type="datetime1">
              <a:rPr lang="en-US" smtClean="0"/>
              <a:t>10/14/25</a:t>
            </a:fld>
            <a:endParaRPr lang="en-US"/>
          </a:p>
        </p:txBody>
      </p:sp>
      <p:sp>
        <p:nvSpPr>
          <p:cNvPr id="6" name="Footer Placeholder 5">
            <a:extLst>
              <a:ext uri="{FF2B5EF4-FFF2-40B4-BE49-F238E27FC236}">
                <a16:creationId xmlns:a16="http://schemas.microsoft.com/office/drawing/2014/main" id="{D59C6139-119E-1243-8678-0D6DECFEE9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7D2BB8-C6D1-F34F-9734-96F70F3DB939}"/>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67893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4A61-1A2E-434A-9278-ACDA96E694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67D8D5-8B98-684D-9163-2D5DEB3D11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EBCCB4-2032-5B45-999F-A76892504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626A2A-6E59-394B-803A-59F399580C66}"/>
              </a:ext>
            </a:extLst>
          </p:cNvPr>
          <p:cNvSpPr>
            <a:spLocks noGrp="1"/>
          </p:cNvSpPr>
          <p:nvPr>
            <p:ph type="dt" sz="half" idx="10"/>
          </p:nvPr>
        </p:nvSpPr>
        <p:spPr/>
        <p:txBody>
          <a:bodyPr/>
          <a:lstStyle/>
          <a:p>
            <a:fld id="{296B5A14-0E14-114B-AA5F-546D4BF7B2DC}" type="datetime1">
              <a:rPr lang="en-US" smtClean="0"/>
              <a:t>10/14/25</a:t>
            </a:fld>
            <a:endParaRPr lang="en-US"/>
          </a:p>
        </p:txBody>
      </p:sp>
      <p:sp>
        <p:nvSpPr>
          <p:cNvPr id="6" name="Footer Placeholder 5">
            <a:extLst>
              <a:ext uri="{FF2B5EF4-FFF2-40B4-BE49-F238E27FC236}">
                <a16:creationId xmlns:a16="http://schemas.microsoft.com/office/drawing/2014/main" id="{39B1C336-1AE0-7045-BDF2-568A43D366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F2202E-F342-6842-99C7-956BB873C444}"/>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4256318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7417-9B7B-844A-B49C-CAAA2D59A1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D692F6-A4DE-C74C-8AE6-7C38A4A471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8ACD1C-1D19-5349-999A-B14395D03AF4}"/>
              </a:ext>
            </a:extLst>
          </p:cNvPr>
          <p:cNvSpPr>
            <a:spLocks noGrp="1"/>
          </p:cNvSpPr>
          <p:nvPr>
            <p:ph type="dt" sz="half" idx="10"/>
          </p:nvPr>
        </p:nvSpPr>
        <p:spPr/>
        <p:txBody>
          <a:bodyPr/>
          <a:lstStyle/>
          <a:p>
            <a:fld id="{87C2F797-6DFD-C74C-BA29-8B3CE1E6C725}" type="datetime1">
              <a:rPr lang="en-US" smtClean="0"/>
              <a:t>10/14/25</a:t>
            </a:fld>
            <a:endParaRPr lang="en-US"/>
          </a:p>
        </p:txBody>
      </p:sp>
      <p:sp>
        <p:nvSpPr>
          <p:cNvPr id="5" name="Footer Placeholder 4">
            <a:extLst>
              <a:ext uri="{FF2B5EF4-FFF2-40B4-BE49-F238E27FC236}">
                <a16:creationId xmlns:a16="http://schemas.microsoft.com/office/drawing/2014/main" id="{32BBBDE9-A684-5A47-B60C-F69910631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FE0AE-B20F-8B41-96B0-E5CBBC790ABC}"/>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3691049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A52D7A-39F3-0646-84E5-8D5969D778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ED3037-E8B5-F145-8A69-D2D1C03A01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482DFD-5D33-5144-BAFE-C0E9C2671842}"/>
              </a:ext>
            </a:extLst>
          </p:cNvPr>
          <p:cNvSpPr>
            <a:spLocks noGrp="1"/>
          </p:cNvSpPr>
          <p:nvPr>
            <p:ph type="dt" sz="half" idx="10"/>
          </p:nvPr>
        </p:nvSpPr>
        <p:spPr/>
        <p:txBody>
          <a:bodyPr/>
          <a:lstStyle/>
          <a:p>
            <a:fld id="{64FE1960-B74B-0949-9DEF-CBE661CB7825}" type="datetime1">
              <a:rPr lang="en-US" smtClean="0"/>
              <a:t>10/14/25</a:t>
            </a:fld>
            <a:endParaRPr lang="en-US"/>
          </a:p>
        </p:txBody>
      </p:sp>
      <p:sp>
        <p:nvSpPr>
          <p:cNvPr id="5" name="Footer Placeholder 4">
            <a:extLst>
              <a:ext uri="{FF2B5EF4-FFF2-40B4-BE49-F238E27FC236}">
                <a16:creationId xmlns:a16="http://schemas.microsoft.com/office/drawing/2014/main" id="{7C6AE351-4EF4-7F46-A9EB-2ED377652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4C3F3-83CA-0A4C-9768-CBD10E30D3C7}"/>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567448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042191-EF6B-3343-99DF-6B82683DE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E3975D-F94C-154E-84C0-8D927243E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62666-B677-AB4B-8949-CF467A4BA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75E9CF-B19A-3C42-99C1-DBC4AFBA0816}" type="datetime1">
              <a:rPr lang="en-US" smtClean="0"/>
              <a:t>10/14/25</a:t>
            </a:fld>
            <a:endParaRPr lang="en-US"/>
          </a:p>
        </p:txBody>
      </p:sp>
      <p:sp>
        <p:nvSpPr>
          <p:cNvPr id="5" name="Footer Placeholder 4">
            <a:extLst>
              <a:ext uri="{FF2B5EF4-FFF2-40B4-BE49-F238E27FC236}">
                <a16:creationId xmlns:a16="http://schemas.microsoft.com/office/drawing/2014/main" id="{85221357-DB2A-EA44-A099-F307BF6C7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E3B370-F7FF-B042-B96A-54615DF18D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85BDAF-76E7-5E4A-80A9-F732B06DC713}" type="slidenum">
              <a:rPr lang="en-US" smtClean="0"/>
              <a:t>‹#›</a:t>
            </a:fld>
            <a:endParaRPr lang="en-US"/>
          </a:p>
        </p:txBody>
      </p:sp>
    </p:spTree>
    <p:extLst>
      <p:ext uri="{BB962C8B-B14F-4D97-AF65-F5344CB8AC3E}">
        <p14:creationId xmlns:p14="http://schemas.microsoft.com/office/powerpoint/2010/main" val="2754881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C3165B02-2A88-DE4B-AC06-284B72A4B57B}"/>
              </a:ext>
            </a:extLst>
          </p:cNvPr>
          <p:cNvGrpSpPr/>
          <p:nvPr/>
        </p:nvGrpSpPr>
        <p:grpSpPr>
          <a:xfrm>
            <a:off x="2865521" y="1385048"/>
            <a:ext cx="6460957" cy="1657524"/>
            <a:chOff x="2971800" y="2588206"/>
            <a:chExt cx="6460957" cy="1657524"/>
          </a:xfrm>
        </p:grpSpPr>
        <p:sp>
          <p:nvSpPr>
            <p:cNvPr id="4" name="TextBox 3">
              <a:extLst>
                <a:ext uri="{FF2B5EF4-FFF2-40B4-BE49-F238E27FC236}">
                  <a16:creationId xmlns:a16="http://schemas.microsoft.com/office/drawing/2014/main" id="{2E4ACB90-5B23-AE45-9404-FED4FB5128EF}"/>
                </a:ext>
              </a:extLst>
            </p:cNvPr>
            <p:cNvSpPr txBox="1"/>
            <p:nvPr/>
          </p:nvSpPr>
          <p:spPr>
            <a:xfrm>
              <a:off x="2971800" y="2828835"/>
              <a:ext cx="6460957" cy="1200329"/>
            </a:xfrm>
            <a:prstGeom prst="rect">
              <a:avLst/>
            </a:prstGeom>
            <a:noFill/>
          </p:spPr>
          <p:txBody>
            <a:bodyPr wrap="square" rtlCol="0">
              <a:spAutoFit/>
            </a:bodyPr>
            <a:lstStyle/>
            <a:p>
              <a:pPr algn="ctr"/>
              <a:r>
                <a:rPr lang="en-US" sz="7200" dirty="0">
                  <a:latin typeface="Economica" panose="02000506040000020004" pitchFamily="2" charset="77"/>
                </a:rPr>
                <a:t>Functional API</a:t>
              </a:r>
            </a:p>
          </p:txBody>
        </p:sp>
        <p:grpSp>
          <p:nvGrpSpPr>
            <p:cNvPr id="10" name="Group 9">
              <a:extLst>
                <a:ext uri="{FF2B5EF4-FFF2-40B4-BE49-F238E27FC236}">
                  <a16:creationId xmlns:a16="http://schemas.microsoft.com/office/drawing/2014/main" id="{3F485ADF-3A53-0F48-9D99-408DA599988A}"/>
                </a:ext>
              </a:extLst>
            </p:cNvPr>
            <p:cNvGrpSpPr/>
            <p:nvPr/>
          </p:nvGrpSpPr>
          <p:grpSpPr>
            <a:xfrm>
              <a:off x="3164307" y="2588206"/>
              <a:ext cx="1213182" cy="661736"/>
              <a:chOff x="3132555" y="2419542"/>
              <a:chExt cx="1651279" cy="1070810"/>
            </a:xfrm>
          </p:grpSpPr>
          <p:cxnSp>
            <p:nvCxnSpPr>
              <p:cNvPr id="6" name="Straight Connector 5">
                <a:extLst>
                  <a:ext uri="{FF2B5EF4-FFF2-40B4-BE49-F238E27FC236}">
                    <a16:creationId xmlns:a16="http://schemas.microsoft.com/office/drawing/2014/main" id="{5E04A1CC-3A4A-E24E-AD6A-0C37C23D3269}"/>
                  </a:ext>
                </a:extLst>
              </p:cNvPr>
              <p:cNvCxnSpPr>
                <a:cxnSpLocks/>
              </p:cNvCxnSpPr>
              <p:nvPr/>
            </p:nvCxnSpPr>
            <p:spPr>
              <a:xfrm>
                <a:off x="3132555" y="2419542"/>
                <a:ext cx="165127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A87476A-5402-4B48-A8D1-6B591EC025DE}"/>
                  </a:ext>
                </a:extLst>
              </p:cNvPr>
              <p:cNvCxnSpPr>
                <a:cxnSpLocks/>
              </p:cNvCxnSpPr>
              <p:nvPr/>
            </p:nvCxnSpPr>
            <p:spPr>
              <a:xfrm flipV="1">
                <a:off x="3132555" y="2419542"/>
                <a:ext cx="0" cy="107081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857DA1FF-C51C-A44C-9239-89948FF3CEE3}"/>
                </a:ext>
              </a:extLst>
            </p:cNvPr>
            <p:cNvGrpSpPr/>
            <p:nvPr/>
          </p:nvGrpSpPr>
          <p:grpSpPr>
            <a:xfrm rot="10800000">
              <a:off x="8071184" y="3583994"/>
              <a:ext cx="1092868" cy="661736"/>
              <a:chOff x="3269088" y="2458482"/>
              <a:chExt cx="1388919" cy="1070810"/>
            </a:xfrm>
          </p:grpSpPr>
          <p:cxnSp>
            <p:nvCxnSpPr>
              <p:cNvPr id="12" name="Straight Connector 11">
                <a:extLst>
                  <a:ext uri="{FF2B5EF4-FFF2-40B4-BE49-F238E27FC236}">
                    <a16:creationId xmlns:a16="http://schemas.microsoft.com/office/drawing/2014/main" id="{93994943-A3ED-A942-B61B-40FE6939ABFE}"/>
                  </a:ext>
                </a:extLst>
              </p:cNvPr>
              <p:cNvCxnSpPr>
                <a:cxnSpLocks/>
              </p:cNvCxnSpPr>
              <p:nvPr/>
            </p:nvCxnSpPr>
            <p:spPr>
              <a:xfrm rot="10800000" flipH="1">
                <a:off x="3269088" y="2458484"/>
                <a:ext cx="138891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BEB4C39-2C94-F74D-8598-5A09DB056D8F}"/>
                  </a:ext>
                </a:extLst>
              </p:cNvPr>
              <p:cNvCxnSpPr>
                <a:cxnSpLocks/>
              </p:cNvCxnSpPr>
              <p:nvPr/>
            </p:nvCxnSpPr>
            <p:spPr>
              <a:xfrm flipV="1">
                <a:off x="3269088" y="2458482"/>
                <a:ext cx="0" cy="107081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88926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Quick Explanation / Syntax</a:t>
            </a:r>
          </a:p>
        </p:txBody>
      </p:sp>
      <p:sp>
        <p:nvSpPr>
          <p:cNvPr id="5" name="TextBox 4">
            <a:extLst>
              <a:ext uri="{FF2B5EF4-FFF2-40B4-BE49-F238E27FC236}">
                <a16:creationId xmlns:a16="http://schemas.microsoft.com/office/drawing/2014/main" id="{21B2E298-9F21-FF4E-96E1-1B758B6D7AC7}"/>
              </a:ext>
            </a:extLst>
          </p:cNvPr>
          <p:cNvSpPr txBox="1"/>
          <p:nvPr/>
        </p:nvSpPr>
        <p:spPr>
          <a:xfrm>
            <a:off x="890337" y="1940249"/>
            <a:ext cx="10016362" cy="1508105"/>
          </a:xfrm>
          <a:prstGeom prst="rect">
            <a:avLst/>
          </a:prstGeom>
          <a:noFill/>
        </p:spPr>
        <p:txBody>
          <a:bodyPr wrap="square" rtlCol="0">
            <a:spAutoFit/>
          </a:bodyPr>
          <a:lstStyle/>
          <a:p>
            <a:r>
              <a:rPr lang="en-US" sz="2000" b="1" dirty="0">
                <a:latin typeface="Quicksand" pitchFamily="2" charset="77"/>
              </a:rPr>
              <a:t>Functional vs. Sequential API (vs. Subclassing)</a:t>
            </a:r>
          </a:p>
          <a:p>
            <a:pPr marL="285750" indent="-285750">
              <a:buFont typeface="Arial" panose="020B0604020202020204" pitchFamily="34" charset="0"/>
              <a:buChar char="•"/>
            </a:pPr>
            <a:r>
              <a:rPr lang="en-US" dirty="0">
                <a:latin typeface="Quicksand" pitchFamily="2" charset="77"/>
              </a:rPr>
              <a:t>Creating </a:t>
            </a:r>
            <a:r>
              <a:rPr lang="en-US" dirty="0" err="1">
                <a:latin typeface="Quicksand" pitchFamily="2" charset="77"/>
              </a:rPr>
              <a:t>Keras</a:t>
            </a:r>
            <a:r>
              <a:rPr lang="en-US" dirty="0">
                <a:latin typeface="Quicksand" pitchFamily="2" charset="77"/>
              </a:rPr>
              <a:t> models with the Sequential class vs. the Functional API</a:t>
            </a:r>
          </a:p>
          <a:p>
            <a:pPr marL="285750" indent="-285750">
              <a:buFont typeface="Arial" panose="020B0604020202020204" pitchFamily="34" charset="0"/>
              <a:buChar char="•"/>
            </a:pPr>
            <a:r>
              <a:rPr lang="en-US" dirty="0">
                <a:latin typeface="Quicksand" pitchFamily="2" charset="77"/>
              </a:rPr>
              <a:t>Custom Loss functions</a:t>
            </a:r>
          </a:p>
          <a:p>
            <a:pPr marL="285750" indent="-285750">
              <a:buFont typeface="Arial" panose="020B0604020202020204" pitchFamily="34" charset="0"/>
              <a:buChar char="•"/>
            </a:pPr>
            <a:r>
              <a:rPr lang="en-US" dirty="0">
                <a:latin typeface="Quicksand" pitchFamily="2" charset="77"/>
              </a:rPr>
              <a:t>Using </a:t>
            </a:r>
            <a:r>
              <a:rPr lang="en-US" dirty="0" err="1">
                <a:latin typeface="Quicksand" pitchFamily="2" charset="77"/>
              </a:rPr>
              <a:t>TensorBoard</a:t>
            </a:r>
            <a:r>
              <a:rPr lang="en-US" dirty="0">
                <a:latin typeface="Quicksand" pitchFamily="2" charset="77"/>
              </a:rPr>
              <a:t> to monitor training and evaluation metrics</a:t>
            </a:r>
          </a:p>
          <a:p>
            <a:pPr marL="285750" indent="-285750">
              <a:buFont typeface="Arial" panose="020B0604020202020204" pitchFamily="34" charset="0"/>
              <a:buChar char="•"/>
            </a:pPr>
            <a:r>
              <a:rPr lang="en-US" dirty="0">
                <a:latin typeface="Quicksand" pitchFamily="2" charset="77"/>
              </a:rPr>
              <a:t>Writing training and evaluation loops from scratch</a:t>
            </a:r>
          </a:p>
        </p:txBody>
      </p:sp>
      <p:pic>
        <p:nvPicPr>
          <p:cNvPr id="1026" name="Picture 2">
            <a:extLst>
              <a:ext uri="{FF2B5EF4-FFF2-40B4-BE49-F238E27FC236}">
                <a16:creationId xmlns:a16="http://schemas.microsoft.com/office/drawing/2014/main" id="{9F238DCB-39E2-2D48-844E-7C0E426146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33541"/>
          <a:stretch>
            <a:fillRect/>
          </a:stretch>
        </p:blipFill>
        <p:spPr bwMode="auto">
          <a:xfrm>
            <a:off x="3796569" y="3878335"/>
            <a:ext cx="4203897" cy="2484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758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Alternative Options /w </a:t>
            </a:r>
            <a:r>
              <a:rPr lang="en-US" sz="5400" dirty="0" err="1">
                <a:latin typeface="Economica" panose="02000506040000020004" pitchFamily="2" charset="77"/>
              </a:rPr>
              <a:t>Keras</a:t>
            </a:r>
            <a:endParaRPr lang="en-US" sz="5400" dirty="0">
              <a:latin typeface="Economica" panose="02000506040000020004" pitchFamily="2" charset="77"/>
            </a:endParaRPr>
          </a:p>
        </p:txBody>
      </p:sp>
      <p:pic>
        <p:nvPicPr>
          <p:cNvPr id="1026" name="Picture 2">
            <a:extLst>
              <a:ext uri="{FF2B5EF4-FFF2-40B4-BE49-F238E27FC236}">
                <a16:creationId xmlns:a16="http://schemas.microsoft.com/office/drawing/2014/main" id="{523A49B7-4371-A144-9800-F2221D404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50" y="2159000"/>
            <a:ext cx="105029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40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973087" y="613091"/>
            <a:ext cx="8245823" cy="923330"/>
          </a:xfrm>
          <a:prstGeom prst="rect">
            <a:avLst/>
          </a:prstGeom>
          <a:noFill/>
        </p:spPr>
        <p:txBody>
          <a:bodyPr wrap="square" rtlCol="0">
            <a:spAutoFit/>
          </a:bodyPr>
          <a:lstStyle/>
          <a:p>
            <a:pPr algn="ctr"/>
            <a:r>
              <a:rPr lang="en-US" sz="5400" dirty="0">
                <a:latin typeface="Economica" panose="02000506040000020004" pitchFamily="2" charset="77"/>
              </a:rPr>
              <a:t>Define Architecture via Sequential API</a:t>
            </a:r>
          </a:p>
        </p:txBody>
      </p:sp>
      <p:pic>
        <p:nvPicPr>
          <p:cNvPr id="2" name="Picture 1">
            <a:extLst>
              <a:ext uri="{FF2B5EF4-FFF2-40B4-BE49-F238E27FC236}">
                <a16:creationId xmlns:a16="http://schemas.microsoft.com/office/drawing/2014/main" id="{600E656D-E890-5648-8377-308EA43DBCDC}"/>
              </a:ext>
            </a:extLst>
          </p:cNvPr>
          <p:cNvPicPr>
            <a:picLocks noChangeAspect="1"/>
          </p:cNvPicPr>
          <p:nvPr/>
        </p:nvPicPr>
        <p:blipFill>
          <a:blip r:embed="rId2"/>
          <a:stretch>
            <a:fillRect/>
          </a:stretch>
        </p:blipFill>
        <p:spPr>
          <a:xfrm>
            <a:off x="3403584" y="2076729"/>
            <a:ext cx="5445071" cy="2147957"/>
          </a:xfrm>
          <a:prstGeom prst="rect">
            <a:avLst/>
          </a:prstGeom>
        </p:spPr>
      </p:pic>
      <p:pic>
        <p:nvPicPr>
          <p:cNvPr id="3" name="Picture 2">
            <a:extLst>
              <a:ext uri="{FF2B5EF4-FFF2-40B4-BE49-F238E27FC236}">
                <a16:creationId xmlns:a16="http://schemas.microsoft.com/office/drawing/2014/main" id="{2324E9CD-6E34-DA49-8635-72738B7B8943}"/>
              </a:ext>
            </a:extLst>
          </p:cNvPr>
          <p:cNvPicPr>
            <a:picLocks noChangeAspect="1"/>
          </p:cNvPicPr>
          <p:nvPr/>
        </p:nvPicPr>
        <p:blipFill>
          <a:blip r:embed="rId3"/>
          <a:stretch>
            <a:fillRect/>
          </a:stretch>
        </p:blipFill>
        <p:spPr>
          <a:xfrm>
            <a:off x="3164672" y="5365636"/>
            <a:ext cx="5922894" cy="820579"/>
          </a:xfrm>
          <a:prstGeom prst="rect">
            <a:avLst/>
          </a:prstGeom>
        </p:spPr>
      </p:pic>
      <p:sp>
        <p:nvSpPr>
          <p:cNvPr id="5" name="TextBox 4">
            <a:extLst>
              <a:ext uri="{FF2B5EF4-FFF2-40B4-BE49-F238E27FC236}">
                <a16:creationId xmlns:a16="http://schemas.microsoft.com/office/drawing/2014/main" id="{428BBDCB-45B4-B341-9CB1-0739C47B6974}"/>
              </a:ext>
            </a:extLst>
          </p:cNvPr>
          <p:cNvSpPr txBox="1"/>
          <p:nvPr/>
        </p:nvSpPr>
        <p:spPr>
          <a:xfrm>
            <a:off x="3239043" y="4685130"/>
            <a:ext cx="5713912" cy="523220"/>
          </a:xfrm>
          <a:prstGeom prst="rect">
            <a:avLst/>
          </a:prstGeom>
          <a:noFill/>
        </p:spPr>
        <p:txBody>
          <a:bodyPr wrap="square" rtlCol="0">
            <a:spAutoFit/>
          </a:bodyPr>
          <a:lstStyle/>
          <a:p>
            <a:pPr algn="ctr"/>
            <a:r>
              <a:rPr lang="en-US" sz="2800" dirty="0">
                <a:latin typeface="Economica" panose="02000506040000020004" pitchFamily="2" charset="77"/>
              </a:rPr>
              <a:t>Same Thing, but Adding Layers Dynamically</a:t>
            </a:r>
          </a:p>
        </p:txBody>
      </p:sp>
    </p:spTree>
    <p:extLst>
      <p:ext uri="{BB962C8B-B14F-4D97-AF65-F5344CB8AC3E}">
        <p14:creationId xmlns:p14="http://schemas.microsoft.com/office/powerpoint/2010/main" val="3030124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519545" y="586938"/>
            <a:ext cx="11294919" cy="923330"/>
          </a:xfrm>
          <a:prstGeom prst="rect">
            <a:avLst/>
          </a:prstGeom>
          <a:noFill/>
        </p:spPr>
        <p:txBody>
          <a:bodyPr wrap="square" rtlCol="0">
            <a:spAutoFit/>
          </a:bodyPr>
          <a:lstStyle/>
          <a:p>
            <a:pPr algn="ctr"/>
            <a:r>
              <a:rPr lang="en-US" sz="5400" dirty="0">
                <a:latin typeface="Economica" panose="02000506040000020004" pitchFamily="2" charset="77"/>
              </a:rPr>
              <a:t>Sequential Model Initialization and Input Shape</a:t>
            </a:r>
          </a:p>
        </p:txBody>
      </p:sp>
      <p:pic>
        <p:nvPicPr>
          <p:cNvPr id="6" name="Picture 5">
            <a:extLst>
              <a:ext uri="{FF2B5EF4-FFF2-40B4-BE49-F238E27FC236}">
                <a16:creationId xmlns:a16="http://schemas.microsoft.com/office/drawing/2014/main" id="{E798E6C9-7865-F242-9ACF-80707BE4262B}"/>
              </a:ext>
            </a:extLst>
          </p:cNvPr>
          <p:cNvPicPr>
            <a:picLocks noChangeAspect="1"/>
          </p:cNvPicPr>
          <p:nvPr/>
        </p:nvPicPr>
        <p:blipFill>
          <a:blip r:embed="rId3"/>
          <a:stretch>
            <a:fillRect/>
          </a:stretch>
        </p:blipFill>
        <p:spPr>
          <a:xfrm>
            <a:off x="1772270" y="1875120"/>
            <a:ext cx="8647458" cy="964482"/>
          </a:xfrm>
          <a:prstGeom prst="rect">
            <a:avLst/>
          </a:prstGeom>
        </p:spPr>
      </p:pic>
      <p:pic>
        <p:nvPicPr>
          <p:cNvPr id="9" name="Picture 8">
            <a:extLst>
              <a:ext uri="{FF2B5EF4-FFF2-40B4-BE49-F238E27FC236}">
                <a16:creationId xmlns:a16="http://schemas.microsoft.com/office/drawing/2014/main" id="{62665ECB-F7C8-0D4B-9C0A-4D0F67C0150B}"/>
              </a:ext>
            </a:extLst>
          </p:cNvPr>
          <p:cNvPicPr>
            <a:picLocks noChangeAspect="1"/>
          </p:cNvPicPr>
          <p:nvPr/>
        </p:nvPicPr>
        <p:blipFill>
          <a:blip r:embed="rId4"/>
          <a:stretch>
            <a:fillRect/>
          </a:stretch>
        </p:blipFill>
        <p:spPr>
          <a:xfrm>
            <a:off x="1772270" y="4982879"/>
            <a:ext cx="5840968" cy="1185278"/>
          </a:xfrm>
          <a:prstGeom prst="rect">
            <a:avLst/>
          </a:prstGeom>
        </p:spPr>
      </p:pic>
      <p:pic>
        <p:nvPicPr>
          <p:cNvPr id="10" name="Picture 9">
            <a:extLst>
              <a:ext uri="{FF2B5EF4-FFF2-40B4-BE49-F238E27FC236}">
                <a16:creationId xmlns:a16="http://schemas.microsoft.com/office/drawing/2014/main" id="{14A38C76-5DF8-F040-AB12-DDE0D26643D4}"/>
              </a:ext>
            </a:extLst>
          </p:cNvPr>
          <p:cNvPicPr>
            <a:picLocks noChangeAspect="1"/>
          </p:cNvPicPr>
          <p:nvPr/>
        </p:nvPicPr>
        <p:blipFill>
          <a:blip r:embed="rId5"/>
          <a:stretch>
            <a:fillRect/>
          </a:stretch>
        </p:blipFill>
        <p:spPr>
          <a:xfrm>
            <a:off x="1772270" y="3048121"/>
            <a:ext cx="7534413" cy="1726239"/>
          </a:xfrm>
          <a:prstGeom prst="rect">
            <a:avLst/>
          </a:prstGeom>
        </p:spPr>
      </p:pic>
    </p:spTree>
    <p:extLst>
      <p:ext uri="{BB962C8B-B14F-4D97-AF65-F5344CB8AC3E}">
        <p14:creationId xmlns:p14="http://schemas.microsoft.com/office/powerpoint/2010/main" val="82038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Summary Function</a:t>
            </a:r>
          </a:p>
        </p:txBody>
      </p:sp>
      <p:pic>
        <p:nvPicPr>
          <p:cNvPr id="2" name="Picture 1">
            <a:extLst>
              <a:ext uri="{FF2B5EF4-FFF2-40B4-BE49-F238E27FC236}">
                <a16:creationId xmlns:a16="http://schemas.microsoft.com/office/drawing/2014/main" id="{66397E87-DC70-4B4A-B246-32B205D6124E}"/>
              </a:ext>
            </a:extLst>
          </p:cNvPr>
          <p:cNvPicPr>
            <a:picLocks noChangeAspect="1"/>
          </p:cNvPicPr>
          <p:nvPr/>
        </p:nvPicPr>
        <p:blipFill>
          <a:blip r:embed="rId3"/>
          <a:stretch>
            <a:fillRect/>
          </a:stretch>
        </p:blipFill>
        <p:spPr>
          <a:xfrm>
            <a:off x="1527756" y="1986793"/>
            <a:ext cx="8203942" cy="3579119"/>
          </a:xfrm>
          <a:prstGeom prst="rect">
            <a:avLst/>
          </a:prstGeom>
        </p:spPr>
      </p:pic>
    </p:spTree>
    <p:extLst>
      <p:ext uri="{BB962C8B-B14F-4D97-AF65-F5344CB8AC3E}">
        <p14:creationId xmlns:p14="http://schemas.microsoft.com/office/powerpoint/2010/main" val="1356205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1E6873-60F7-674E-A74A-617C0A361491}"/>
              </a:ext>
            </a:extLst>
          </p:cNvPr>
          <p:cNvPicPr>
            <a:picLocks noChangeAspect="1"/>
          </p:cNvPicPr>
          <p:nvPr/>
        </p:nvPicPr>
        <p:blipFill>
          <a:blip r:embed="rId2"/>
          <a:stretch>
            <a:fillRect/>
          </a:stretch>
        </p:blipFill>
        <p:spPr>
          <a:xfrm>
            <a:off x="1797049" y="3686646"/>
            <a:ext cx="8597900" cy="1714500"/>
          </a:xfrm>
          <a:prstGeom prst="rect">
            <a:avLst/>
          </a:prstGeom>
        </p:spPr>
      </p:pic>
      <p:sp>
        <p:nvSpPr>
          <p:cNvPr id="7" name="TextBox 6">
            <a:extLst>
              <a:ext uri="{FF2B5EF4-FFF2-40B4-BE49-F238E27FC236}">
                <a16:creationId xmlns:a16="http://schemas.microsoft.com/office/drawing/2014/main" id="{9A551E66-55B9-124A-AEBC-215AC372E481}"/>
              </a:ext>
            </a:extLst>
          </p:cNvPr>
          <p:cNvSpPr txBox="1"/>
          <p:nvPr/>
        </p:nvSpPr>
        <p:spPr>
          <a:xfrm>
            <a:off x="890337" y="1940249"/>
            <a:ext cx="10016362" cy="1231106"/>
          </a:xfrm>
          <a:prstGeom prst="rect">
            <a:avLst/>
          </a:prstGeom>
          <a:noFill/>
        </p:spPr>
        <p:txBody>
          <a:bodyPr wrap="square" rtlCol="0">
            <a:spAutoFit/>
          </a:bodyPr>
          <a:lstStyle/>
          <a:p>
            <a:r>
              <a:rPr lang="en-US" sz="2000" b="1" dirty="0">
                <a:latin typeface="Quicksand" pitchFamily="2" charset="77"/>
              </a:rPr>
              <a:t>Define Each Layer and its Linkages (If Any)</a:t>
            </a:r>
          </a:p>
          <a:p>
            <a:pPr marL="285750" indent="-285750">
              <a:buFont typeface="Arial" panose="020B0604020202020204" pitchFamily="34" charset="0"/>
              <a:buChar char="•"/>
            </a:pPr>
            <a:r>
              <a:rPr lang="en-US" dirty="0">
                <a:latin typeface="Quicksand" pitchFamily="2" charset="77"/>
              </a:rPr>
              <a:t>When you specify a given layer, you state what input it takes (if any).</a:t>
            </a:r>
          </a:p>
          <a:p>
            <a:pPr marL="285750" indent="-285750">
              <a:buFont typeface="Arial" panose="020B0604020202020204" pitchFamily="34" charset="0"/>
              <a:buChar char="•"/>
            </a:pPr>
            <a:r>
              <a:rPr lang="en-US" dirty="0">
                <a:latin typeface="Quicksand" pitchFamily="2" charset="77"/>
              </a:rPr>
              <a:t>This lets you build more complicated topologies (e.g., branches, multi-outputs, letting earlier layers feed into later layers in the network, and so on. </a:t>
            </a:r>
          </a:p>
        </p:txBody>
      </p:sp>
      <p:sp>
        <p:nvSpPr>
          <p:cNvPr id="2" name="TextBox 1">
            <a:extLst>
              <a:ext uri="{FF2B5EF4-FFF2-40B4-BE49-F238E27FC236}">
                <a16:creationId xmlns:a16="http://schemas.microsoft.com/office/drawing/2014/main" id="{5A490E15-48E3-F34B-8CB6-F623908AA6AD}"/>
              </a:ext>
            </a:extLst>
          </p:cNvPr>
          <p:cNvSpPr txBox="1"/>
          <p:nvPr/>
        </p:nvSpPr>
        <p:spPr>
          <a:xfrm>
            <a:off x="1973087" y="613091"/>
            <a:ext cx="8245823" cy="923330"/>
          </a:xfrm>
          <a:prstGeom prst="rect">
            <a:avLst/>
          </a:prstGeom>
          <a:noFill/>
        </p:spPr>
        <p:txBody>
          <a:bodyPr wrap="square" rtlCol="0">
            <a:spAutoFit/>
          </a:bodyPr>
          <a:lstStyle/>
          <a:p>
            <a:pPr algn="ctr"/>
            <a:r>
              <a:rPr lang="en-US" sz="5400" dirty="0">
                <a:latin typeface="Economica" panose="02000506040000020004" pitchFamily="2" charset="77"/>
              </a:rPr>
              <a:t>Define Architecture via Functional API</a:t>
            </a:r>
          </a:p>
        </p:txBody>
      </p:sp>
    </p:spTree>
    <p:extLst>
      <p:ext uri="{BB962C8B-B14F-4D97-AF65-F5344CB8AC3E}">
        <p14:creationId xmlns:p14="http://schemas.microsoft.com/office/powerpoint/2010/main" val="2157842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889036" y="553433"/>
            <a:ext cx="10191137" cy="923330"/>
          </a:xfrm>
          <a:prstGeom prst="rect">
            <a:avLst/>
          </a:prstGeom>
          <a:noFill/>
        </p:spPr>
        <p:txBody>
          <a:bodyPr wrap="square" rtlCol="0">
            <a:spAutoFit/>
          </a:bodyPr>
          <a:lstStyle/>
          <a:p>
            <a:pPr algn="ctr"/>
            <a:r>
              <a:rPr lang="en-US" sz="5400" dirty="0">
                <a:latin typeface="Economica" panose="02000506040000020004" pitchFamily="2" charset="77"/>
              </a:rPr>
              <a:t>Functional API Enables Complex Architectures</a:t>
            </a:r>
          </a:p>
        </p:txBody>
      </p:sp>
      <p:pic>
        <p:nvPicPr>
          <p:cNvPr id="3" name="Picture 2">
            <a:extLst>
              <a:ext uri="{FF2B5EF4-FFF2-40B4-BE49-F238E27FC236}">
                <a16:creationId xmlns:a16="http://schemas.microsoft.com/office/drawing/2014/main" id="{C4B2370B-7F1E-1644-BBFA-5F975CBEBE35}"/>
              </a:ext>
            </a:extLst>
          </p:cNvPr>
          <p:cNvPicPr>
            <a:picLocks noChangeAspect="1"/>
          </p:cNvPicPr>
          <p:nvPr/>
        </p:nvPicPr>
        <p:blipFill>
          <a:blip r:embed="rId3"/>
          <a:stretch>
            <a:fillRect/>
          </a:stretch>
        </p:blipFill>
        <p:spPr>
          <a:xfrm>
            <a:off x="2127249" y="2916379"/>
            <a:ext cx="7937500" cy="393700"/>
          </a:xfrm>
          <a:prstGeom prst="rect">
            <a:avLst/>
          </a:prstGeom>
        </p:spPr>
      </p:pic>
      <p:pic>
        <p:nvPicPr>
          <p:cNvPr id="3074" name="Picture 2">
            <a:extLst>
              <a:ext uri="{FF2B5EF4-FFF2-40B4-BE49-F238E27FC236}">
                <a16:creationId xmlns:a16="http://schemas.microsoft.com/office/drawing/2014/main" id="{53F0548F-E803-4149-856A-54055717DE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9939" y="3723861"/>
            <a:ext cx="4172121" cy="26797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3DE762-ED3C-8E4A-9E15-0195CD596E30}"/>
              </a:ext>
            </a:extLst>
          </p:cNvPr>
          <p:cNvSpPr txBox="1"/>
          <p:nvPr/>
        </p:nvSpPr>
        <p:spPr>
          <a:xfrm>
            <a:off x="889036" y="1890545"/>
            <a:ext cx="10016362" cy="954107"/>
          </a:xfrm>
          <a:prstGeom prst="rect">
            <a:avLst/>
          </a:prstGeom>
          <a:noFill/>
        </p:spPr>
        <p:txBody>
          <a:bodyPr wrap="square" rtlCol="0">
            <a:spAutoFit/>
          </a:bodyPr>
          <a:lstStyle/>
          <a:p>
            <a:r>
              <a:rPr lang="en-US" sz="2000" b="1" dirty="0">
                <a:latin typeface="Quicksand" pitchFamily="2" charset="77"/>
              </a:rPr>
              <a:t>We Can Define a Multi-Input (Branches) to Multi-Output (Labels) Topology</a:t>
            </a:r>
          </a:p>
          <a:p>
            <a:pPr marL="285750" indent="-285750">
              <a:buFont typeface="Arial" panose="020B0604020202020204" pitchFamily="34" charset="0"/>
              <a:buChar char="•"/>
            </a:pPr>
            <a:r>
              <a:rPr lang="en-US" dirty="0">
                <a:latin typeface="Quicksand" pitchFamily="2" charset="77"/>
              </a:rPr>
              <a:t>This because useful for multi-modal data, or for introducing feedback loops, etc. into the network.</a:t>
            </a:r>
          </a:p>
        </p:txBody>
      </p:sp>
    </p:spTree>
    <p:extLst>
      <p:ext uri="{BB962C8B-B14F-4D97-AF65-F5344CB8AC3E}">
        <p14:creationId xmlns:p14="http://schemas.microsoft.com/office/powerpoint/2010/main" val="1685328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3DE762-ED3C-8E4A-9E15-0195CD596E30}"/>
              </a:ext>
            </a:extLst>
          </p:cNvPr>
          <p:cNvSpPr txBox="1"/>
          <p:nvPr/>
        </p:nvSpPr>
        <p:spPr>
          <a:xfrm>
            <a:off x="889036" y="1784529"/>
            <a:ext cx="10016362" cy="677108"/>
          </a:xfrm>
          <a:prstGeom prst="rect">
            <a:avLst/>
          </a:prstGeom>
          <a:noFill/>
        </p:spPr>
        <p:txBody>
          <a:bodyPr wrap="square" rtlCol="0">
            <a:spAutoFit/>
          </a:bodyPr>
          <a:lstStyle/>
          <a:p>
            <a:r>
              <a:rPr lang="en-US" sz="2000" b="1" dirty="0">
                <a:latin typeface="Quicksand" pitchFamily="2" charset="77"/>
              </a:rPr>
              <a:t>We Can Define a Multi-Input (Branches) to Multi-Output (Labels) Topology</a:t>
            </a:r>
          </a:p>
          <a:p>
            <a:pPr marL="285750" indent="-285750">
              <a:buFont typeface="Arial" panose="020B0604020202020204" pitchFamily="34" charset="0"/>
              <a:buChar char="•"/>
            </a:pPr>
            <a:r>
              <a:rPr lang="en-US" dirty="0">
                <a:latin typeface="Quicksand" pitchFamily="2" charset="77"/>
              </a:rPr>
              <a:t>This is useful for multi-modal data, residual links, or feedback loops, etc.</a:t>
            </a:r>
          </a:p>
        </p:txBody>
      </p:sp>
      <p:pic>
        <p:nvPicPr>
          <p:cNvPr id="2" name="Picture 1">
            <a:extLst>
              <a:ext uri="{FF2B5EF4-FFF2-40B4-BE49-F238E27FC236}">
                <a16:creationId xmlns:a16="http://schemas.microsoft.com/office/drawing/2014/main" id="{44B135C6-4FDD-B542-AF2D-49678D400FA6}"/>
              </a:ext>
            </a:extLst>
          </p:cNvPr>
          <p:cNvPicPr>
            <a:picLocks noChangeAspect="1"/>
          </p:cNvPicPr>
          <p:nvPr/>
        </p:nvPicPr>
        <p:blipFill>
          <a:blip r:embed="rId3"/>
          <a:stretch>
            <a:fillRect/>
          </a:stretch>
        </p:blipFill>
        <p:spPr>
          <a:xfrm>
            <a:off x="2214639" y="2684443"/>
            <a:ext cx="7567133" cy="3573368"/>
          </a:xfrm>
          <a:prstGeom prst="rect">
            <a:avLst/>
          </a:prstGeom>
        </p:spPr>
      </p:pic>
      <p:sp>
        <p:nvSpPr>
          <p:cNvPr id="3" name="TextBox 2">
            <a:extLst>
              <a:ext uri="{FF2B5EF4-FFF2-40B4-BE49-F238E27FC236}">
                <a16:creationId xmlns:a16="http://schemas.microsoft.com/office/drawing/2014/main" id="{3F56045F-7B27-8CE9-A852-132F0F1E8FD6}"/>
              </a:ext>
            </a:extLst>
          </p:cNvPr>
          <p:cNvSpPr txBox="1"/>
          <p:nvPr/>
        </p:nvSpPr>
        <p:spPr>
          <a:xfrm>
            <a:off x="889036" y="553433"/>
            <a:ext cx="10191137" cy="923330"/>
          </a:xfrm>
          <a:prstGeom prst="rect">
            <a:avLst/>
          </a:prstGeom>
          <a:noFill/>
        </p:spPr>
        <p:txBody>
          <a:bodyPr wrap="square" rtlCol="0">
            <a:spAutoFit/>
          </a:bodyPr>
          <a:lstStyle/>
          <a:p>
            <a:pPr algn="ctr"/>
            <a:r>
              <a:rPr lang="en-US" sz="5400" dirty="0">
                <a:latin typeface="Economica" panose="02000506040000020004" pitchFamily="2" charset="77"/>
              </a:rPr>
              <a:t>Functional API Enables Complex Architectures</a:t>
            </a:r>
          </a:p>
        </p:txBody>
      </p:sp>
    </p:spTree>
    <p:extLst>
      <p:ext uri="{BB962C8B-B14F-4D97-AF65-F5344CB8AC3E}">
        <p14:creationId xmlns:p14="http://schemas.microsoft.com/office/powerpoint/2010/main" val="2767503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685240" y="548440"/>
            <a:ext cx="10821520" cy="923330"/>
          </a:xfrm>
          <a:prstGeom prst="rect">
            <a:avLst/>
          </a:prstGeom>
          <a:noFill/>
        </p:spPr>
        <p:txBody>
          <a:bodyPr wrap="square" rtlCol="0">
            <a:spAutoFit/>
          </a:bodyPr>
          <a:lstStyle/>
          <a:p>
            <a:pPr algn="ctr"/>
            <a:r>
              <a:rPr lang="en-US" sz="5400" dirty="0">
                <a:latin typeface="Economica" panose="02000506040000020004" pitchFamily="2" charset="77"/>
              </a:rPr>
              <a:t>Training With Multiple Input / Output Layers</a:t>
            </a:r>
          </a:p>
        </p:txBody>
      </p:sp>
      <p:sp>
        <p:nvSpPr>
          <p:cNvPr id="6" name="TextBox 5">
            <a:extLst>
              <a:ext uri="{FF2B5EF4-FFF2-40B4-BE49-F238E27FC236}">
                <a16:creationId xmlns:a16="http://schemas.microsoft.com/office/drawing/2014/main" id="{663DE762-ED3C-8E4A-9E15-0195CD596E30}"/>
              </a:ext>
            </a:extLst>
          </p:cNvPr>
          <p:cNvSpPr txBox="1"/>
          <p:nvPr/>
        </p:nvSpPr>
        <p:spPr>
          <a:xfrm>
            <a:off x="889035" y="1784529"/>
            <a:ext cx="10437055" cy="1231106"/>
          </a:xfrm>
          <a:prstGeom prst="rect">
            <a:avLst/>
          </a:prstGeom>
          <a:noFill/>
        </p:spPr>
        <p:txBody>
          <a:bodyPr wrap="square" rtlCol="0">
            <a:spAutoFit/>
          </a:bodyPr>
          <a:lstStyle/>
          <a:p>
            <a:r>
              <a:rPr lang="en-US" sz="2000" b="1" dirty="0">
                <a:latin typeface="Quicksand" pitchFamily="2" charset="77"/>
              </a:rPr>
              <a:t>Pass Lists of Input / Output Arrays, and Specify Lists of Loss Functions / Metrics</a:t>
            </a:r>
          </a:p>
          <a:p>
            <a:pPr marL="285750" indent="-285750">
              <a:buFont typeface="Arial" panose="020B0604020202020204" pitchFamily="34" charset="0"/>
              <a:buChar char="•"/>
            </a:pPr>
            <a:r>
              <a:rPr lang="en-US" dirty="0">
                <a:solidFill>
                  <a:srgbClr val="FF0000"/>
                </a:solidFill>
                <a:latin typeface="Quicksand" pitchFamily="2" charset="77"/>
              </a:rPr>
              <a:t>We need to pass in a list of arrays addressing all inputs</a:t>
            </a:r>
            <a:r>
              <a:rPr lang="en-US" dirty="0">
                <a:latin typeface="Quicksand" pitchFamily="2" charset="77"/>
              </a:rPr>
              <a:t>, </a:t>
            </a:r>
            <a:r>
              <a:rPr lang="en-US" dirty="0">
                <a:solidFill>
                  <a:schemeClr val="accent1"/>
                </a:solidFill>
                <a:latin typeface="Quicksand" pitchFamily="2" charset="77"/>
              </a:rPr>
              <a:t>as well as a list of labels for all outputs</a:t>
            </a:r>
            <a:r>
              <a:rPr lang="en-US" dirty="0">
                <a:latin typeface="Quicksand" pitchFamily="2" charset="77"/>
              </a:rPr>
              <a:t>.</a:t>
            </a:r>
          </a:p>
          <a:p>
            <a:pPr marL="285750" indent="-285750">
              <a:buFont typeface="Arial" panose="020B0604020202020204" pitchFamily="34" charset="0"/>
              <a:buChar char="•"/>
            </a:pPr>
            <a:r>
              <a:rPr lang="en-US" dirty="0">
                <a:latin typeface="Quicksand" pitchFamily="2" charset="77"/>
              </a:rPr>
              <a:t>We can also provide a list of loss functions and metrics, one of each for each output label. </a:t>
            </a:r>
          </a:p>
        </p:txBody>
      </p:sp>
      <p:pic>
        <p:nvPicPr>
          <p:cNvPr id="3" name="Picture 2">
            <a:extLst>
              <a:ext uri="{FF2B5EF4-FFF2-40B4-BE49-F238E27FC236}">
                <a16:creationId xmlns:a16="http://schemas.microsoft.com/office/drawing/2014/main" id="{977412B0-884A-2A45-8532-399D8A8A4E9F}"/>
              </a:ext>
            </a:extLst>
          </p:cNvPr>
          <p:cNvPicPr>
            <a:picLocks noChangeAspect="1"/>
          </p:cNvPicPr>
          <p:nvPr/>
        </p:nvPicPr>
        <p:blipFill>
          <a:blip r:embed="rId3"/>
          <a:stretch>
            <a:fillRect/>
          </a:stretch>
        </p:blipFill>
        <p:spPr>
          <a:xfrm>
            <a:off x="2871183" y="3124185"/>
            <a:ext cx="6298648" cy="3570169"/>
          </a:xfrm>
          <a:prstGeom prst="rect">
            <a:avLst/>
          </a:prstGeom>
        </p:spPr>
      </p:pic>
      <p:sp>
        <p:nvSpPr>
          <p:cNvPr id="5" name="Oval 4">
            <a:extLst>
              <a:ext uri="{FF2B5EF4-FFF2-40B4-BE49-F238E27FC236}">
                <a16:creationId xmlns:a16="http://schemas.microsoft.com/office/drawing/2014/main" id="{DF53C2F4-4AA6-C747-AB2B-5ACFC80F6389}"/>
              </a:ext>
            </a:extLst>
          </p:cNvPr>
          <p:cNvSpPr/>
          <p:nvPr/>
        </p:nvSpPr>
        <p:spPr>
          <a:xfrm>
            <a:off x="2296833" y="3908744"/>
            <a:ext cx="7134844" cy="75001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B90797E-6E14-0C46-8746-2586E2A2BA42}"/>
              </a:ext>
            </a:extLst>
          </p:cNvPr>
          <p:cNvSpPr/>
          <p:nvPr/>
        </p:nvSpPr>
        <p:spPr>
          <a:xfrm>
            <a:off x="2296833" y="4534262"/>
            <a:ext cx="7291096" cy="571994"/>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9227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2CE494-7BF1-2D40-BFC5-B2E5558CD308}"/>
              </a:ext>
            </a:extLst>
          </p:cNvPr>
          <p:cNvPicPr>
            <a:picLocks noChangeAspect="1"/>
          </p:cNvPicPr>
          <p:nvPr/>
        </p:nvPicPr>
        <p:blipFill>
          <a:blip r:embed="rId3"/>
          <a:stretch>
            <a:fillRect/>
          </a:stretch>
        </p:blipFill>
        <p:spPr>
          <a:xfrm>
            <a:off x="2134349" y="2848052"/>
            <a:ext cx="7923302" cy="3216842"/>
          </a:xfrm>
          <a:prstGeom prst="rect">
            <a:avLst/>
          </a:prstGeom>
        </p:spPr>
      </p:pic>
      <p:sp>
        <p:nvSpPr>
          <p:cNvPr id="9" name="TextBox 8">
            <a:extLst>
              <a:ext uri="{FF2B5EF4-FFF2-40B4-BE49-F238E27FC236}">
                <a16:creationId xmlns:a16="http://schemas.microsoft.com/office/drawing/2014/main" id="{49992786-FA07-014E-900B-3DBD4BC05EAC}"/>
              </a:ext>
            </a:extLst>
          </p:cNvPr>
          <p:cNvSpPr txBox="1"/>
          <p:nvPr/>
        </p:nvSpPr>
        <p:spPr>
          <a:xfrm>
            <a:off x="889036" y="1784529"/>
            <a:ext cx="10016362" cy="954107"/>
          </a:xfrm>
          <a:prstGeom prst="rect">
            <a:avLst/>
          </a:prstGeom>
          <a:noFill/>
        </p:spPr>
        <p:txBody>
          <a:bodyPr wrap="square" rtlCol="0">
            <a:spAutoFit/>
          </a:bodyPr>
          <a:lstStyle/>
          <a:p>
            <a:r>
              <a:rPr lang="en-US" sz="2000" b="1" dirty="0">
                <a:latin typeface="Quicksand" pitchFamily="2" charset="77"/>
              </a:rPr>
              <a:t>Pass Lists of Input Arrays, and Specify Lists of Loss Functions / Metrics</a:t>
            </a:r>
          </a:p>
          <a:p>
            <a:pPr marL="285750" indent="-285750">
              <a:buFont typeface="Arial" panose="020B0604020202020204" pitchFamily="34" charset="0"/>
              <a:buChar char="•"/>
            </a:pPr>
            <a:r>
              <a:rPr lang="en-US" dirty="0"/>
              <a:t>Use dictionaries rather than argument positional indexing (you are less likely to make a mistake this way!)</a:t>
            </a:r>
          </a:p>
        </p:txBody>
      </p:sp>
      <p:sp>
        <p:nvSpPr>
          <p:cNvPr id="3" name="TextBox 2">
            <a:extLst>
              <a:ext uri="{FF2B5EF4-FFF2-40B4-BE49-F238E27FC236}">
                <a16:creationId xmlns:a16="http://schemas.microsoft.com/office/drawing/2014/main" id="{A27C71AC-6B5A-F8AF-A251-33257105FA32}"/>
              </a:ext>
            </a:extLst>
          </p:cNvPr>
          <p:cNvSpPr txBox="1"/>
          <p:nvPr/>
        </p:nvSpPr>
        <p:spPr>
          <a:xfrm>
            <a:off x="685240" y="548440"/>
            <a:ext cx="10821520" cy="923330"/>
          </a:xfrm>
          <a:prstGeom prst="rect">
            <a:avLst/>
          </a:prstGeom>
          <a:noFill/>
        </p:spPr>
        <p:txBody>
          <a:bodyPr wrap="square" rtlCol="0">
            <a:spAutoFit/>
          </a:bodyPr>
          <a:lstStyle/>
          <a:p>
            <a:pPr algn="ctr"/>
            <a:r>
              <a:rPr lang="en-US" sz="5400" dirty="0">
                <a:latin typeface="Economica" panose="02000506040000020004" pitchFamily="2" charset="77"/>
              </a:rPr>
              <a:t>Training With Multiple Input / Output Layers</a:t>
            </a:r>
          </a:p>
        </p:txBody>
      </p:sp>
    </p:spTree>
    <p:extLst>
      <p:ext uri="{BB962C8B-B14F-4D97-AF65-F5344CB8AC3E}">
        <p14:creationId xmlns:p14="http://schemas.microsoft.com/office/powerpoint/2010/main" val="3215511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551838" y="597212"/>
            <a:ext cx="8690758" cy="923330"/>
          </a:xfrm>
          <a:prstGeom prst="rect">
            <a:avLst/>
          </a:prstGeom>
          <a:noFill/>
        </p:spPr>
        <p:txBody>
          <a:bodyPr wrap="square" rtlCol="0">
            <a:spAutoFit/>
          </a:bodyPr>
          <a:lstStyle/>
          <a:p>
            <a:pPr algn="ctr"/>
            <a:r>
              <a:rPr lang="en-US" sz="5400" dirty="0">
                <a:latin typeface="Economica" panose="02000506040000020004" pitchFamily="2" charset="77"/>
              </a:rPr>
              <a:t>Define and Use Custom Loss Functions</a:t>
            </a:r>
          </a:p>
        </p:txBody>
      </p:sp>
      <p:sp>
        <p:nvSpPr>
          <p:cNvPr id="9" name="TextBox 8">
            <a:extLst>
              <a:ext uri="{FF2B5EF4-FFF2-40B4-BE49-F238E27FC236}">
                <a16:creationId xmlns:a16="http://schemas.microsoft.com/office/drawing/2014/main" id="{49992786-FA07-014E-900B-3DBD4BC05EAC}"/>
              </a:ext>
            </a:extLst>
          </p:cNvPr>
          <p:cNvSpPr txBox="1"/>
          <p:nvPr/>
        </p:nvSpPr>
        <p:spPr>
          <a:xfrm>
            <a:off x="889036" y="1784529"/>
            <a:ext cx="10016362" cy="2646878"/>
          </a:xfrm>
          <a:prstGeom prst="rect">
            <a:avLst/>
          </a:prstGeom>
          <a:noFill/>
        </p:spPr>
        <p:txBody>
          <a:bodyPr wrap="square" rtlCol="0">
            <a:spAutoFit/>
          </a:bodyPr>
          <a:lstStyle/>
          <a:p>
            <a:r>
              <a:rPr lang="en-US" sz="2000" b="1" dirty="0">
                <a:latin typeface="Quicksand" pitchFamily="2" charset="77"/>
              </a:rPr>
              <a:t>We Can Write a Custom Loss Function</a:t>
            </a:r>
          </a:p>
          <a:p>
            <a:pPr marL="285750" indent="-285750">
              <a:buFont typeface="Arial" panose="020B0604020202020204" pitchFamily="34" charset="0"/>
              <a:buChar char="•"/>
            </a:pPr>
            <a:r>
              <a:rPr lang="en-US" dirty="0">
                <a:latin typeface="Quicksand" pitchFamily="2" charset="77"/>
              </a:rPr>
              <a:t>Many application-specific situations where we might want a custom metric (or loss function).</a:t>
            </a:r>
          </a:p>
          <a:p>
            <a:pPr marL="285750" indent="-285750">
              <a:buFont typeface="Arial" panose="020B0604020202020204" pitchFamily="34" charset="0"/>
              <a:buChar char="•"/>
            </a:pPr>
            <a:r>
              <a:rPr lang="en-US" dirty="0">
                <a:latin typeface="Quicksand" pitchFamily="2" charset="77"/>
              </a:rPr>
              <a:t>One example I will show you is image-sharpening – MSE or MAE are okay, but there are better metrics for image-wide alignment of pixel values. </a:t>
            </a:r>
          </a:p>
          <a:p>
            <a:pPr marL="285750" indent="-285750">
              <a:buFont typeface="Arial" panose="020B0604020202020204" pitchFamily="34" charset="0"/>
              <a:buChar char="•"/>
            </a:pPr>
            <a:endParaRPr lang="en-US" dirty="0"/>
          </a:p>
          <a:p>
            <a:r>
              <a:rPr lang="en-US" sz="2000" b="1" dirty="0">
                <a:latin typeface="Quicksand" pitchFamily="2" charset="77"/>
              </a:rPr>
              <a:t>Function That Accepts Predicted and Actual as Input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138849FF-BA17-4445-B53C-6C0E66E64A43}"/>
              </a:ext>
            </a:extLst>
          </p:cNvPr>
          <p:cNvPicPr>
            <a:picLocks noChangeAspect="1"/>
          </p:cNvPicPr>
          <p:nvPr/>
        </p:nvPicPr>
        <p:blipFill>
          <a:blip r:embed="rId3"/>
          <a:stretch>
            <a:fillRect/>
          </a:stretch>
        </p:blipFill>
        <p:spPr>
          <a:xfrm>
            <a:off x="2921000" y="4056651"/>
            <a:ext cx="6350000" cy="1765300"/>
          </a:xfrm>
          <a:prstGeom prst="rect">
            <a:avLst/>
          </a:prstGeom>
        </p:spPr>
      </p:pic>
    </p:spTree>
    <p:extLst>
      <p:ext uri="{BB962C8B-B14F-4D97-AF65-F5344CB8AC3E}">
        <p14:creationId xmlns:p14="http://schemas.microsoft.com/office/powerpoint/2010/main" val="2011750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779317" y="597212"/>
            <a:ext cx="10546773" cy="923330"/>
          </a:xfrm>
          <a:prstGeom prst="rect">
            <a:avLst/>
          </a:prstGeom>
          <a:noFill/>
        </p:spPr>
        <p:txBody>
          <a:bodyPr wrap="square" rtlCol="0">
            <a:spAutoFit/>
          </a:bodyPr>
          <a:lstStyle/>
          <a:p>
            <a:pPr algn="ctr"/>
            <a:r>
              <a:rPr lang="en-US" sz="5400" dirty="0">
                <a:latin typeface="Economica" panose="02000506040000020004" pitchFamily="2" charset="77"/>
              </a:rPr>
              <a:t>‘Callbacks’ in Training, e.g., Early Stopping</a:t>
            </a:r>
          </a:p>
        </p:txBody>
      </p:sp>
      <p:sp>
        <p:nvSpPr>
          <p:cNvPr id="9" name="TextBox 8">
            <a:extLst>
              <a:ext uri="{FF2B5EF4-FFF2-40B4-BE49-F238E27FC236}">
                <a16:creationId xmlns:a16="http://schemas.microsoft.com/office/drawing/2014/main" id="{49992786-FA07-014E-900B-3DBD4BC05EAC}"/>
              </a:ext>
            </a:extLst>
          </p:cNvPr>
          <p:cNvSpPr txBox="1"/>
          <p:nvPr/>
        </p:nvSpPr>
        <p:spPr>
          <a:xfrm>
            <a:off x="889036" y="1784529"/>
            <a:ext cx="10016362" cy="1508105"/>
          </a:xfrm>
          <a:prstGeom prst="rect">
            <a:avLst/>
          </a:prstGeom>
          <a:noFill/>
        </p:spPr>
        <p:txBody>
          <a:bodyPr wrap="square" rtlCol="0">
            <a:spAutoFit/>
          </a:bodyPr>
          <a:lstStyle/>
          <a:p>
            <a:r>
              <a:rPr lang="en-US" sz="2000" b="1" dirty="0">
                <a:latin typeface="Quicksand" pitchFamily="2" charset="77"/>
              </a:rPr>
              <a:t>We Can Enforce Some Rules During Fitting</a:t>
            </a:r>
          </a:p>
          <a:p>
            <a:pPr marL="285750" indent="-285750">
              <a:buFont typeface="Arial" panose="020B0604020202020204" pitchFamily="34" charset="0"/>
              <a:buChar char="•"/>
            </a:pPr>
            <a:r>
              <a:rPr lang="en-US" dirty="0">
                <a:latin typeface="Quicksand" pitchFamily="2" charset="77"/>
              </a:rPr>
              <a:t>For example, we can tell the fit method to stop the training process early based on &lt; threshold improvements in our objective function. </a:t>
            </a:r>
            <a:endParaRPr lang="en-US" sz="2000" b="1" dirty="0">
              <a:latin typeface="Quicksand" pitchFamily="2" charset="77"/>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1DBB0ABB-AD5B-574C-8C8F-0A6AF2CF36B5}"/>
              </a:ext>
            </a:extLst>
          </p:cNvPr>
          <p:cNvPicPr>
            <a:picLocks noChangeAspect="1"/>
          </p:cNvPicPr>
          <p:nvPr/>
        </p:nvPicPr>
        <p:blipFill>
          <a:blip r:embed="rId3"/>
          <a:stretch>
            <a:fillRect/>
          </a:stretch>
        </p:blipFill>
        <p:spPr>
          <a:xfrm>
            <a:off x="3595955" y="3048957"/>
            <a:ext cx="4605962" cy="3291268"/>
          </a:xfrm>
          <a:prstGeom prst="rect">
            <a:avLst/>
          </a:prstGeom>
        </p:spPr>
      </p:pic>
    </p:spTree>
    <p:extLst>
      <p:ext uri="{BB962C8B-B14F-4D97-AF65-F5344CB8AC3E}">
        <p14:creationId xmlns:p14="http://schemas.microsoft.com/office/powerpoint/2010/main" val="3587548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551838" y="597212"/>
            <a:ext cx="8690758" cy="923330"/>
          </a:xfrm>
          <a:prstGeom prst="rect">
            <a:avLst/>
          </a:prstGeom>
          <a:noFill/>
        </p:spPr>
        <p:txBody>
          <a:bodyPr wrap="square" rtlCol="0">
            <a:spAutoFit/>
          </a:bodyPr>
          <a:lstStyle/>
          <a:p>
            <a:pPr algn="ctr"/>
            <a:r>
              <a:rPr lang="en-US" sz="5400" dirty="0">
                <a:latin typeface="Economica" panose="02000506040000020004" pitchFamily="2" charset="77"/>
              </a:rPr>
              <a:t>Save / Load a Pre-Trained Model</a:t>
            </a:r>
          </a:p>
        </p:txBody>
      </p:sp>
      <p:sp>
        <p:nvSpPr>
          <p:cNvPr id="9" name="TextBox 8">
            <a:extLst>
              <a:ext uri="{FF2B5EF4-FFF2-40B4-BE49-F238E27FC236}">
                <a16:creationId xmlns:a16="http://schemas.microsoft.com/office/drawing/2014/main" id="{49992786-FA07-014E-900B-3DBD4BC05EAC}"/>
              </a:ext>
            </a:extLst>
          </p:cNvPr>
          <p:cNvSpPr txBox="1"/>
          <p:nvPr/>
        </p:nvSpPr>
        <p:spPr>
          <a:xfrm>
            <a:off x="889036" y="1940279"/>
            <a:ext cx="10016362" cy="4893647"/>
          </a:xfrm>
          <a:prstGeom prst="rect">
            <a:avLst/>
          </a:prstGeom>
          <a:noFill/>
        </p:spPr>
        <p:txBody>
          <a:bodyPr wrap="square" rtlCol="0">
            <a:spAutoFit/>
          </a:bodyPr>
          <a:lstStyle/>
          <a:p>
            <a:r>
              <a:rPr lang="en-US" sz="2000" b="1" dirty="0">
                <a:latin typeface="Quicksand" pitchFamily="2" charset="77"/>
              </a:rPr>
              <a:t>We Can Save and Re-load Models with Trained Weights for Later Use</a:t>
            </a:r>
          </a:p>
          <a:p>
            <a:pPr marL="285750" indent="-285750">
              <a:buFont typeface="Arial" panose="020B0604020202020204" pitchFamily="34" charset="0"/>
              <a:buChar char="•"/>
            </a:pPr>
            <a:r>
              <a:rPr lang="en-US" sz="2000" dirty="0">
                <a:latin typeface="Quicksand" pitchFamily="2" charset="77"/>
              </a:rPr>
              <a:t>This enables transfer learning, picking up where we left off…</a:t>
            </a:r>
          </a:p>
          <a:p>
            <a:pPr marL="285750" indent="-285750">
              <a:buFont typeface="Arial" panose="020B0604020202020204" pitchFamily="34" charset="0"/>
              <a:buChar char="•"/>
            </a:pPr>
            <a:endParaRPr lang="en-US" sz="2000" dirty="0">
              <a:latin typeface="Quicksand" pitchFamily="2" charset="77"/>
            </a:endParaRPr>
          </a:p>
          <a:p>
            <a:pPr marL="285750" indent="-285750">
              <a:buFont typeface="Arial" panose="020B0604020202020204" pitchFamily="34" charset="0"/>
              <a:buChar char="•"/>
            </a:pPr>
            <a:endParaRPr lang="en-US" sz="2000" dirty="0">
              <a:latin typeface="Quicksand" pitchFamily="2" charset="77"/>
            </a:endParaRPr>
          </a:p>
          <a:p>
            <a:pPr marL="285750" indent="-285750">
              <a:buFont typeface="Arial" panose="020B0604020202020204" pitchFamily="34" charset="0"/>
              <a:buChar char="•"/>
            </a:pPr>
            <a:endParaRPr lang="en-US" sz="2000" dirty="0">
              <a:latin typeface="Quicksand" pitchFamily="2" charset="77"/>
            </a:endParaRPr>
          </a:p>
          <a:p>
            <a:pPr marL="285750" indent="-285750">
              <a:buFont typeface="Arial" panose="020B0604020202020204" pitchFamily="34" charset="0"/>
              <a:buChar char="•"/>
            </a:pPr>
            <a:endParaRPr lang="en-US" sz="2000" dirty="0">
              <a:latin typeface="Quicksand" pitchFamily="2" charset="77"/>
            </a:endParaRPr>
          </a:p>
          <a:p>
            <a:pPr marL="285750" indent="-285750">
              <a:buFont typeface="Arial" panose="020B0604020202020204" pitchFamily="34" charset="0"/>
              <a:buChar char="•"/>
            </a:pPr>
            <a:endParaRPr lang="en-US" sz="2000" dirty="0">
              <a:latin typeface="Quicksand" pitchFamily="2" charset="77"/>
            </a:endParaRPr>
          </a:p>
          <a:p>
            <a:pPr marL="285750" indent="-285750">
              <a:buFont typeface="Arial" panose="020B0604020202020204" pitchFamily="34" charset="0"/>
              <a:buChar char="•"/>
            </a:pPr>
            <a:endParaRPr lang="en-US" sz="2000" dirty="0">
              <a:latin typeface="Quicksand" pitchFamily="2" charset="77"/>
            </a:endParaRPr>
          </a:p>
          <a:p>
            <a:pPr marL="285750" indent="-285750">
              <a:buFont typeface="Arial" panose="020B0604020202020204" pitchFamily="34" charset="0"/>
              <a:buChar char="•"/>
            </a:pPr>
            <a:r>
              <a:rPr lang="en-US" sz="2000" dirty="0">
                <a:latin typeface="Quicksand" pitchFamily="2" charset="77"/>
              </a:rPr>
              <a:t>We might load an old model, extract the first 5 layers, and then stack new layers on the end. </a:t>
            </a:r>
          </a:p>
          <a:p>
            <a:pPr marL="285750" indent="-285750">
              <a:buFont typeface="Arial" panose="020B0604020202020204" pitchFamily="34" charset="0"/>
              <a:buChar char="•"/>
            </a:pPr>
            <a:r>
              <a:rPr lang="en-US" sz="2000" dirty="0">
                <a:latin typeface="Quicksand" pitchFamily="2" charset="77"/>
              </a:rPr>
              <a:t>We might also fix the old model’s layers as non-trainable (‘calibrate’ a new model ‘end’ on top of the pre-trained model). </a:t>
            </a:r>
          </a:p>
          <a:p>
            <a:pPr marL="285750" indent="-285750">
              <a:buFont typeface="Arial" panose="020B0604020202020204" pitchFamily="34" charset="0"/>
              <a:buChar char="•"/>
            </a:pPr>
            <a:r>
              <a:rPr lang="en-US" sz="2000" dirty="0">
                <a:latin typeface="Quicksand" pitchFamily="2" charset="77"/>
              </a:rPr>
              <a:t>More on this shortly…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EA855F93-DD02-BE4A-A3B2-03FD99EA40E7}"/>
              </a:ext>
            </a:extLst>
          </p:cNvPr>
          <p:cNvPicPr>
            <a:picLocks noChangeAspect="1"/>
          </p:cNvPicPr>
          <p:nvPr/>
        </p:nvPicPr>
        <p:blipFill>
          <a:blip r:embed="rId3"/>
          <a:stretch>
            <a:fillRect/>
          </a:stretch>
        </p:blipFill>
        <p:spPr>
          <a:xfrm>
            <a:off x="2795544" y="3111350"/>
            <a:ext cx="6600912" cy="635299"/>
          </a:xfrm>
          <a:prstGeom prst="rect">
            <a:avLst/>
          </a:prstGeom>
        </p:spPr>
      </p:pic>
    </p:spTree>
    <p:extLst>
      <p:ext uri="{BB962C8B-B14F-4D97-AF65-F5344CB8AC3E}">
        <p14:creationId xmlns:p14="http://schemas.microsoft.com/office/powerpoint/2010/main" val="2211195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750621" y="2828835"/>
            <a:ext cx="8690758" cy="1200329"/>
          </a:xfrm>
          <a:prstGeom prst="rect">
            <a:avLst/>
          </a:prstGeom>
          <a:noFill/>
        </p:spPr>
        <p:txBody>
          <a:bodyPr wrap="square" rtlCol="0">
            <a:spAutoFit/>
          </a:bodyPr>
          <a:lstStyle/>
          <a:p>
            <a:pPr algn="ctr"/>
            <a:r>
              <a:rPr lang="en-US" sz="7200" dirty="0">
                <a:latin typeface="Economica" panose="02000506040000020004" pitchFamily="2" charset="77"/>
              </a:rPr>
              <a:t>Questions?</a:t>
            </a:r>
          </a:p>
        </p:txBody>
      </p:sp>
    </p:spTree>
    <p:extLst>
      <p:ext uri="{BB962C8B-B14F-4D97-AF65-F5344CB8AC3E}">
        <p14:creationId xmlns:p14="http://schemas.microsoft.com/office/powerpoint/2010/main" val="2554479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12631</TotalTime>
  <Words>837</Words>
  <Application>Microsoft Macintosh PowerPoint</Application>
  <PresentationFormat>Widescreen</PresentationFormat>
  <Paragraphs>79</Paragraphs>
  <Slides>17</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Economica</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101</cp:revision>
  <cp:lastPrinted>2020-10-20T21:27:15Z</cp:lastPrinted>
  <dcterms:created xsi:type="dcterms:W3CDTF">2019-12-28T13:51:56Z</dcterms:created>
  <dcterms:modified xsi:type="dcterms:W3CDTF">2025-10-14T17:57:15Z</dcterms:modified>
</cp:coreProperties>
</file>