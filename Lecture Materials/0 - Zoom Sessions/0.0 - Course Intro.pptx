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2"/>
  </p:notesMasterIdLst>
  <p:sldIdLst>
    <p:sldId id="256" r:id="rId2"/>
    <p:sldId id="258" r:id="rId3"/>
    <p:sldId id="257" r:id="rId4"/>
    <p:sldId id="306" r:id="rId5"/>
    <p:sldId id="295" r:id="rId6"/>
    <p:sldId id="261" r:id="rId7"/>
    <p:sldId id="262" r:id="rId8"/>
    <p:sldId id="263" r:id="rId9"/>
    <p:sldId id="298" r:id="rId10"/>
    <p:sldId id="266" r:id="rId11"/>
    <p:sldId id="296" r:id="rId12"/>
    <p:sldId id="268" r:id="rId13"/>
    <p:sldId id="269" r:id="rId14"/>
    <p:sldId id="307" r:id="rId15"/>
    <p:sldId id="270" r:id="rId16"/>
    <p:sldId id="271" r:id="rId17"/>
    <p:sldId id="300" r:id="rId18"/>
    <p:sldId id="274" r:id="rId19"/>
    <p:sldId id="301" r:id="rId20"/>
    <p:sldId id="302" r:id="rId21"/>
    <p:sldId id="303" r:id="rId22"/>
    <p:sldId id="278" r:id="rId23"/>
    <p:sldId id="304" r:id="rId24"/>
    <p:sldId id="305" r:id="rId25"/>
    <p:sldId id="308" r:id="rId26"/>
    <p:sldId id="279" r:id="rId27"/>
    <p:sldId id="277"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x="12192000" cy="6858000"/>
  <p:notesSz cx="6858000" cy="9144000"/>
  <p:embeddedFontLst>
    <p:embeddedFont>
      <p:font typeface="Economica" panose="02000506040000020004" pitchFamily="2" charset="77"/>
      <p:regular r:id="rId43"/>
      <p:bold r:id="rId44"/>
      <p:italic r:id="rId45"/>
      <p:boldItalic r:id="rId46"/>
    </p:embeddedFont>
    <p:embeddedFont>
      <p:font typeface="Garamond" panose="02020404030301010803" pitchFamily="18" charset="0"/>
      <p:regular r:id="rId47"/>
      <p:bold r:id="rId48"/>
      <p:italic r:id="rId49"/>
      <p:boldItalic r:id="rId50"/>
    </p:embeddedFont>
    <p:embeddedFont>
      <p:font typeface="Instagram Sans" panose="020B0504040402040103" pitchFamily="34" charset="77"/>
      <p:regular r:id="rId51"/>
      <p:bold r:id="rId52"/>
    </p:embeddedFont>
    <p:embeddedFont>
      <p:font typeface="Quicksand" pitchFamily="2" charset="77"/>
      <p:regular r:id="rId53"/>
      <p:bold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WK0PERglkCGX4FviSn2MBJkCvF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014"/>
  </p:normalViewPr>
  <p:slideViewPr>
    <p:cSldViewPr snapToGrid="0">
      <p:cViewPr varScale="1">
        <p:scale>
          <a:sx n="107" d="100"/>
          <a:sy n="107" d="100"/>
        </p:scale>
        <p:origin x="118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470D0EF0-D631-D887-2101-B882C0CE6046}"/>
            </a:ext>
          </a:extLst>
        </p:cNvPr>
        <p:cNvGrpSpPr/>
        <p:nvPr/>
      </p:nvGrpSpPr>
      <p:grpSpPr>
        <a:xfrm>
          <a:off x="0" y="0"/>
          <a:ext cx="0" cy="0"/>
          <a:chOff x="0" y="0"/>
          <a:chExt cx="0" cy="0"/>
        </a:xfrm>
      </p:grpSpPr>
      <p:sp>
        <p:nvSpPr>
          <p:cNvPr id="123" name="Google Shape;123;p4:notes">
            <a:extLst>
              <a:ext uri="{FF2B5EF4-FFF2-40B4-BE49-F238E27FC236}">
                <a16:creationId xmlns:a16="http://schemas.microsoft.com/office/drawing/2014/main" id="{8DBB8B90-039E-81D3-966E-5740C238A3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4:notes">
            <a:extLst>
              <a:ext uri="{FF2B5EF4-FFF2-40B4-BE49-F238E27FC236}">
                <a16:creationId xmlns:a16="http://schemas.microsoft.com/office/drawing/2014/main" id="{C4380B7F-9533-272F-301E-B832ECDA9A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8962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5" name="Google Shape;15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7" name="Google Shape;18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D34697A7-81A1-52C6-9705-F42B1A5CB432}"/>
            </a:ext>
          </a:extLst>
        </p:cNvPr>
        <p:cNvGrpSpPr/>
        <p:nvPr/>
      </p:nvGrpSpPr>
      <p:grpSpPr>
        <a:xfrm>
          <a:off x="0" y="0"/>
          <a:ext cx="0" cy="0"/>
          <a:chOff x="0" y="0"/>
          <a:chExt cx="0" cy="0"/>
        </a:xfrm>
      </p:grpSpPr>
      <p:sp>
        <p:nvSpPr>
          <p:cNvPr id="193" name="Google Shape;193;p12:notes">
            <a:extLst>
              <a:ext uri="{FF2B5EF4-FFF2-40B4-BE49-F238E27FC236}">
                <a16:creationId xmlns:a16="http://schemas.microsoft.com/office/drawing/2014/main" id="{CF692D25-0D8E-DD18-6E58-924DE5AFA5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2:notes">
            <a:extLst>
              <a:ext uri="{FF2B5EF4-FFF2-40B4-BE49-F238E27FC236}">
                <a16:creationId xmlns:a16="http://schemas.microsoft.com/office/drawing/2014/main" id="{097D6767-2CDB-09DB-589F-CC3E2D0D61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2922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Your familiarity with tools / your interests.</a:t>
            </a:r>
            <a:endParaRPr dirty="0"/>
          </a:p>
        </p:txBody>
      </p:sp>
      <p:sp>
        <p:nvSpPr>
          <p:cNvPr id="208" name="Google Shape;20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a:extLst>
            <a:ext uri="{FF2B5EF4-FFF2-40B4-BE49-F238E27FC236}">
              <a16:creationId xmlns:a16="http://schemas.microsoft.com/office/drawing/2014/main" id="{540B1820-F426-D71A-04DB-48CD393D6025}"/>
            </a:ext>
          </a:extLst>
        </p:cNvPr>
        <p:cNvGrpSpPr/>
        <p:nvPr/>
      </p:nvGrpSpPr>
      <p:grpSpPr>
        <a:xfrm>
          <a:off x="0" y="0"/>
          <a:ext cx="0" cy="0"/>
          <a:chOff x="0" y="0"/>
          <a:chExt cx="0" cy="0"/>
        </a:xfrm>
      </p:grpSpPr>
      <p:sp>
        <p:nvSpPr>
          <p:cNvPr id="207" name="Google Shape;207;p14:notes">
            <a:extLst>
              <a:ext uri="{FF2B5EF4-FFF2-40B4-BE49-F238E27FC236}">
                <a16:creationId xmlns:a16="http://schemas.microsoft.com/office/drawing/2014/main" id="{E5DF1090-82BD-F1FF-E40E-BCB5E5FF16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8" name="Google Shape;208;p14:notes">
            <a:extLst>
              <a:ext uri="{FF2B5EF4-FFF2-40B4-BE49-F238E27FC236}">
                <a16:creationId xmlns:a16="http://schemas.microsoft.com/office/drawing/2014/main" id="{0D4176D3-CB23-62EE-3E79-73D9919D20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1100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Most other ML approaches are shallow (they map inputs to outputs in a single layer / transformation, or few layers). Deep here refers to the fact that there is a layered approach to transformation. 4 or more layers, generally, by which transformations feed into other transformations, enabling flexible representation of mappings. </a:t>
            </a:r>
            <a:endParaRPr/>
          </a:p>
        </p:txBody>
      </p:sp>
      <p:sp>
        <p:nvSpPr>
          <p:cNvPr id="215" name="Google Shape;21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EE80E4E3-9490-8FEE-1A46-19AD684BBF80}"/>
            </a:ext>
          </a:extLst>
        </p:cNvPr>
        <p:cNvGrpSpPr/>
        <p:nvPr/>
      </p:nvGrpSpPr>
      <p:grpSpPr>
        <a:xfrm>
          <a:off x="0" y="0"/>
          <a:ext cx="0" cy="0"/>
          <a:chOff x="0" y="0"/>
          <a:chExt cx="0" cy="0"/>
        </a:xfrm>
      </p:grpSpPr>
      <p:sp>
        <p:nvSpPr>
          <p:cNvPr id="170" name="Google Shape;170;p12:notes">
            <a:extLst>
              <a:ext uri="{FF2B5EF4-FFF2-40B4-BE49-F238E27FC236}">
                <a16:creationId xmlns:a16="http://schemas.microsoft.com/office/drawing/2014/main" id="{1D16F470-709D-D0D6-BCAA-3B9C02E908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2:notes">
            <a:extLst>
              <a:ext uri="{FF2B5EF4-FFF2-40B4-BE49-F238E27FC236}">
                <a16:creationId xmlns:a16="http://schemas.microsoft.com/office/drawing/2014/main" id="{1A2C011F-E7FA-2CEF-153D-E2CA17A941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 that I don’t expect you to implement a neural network from scratch. This is just to give you an understanding of how they work. </a:t>
            </a:r>
            <a:endParaRPr/>
          </a:p>
        </p:txBody>
      </p:sp>
      <p:sp>
        <p:nvSpPr>
          <p:cNvPr id="172" name="Google Shape;172;p12:notes">
            <a:extLst>
              <a:ext uri="{FF2B5EF4-FFF2-40B4-BE49-F238E27FC236}">
                <a16:creationId xmlns:a16="http://schemas.microsoft.com/office/drawing/2014/main" id="{805FC1D1-EE09-3E25-998D-D9D43533A74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62465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www.neuro-id.com</a:t>
            </a:r>
            <a:r>
              <a:rPr lang="en-US" dirty="0"/>
              <a:t>/wp-content/uploads/2024/08/NEURO_ONBOARDING.mp4</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8672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E0706-64F0-D2A2-A239-781FA3E25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7473E-9B55-305F-AF42-E021DC477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17F0F-A085-4161-3371-103333CE46FC}"/>
              </a:ext>
            </a:extLst>
          </p:cNvPr>
          <p:cNvSpPr>
            <a:spLocks noGrp="1"/>
          </p:cNvSpPr>
          <p:nvPr>
            <p:ph type="body" idx="1"/>
          </p:nvPr>
        </p:nvSpPr>
        <p:spPr/>
        <p:txBody>
          <a:bodyPr/>
          <a:lstStyle/>
          <a:p>
            <a:r>
              <a:rPr lang="en-US" dirty="0"/>
              <a:t>https://</a:t>
            </a:r>
            <a:r>
              <a:rPr lang="en-US" dirty="0" err="1"/>
              <a:t>www.neuro-id.com</a:t>
            </a:r>
            <a:r>
              <a:rPr lang="en-US" dirty="0"/>
              <a:t>/wp-content/uploads/2024/08/NEURO_ONBOARDING.mp4</a:t>
            </a:r>
          </a:p>
        </p:txBody>
      </p:sp>
      <p:sp>
        <p:nvSpPr>
          <p:cNvPr id="4" name="Slide Number Placeholder 3">
            <a:extLst>
              <a:ext uri="{FF2B5EF4-FFF2-40B4-BE49-F238E27FC236}">
                <a16:creationId xmlns:a16="http://schemas.microsoft.com/office/drawing/2014/main" id="{E3A5D9ED-CDE2-2957-23BF-35738A9507F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46428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0" name="Google Shape;27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define the network structure (layers / nodes / edges) and the activate functions (within each node). Our data, X and Y (inputs and labels) are given. Our goal is then to “learn” the remaining parameters, i.e., the w’s and b’s.</a:t>
            </a:r>
            <a:endParaRPr/>
          </a:p>
        </p:txBody>
      </p:sp>
      <p:sp>
        <p:nvSpPr>
          <p:cNvPr id="292" name="Google Shape;292;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How do we learn the parameters? We need a way to quantify how well we are doing. This is what the loss function is for; it informs our optimization about how ”optimal” our current set of parameter values is. </a:t>
            </a:r>
            <a:endParaRPr/>
          </a:p>
        </p:txBody>
      </p:sp>
      <p:sp>
        <p:nvSpPr>
          <p:cNvPr id="300" name="Google Shape;30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How do we implement the learning (optimization)? Gradient descent. We identify where we are on the loss curve, figure out a first derivative along all available dimensions (i.e., along all parameters), and proceed where the gradient is most negative (i.e., where the loss function progresses most rapidly toward zero. For this to work, we need to be able to figure out the gradient along each dimension (for each parameter) in a computationally efficient way (remember, some of the biggest models have thousands or millions of parameters!). </a:t>
            </a:r>
            <a:endParaRPr/>
          </a:p>
        </p:txBody>
      </p:sp>
      <p:sp>
        <p:nvSpPr>
          <p:cNvPr id="308" name="Google Shape;308;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GPUs were developed to handle parallel processing capabilities needed for high end video game graphics. Turns out those same designs were useful for training a neural net (parallel computation, through vectorization of code). Basically, training a deep net involves performing a shitload of matrix multiplications. It’s better if we can do those calculations in parallel rather than sequentially. GPUs (and now TPUs) enable a ton of parallelization, speeding up the calculations. </a:t>
            </a:r>
            <a:endParaRPr/>
          </a:p>
        </p:txBody>
      </p:sp>
      <p:sp>
        <p:nvSpPr>
          <p:cNvPr id="346" name="Google Shape;346;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40"/>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dirty="0">
                <a:solidFill>
                  <a:schemeClr val="dk1"/>
                </a:solidFill>
                <a:latin typeface="Economica"/>
                <a:ea typeface="Economica"/>
                <a:cs typeface="Economica"/>
                <a:sym typeface="Economica"/>
              </a:rPr>
              <a:t>© Gordon Burtch, 2026</a:t>
            </a: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41"/>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dk1"/>
                </a:solidFill>
                <a:latin typeface="Economica"/>
                <a:ea typeface="Economica"/>
                <a:cs typeface="Economica"/>
                <a:sym typeface="Economica"/>
              </a:rPr>
              <a:t>© Gordon Burtch, 2026</a:t>
            </a: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4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4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4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4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4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48"/>
          <p:cNvSpPr>
            <a:spLocks noGrp="1"/>
          </p:cNvSpPr>
          <p:nvPr>
            <p:ph type="pic" idx="2"/>
          </p:nvPr>
        </p:nvSpPr>
        <p:spPr>
          <a:xfrm>
            <a:off x="5183188" y="987425"/>
            <a:ext cx="6172200" cy="4873625"/>
          </a:xfrm>
          <a:prstGeom prst="rect">
            <a:avLst/>
          </a:prstGeom>
          <a:noFill/>
          <a:ln>
            <a:noFill/>
          </a:ln>
        </p:spPr>
      </p:sp>
      <p:sp>
        <p:nvSpPr>
          <p:cNvPr id="69" name="Google Shape;69;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jp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hyperlink" Target="https://deeplearningwithpython.io/"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9.gif"/><Relationship Id="rId4" Type="http://schemas.openxmlformats.org/officeDocument/2006/relationships/image" Target="../media/image58.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2865521" y="1385048"/>
            <a:ext cx="6460957" cy="1657524"/>
            <a:chOff x="2971800" y="2588206"/>
            <a:chExt cx="6460957" cy="1657524"/>
          </a:xfrm>
        </p:grpSpPr>
        <p:sp>
          <p:nvSpPr>
            <p:cNvPr id="90" name="Google Shape;90;p1"/>
            <p:cNvSpPr txBox="1"/>
            <p:nvPr/>
          </p:nvSpPr>
          <p:spPr>
            <a:xfrm>
              <a:off x="2971800" y="2828835"/>
              <a:ext cx="6460957"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0" i="0" u="none" strike="noStrike" cap="none" dirty="0">
                  <a:solidFill>
                    <a:schemeClr val="dk1"/>
                  </a:solidFill>
                  <a:latin typeface="Economica"/>
                  <a:ea typeface="Economica"/>
                  <a:cs typeface="Economica"/>
                  <a:sym typeface="Economica"/>
                </a:rPr>
                <a:t>Modern AI</a:t>
              </a:r>
              <a:endParaRPr dirty="0"/>
            </a:p>
          </p:txBody>
        </p:sp>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
        <p:nvSpPr>
          <p:cNvPr id="97" name="Google Shape;97;p1"/>
          <p:cNvSpPr txBox="1"/>
          <p:nvPr/>
        </p:nvSpPr>
        <p:spPr>
          <a:xfrm>
            <a:off x="4062662" y="3429000"/>
            <a:ext cx="406667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dk1"/>
                </a:solidFill>
                <a:latin typeface="Economica"/>
                <a:ea typeface="Economica"/>
                <a:cs typeface="Economica"/>
                <a:sym typeface="Economica"/>
              </a:rPr>
              <a:t>Course Logistics and 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3" name="Google Shape;102;p2">
            <a:extLst>
              <a:ext uri="{FF2B5EF4-FFF2-40B4-BE49-F238E27FC236}">
                <a16:creationId xmlns:a16="http://schemas.microsoft.com/office/drawing/2014/main" id="{477E0658-9159-99E7-BC90-6E4007C20E0B}"/>
              </a:ext>
            </a:extLst>
          </p:cNvPr>
          <p:cNvSpPr txBox="1"/>
          <p:nvPr/>
        </p:nvSpPr>
        <p:spPr>
          <a:xfrm>
            <a:off x="1597819" y="1029078"/>
            <a:ext cx="6460957" cy="923330"/>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5400" b="0" i="0" u="none" strike="noStrike" cap="none" dirty="0">
                <a:solidFill>
                  <a:schemeClr val="dk1"/>
                </a:solidFill>
                <a:latin typeface="Economica"/>
                <a:ea typeface="Economica"/>
                <a:cs typeface="Economica"/>
                <a:sym typeface="Economica"/>
              </a:rPr>
              <a:t>About Me</a:t>
            </a:r>
            <a:endParaRPr dirty="0"/>
          </a:p>
        </p:txBody>
      </p:sp>
      <p:grpSp>
        <p:nvGrpSpPr>
          <p:cNvPr id="15" name="Group 14">
            <a:extLst>
              <a:ext uri="{FF2B5EF4-FFF2-40B4-BE49-F238E27FC236}">
                <a16:creationId xmlns:a16="http://schemas.microsoft.com/office/drawing/2014/main" id="{59184253-13CC-F4B8-1425-69754CEA4D4E}"/>
              </a:ext>
            </a:extLst>
          </p:cNvPr>
          <p:cNvGrpSpPr/>
          <p:nvPr/>
        </p:nvGrpSpPr>
        <p:grpSpPr>
          <a:xfrm>
            <a:off x="994919" y="3248015"/>
            <a:ext cx="10358881" cy="2898441"/>
            <a:chOff x="686759" y="2175240"/>
            <a:chExt cx="10358881" cy="2898441"/>
          </a:xfrm>
        </p:grpSpPr>
        <p:pic>
          <p:nvPicPr>
            <p:cNvPr id="120" name="Google Shape;120;p3" descr="Accenture | Save the Children"/>
            <p:cNvPicPr preferRelativeResize="0"/>
            <p:nvPr/>
          </p:nvPicPr>
          <p:blipFill rotWithShape="1">
            <a:blip r:embed="rId3">
              <a:alphaModFix/>
            </a:blip>
            <a:srcRect/>
            <a:stretch/>
          </p:blipFill>
          <p:spPr>
            <a:xfrm>
              <a:off x="2287770" y="3107694"/>
              <a:ext cx="1718072" cy="832344"/>
            </a:xfrm>
            <a:prstGeom prst="rect">
              <a:avLst/>
            </a:prstGeom>
            <a:noFill/>
            <a:ln>
              <a:noFill/>
            </a:ln>
          </p:spPr>
        </p:pic>
        <p:pic>
          <p:nvPicPr>
            <p:cNvPr id="121" name="Google Shape;121;p3" descr="Toronto&amp;#39;s New Flag. You&amp;#39;re probably thinking “what… | by Matt Hryhorsky |  By Filament | Medium"/>
            <p:cNvPicPr preferRelativeResize="0"/>
            <p:nvPr/>
          </p:nvPicPr>
          <p:blipFill rotWithShape="1">
            <a:blip r:embed="rId4">
              <a:alphaModFix/>
            </a:blip>
            <a:srcRect/>
            <a:stretch/>
          </p:blipFill>
          <p:spPr>
            <a:xfrm>
              <a:off x="686759" y="3009859"/>
              <a:ext cx="1440482" cy="696122"/>
            </a:xfrm>
            <a:prstGeom prst="rect">
              <a:avLst/>
            </a:prstGeom>
            <a:noFill/>
            <a:ln>
              <a:noFill/>
            </a:ln>
            <a:effectLst>
              <a:outerShdw blurRad="292100" dist="139700" dir="2700000" algn="tl" rotWithShape="0">
                <a:srgbClr val="333333">
                  <a:alpha val="64705"/>
                </a:srgbClr>
              </a:outerShdw>
            </a:effectLst>
          </p:spPr>
        </p:pic>
        <p:pic>
          <p:nvPicPr>
            <p:cNvPr id="1026" name="Picture 2" descr="McMaster University – Crown Education">
              <a:extLst>
                <a:ext uri="{FF2B5EF4-FFF2-40B4-BE49-F238E27FC236}">
                  <a16:creationId xmlns:a16="http://schemas.microsoft.com/office/drawing/2014/main" id="{383ADBBD-DDC0-9E78-8D62-82762BB6D265}"/>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a:fillRect/>
            </a:stretch>
          </p:blipFill>
          <p:spPr bwMode="auto">
            <a:xfrm>
              <a:off x="1706323" y="2175240"/>
              <a:ext cx="1440483" cy="8230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emple University - Wikipedia">
              <a:extLst>
                <a:ext uri="{FF2B5EF4-FFF2-40B4-BE49-F238E27FC236}">
                  <a16:creationId xmlns:a16="http://schemas.microsoft.com/office/drawing/2014/main" id="{9D0C6115-4601-82D5-6D5E-376DE9B905DE}"/>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4520138" y="3045349"/>
              <a:ext cx="760186" cy="86965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niversity Of Minnesota Logo PNG Vector (SVG) Free Download">
              <a:extLst>
                <a:ext uri="{FF2B5EF4-FFF2-40B4-BE49-F238E27FC236}">
                  <a16:creationId xmlns:a16="http://schemas.microsoft.com/office/drawing/2014/main" id="{6E156096-CCF0-C56F-9E30-8E965F91B539}"/>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5989601" y="2654698"/>
              <a:ext cx="1639784" cy="163978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oston University Terriers Logo and symbol, meaning, history, PNG, brand">
              <a:extLst>
                <a:ext uri="{FF2B5EF4-FFF2-40B4-BE49-F238E27FC236}">
                  <a16:creationId xmlns:a16="http://schemas.microsoft.com/office/drawing/2014/main" id="{7D72FA31-FA65-E912-FB0E-ABB3CF2CDFB0}"/>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9281266" y="2432949"/>
              <a:ext cx="1643537" cy="92497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icrosoft | Microsoft Wiki | Fandom">
              <a:extLst>
                <a:ext uri="{FF2B5EF4-FFF2-40B4-BE49-F238E27FC236}">
                  <a16:creationId xmlns:a16="http://schemas.microsoft.com/office/drawing/2014/main" id="{AF3E3FDA-FB67-618F-75E3-E4B8AD3CDAFE}"/>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6982658" y="2586746"/>
              <a:ext cx="1067049" cy="2764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6">
              <a:extLst>
                <a:ext uri="{FF2B5EF4-FFF2-40B4-BE49-F238E27FC236}">
                  <a16:creationId xmlns:a16="http://schemas.microsoft.com/office/drawing/2014/main" id="{4443BBD0-40B8-A4FD-46D3-16B49A52BD4F}"/>
                </a:ext>
              </a:extLst>
            </p:cNvPr>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9160431" y="4013251"/>
              <a:ext cx="1885209" cy="106043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61E59D02-481F-5A8A-2F05-94718C273A0C}"/>
                </a:ext>
              </a:extLst>
            </p:cNvPr>
            <p:cNvCxnSpPr>
              <a:cxnSpLocks/>
              <a:stCxn id="120" idx="3"/>
            </p:cNvCxnSpPr>
            <p:nvPr/>
          </p:nvCxnSpPr>
          <p:spPr>
            <a:xfrm>
              <a:off x="4005842" y="3523866"/>
              <a:ext cx="3761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95DFC68-2BD6-1955-460A-3B2A9969645D}"/>
                </a:ext>
              </a:extLst>
            </p:cNvPr>
            <p:cNvCxnSpPr>
              <a:cxnSpLocks/>
            </p:cNvCxnSpPr>
            <p:nvPr/>
          </p:nvCxnSpPr>
          <p:spPr>
            <a:xfrm>
              <a:off x="5488279" y="3523866"/>
              <a:ext cx="3761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0688618-32BF-850B-08DB-6C6F15FCE814}"/>
                </a:ext>
              </a:extLst>
            </p:cNvPr>
            <p:cNvCxnSpPr>
              <a:cxnSpLocks/>
            </p:cNvCxnSpPr>
            <p:nvPr/>
          </p:nvCxnSpPr>
          <p:spPr>
            <a:xfrm flipV="1">
              <a:off x="7694835" y="3045349"/>
              <a:ext cx="1465596" cy="47851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DDA5242-0F75-6DD8-E0A9-47D331543626}"/>
                </a:ext>
              </a:extLst>
            </p:cNvPr>
            <p:cNvCxnSpPr>
              <a:cxnSpLocks/>
            </p:cNvCxnSpPr>
            <p:nvPr/>
          </p:nvCxnSpPr>
          <p:spPr>
            <a:xfrm>
              <a:off x="7694835" y="3705981"/>
              <a:ext cx="1354162" cy="7581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9A0096EA-46EF-7374-2672-D3563198E09E}"/>
              </a:ext>
            </a:extLst>
          </p:cNvPr>
          <p:cNvSpPr txBox="1"/>
          <p:nvPr/>
        </p:nvSpPr>
        <p:spPr>
          <a:xfrm>
            <a:off x="1644352" y="5156906"/>
            <a:ext cx="2001877" cy="307777"/>
          </a:xfrm>
          <a:prstGeom prst="rect">
            <a:avLst/>
          </a:prstGeom>
          <a:noFill/>
        </p:spPr>
        <p:txBody>
          <a:bodyPr wrap="square">
            <a:spAutoFit/>
          </a:bodyPr>
          <a:lstStyle/>
          <a:p>
            <a:pPr algn="ctr"/>
            <a:r>
              <a:rPr lang="en-US" b="1" u="sng" dirty="0">
                <a:solidFill>
                  <a:schemeClr val="dk1"/>
                </a:solidFill>
                <a:latin typeface="Instagram Sans" panose="020B0504040402040103" pitchFamily="34" charset="77"/>
                <a:sym typeface="Quicksand"/>
              </a:rPr>
              <a:t>Pre-2010</a:t>
            </a:r>
            <a:endParaRPr lang="en-US" u="sng" dirty="0"/>
          </a:p>
        </p:txBody>
      </p:sp>
      <p:sp>
        <p:nvSpPr>
          <p:cNvPr id="18" name="TextBox 17">
            <a:extLst>
              <a:ext uri="{FF2B5EF4-FFF2-40B4-BE49-F238E27FC236}">
                <a16:creationId xmlns:a16="http://schemas.microsoft.com/office/drawing/2014/main" id="{75713FF5-3AFD-3A54-6409-FDE116B1F62A}"/>
              </a:ext>
            </a:extLst>
          </p:cNvPr>
          <p:cNvSpPr txBox="1"/>
          <p:nvPr/>
        </p:nvSpPr>
        <p:spPr>
          <a:xfrm>
            <a:off x="4230434" y="5156906"/>
            <a:ext cx="2001877" cy="307777"/>
          </a:xfrm>
          <a:prstGeom prst="rect">
            <a:avLst/>
          </a:prstGeom>
          <a:noFill/>
        </p:spPr>
        <p:txBody>
          <a:bodyPr wrap="square">
            <a:spAutoFit/>
          </a:bodyPr>
          <a:lstStyle/>
          <a:p>
            <a:pPr algn="ctr"/>
            <a:r>
              <a:rPr lang="en-US" b="1" u="sng" dirty="0">
                <a:solidFill>
                  <a:schemeClr val="dk1"/>
                </a:solidFill>
                <a:latin typeface="Instagram Sans" panose="020B0504040402040103" pitchFamily="34" charset="77"/>
                <a:sym typeface="Quicksand"/>
              </a:rPr>
              <a:t>2010-2013</a:t>
            </a:r>
            <a:endParaRPr lang="en-US" u="sng" dirty="0"/>
          </a:p>
        </p:txBody>
      </p:sp>
      <p:sp>
        <p:nvSpPr>
          <p:cNvPr id="19" name="TextBox 18">
            <a:extLst>
              <a:ext uri="{FF2B5EF4-FFF2-40B4-BE49-F238E27FC236}">
                <a16:creationId xmlns:a16="http://schemas.microsoft.com/office/drawing/2014/main" id="{97DD6FFA-BD02-426C-9911-25BB28446250}"/>
              </a:ext>
            </a:extLst>
          </p:cNvPr>
          <p:cNvSpPr txBox="1"/>
          <p:nvPr/>
        </p:nvSpPr>
        <p:spPr>
          <a:xfrm>
            <a:off x="6172592" y="5150537"/>
            <a:ext cx="2001877" cy="307777"/>
          </a:xfrm>
          <a:prstGeom prst="rect">
            <a:avLst/>
          </a:prstGeom>
          <a:noFill/>
        </p:spPr>
        <p:txBody>
          <a:bodyPr wrap="square">
            <a:spAutoFit/>
          </a:bodyPr>
          <a:lstStyle/>
          <a:p>
            <a:pPr algn="ctr"/>
            <a:r>
              <a:rPr lang="en-US" b="1" u="sng" dirty="0">
                <a:solidFill>
                  <a:schemeClr val="dk1"/>
                </a:solidFill>
                <a:latin typeface="Instagram Sans" panose="020B0504040402040103" pitchFamily="34" charset="77"/>
                <a:sym typeface="Quicksand"/>
              </a:rPr>
              <a:t>2013-2021</a:t>
            </a:r>
            <a:endParaRPr lang="en-US" u="sng" dirty="0"/>
          </a:p>
        </p:txBody>
      </p:sp>
      <p:sp>
        <p:nvSpPr>
          <p:cNvPr id="20" name="TextBox 19">
            <a:extLst>
              <a:ext uri="{FF2B5EF4-FFF2-40B4-BE49-F238E27FC236}">
                <a16:creationId xmlns:a16="http://schemas.microsoft.com/office/drawing/2014/main" id="{F8AC5687-8BE4-FA99-C597-DBBE65245183}"/>
              </a:ext>
            </a:extLst>
          </p:cNvPr>
          <p:cNvSpPr txBox="1"/>
          <p:nvPr/>
        </p:nvSpPr>
        <p:spPr>
          <a:xfrm>
            <a:off x="9357157" y="6109296"/>
            <a:ext cx="2001877" cy="307777"/>
          </a:xfrm>
          <a:prstGeom prst="rect">
            <a:avLst/>
          </a:prstGeom>
          <a:noFill/>
        </p:spPr>
        <p:txBody>
          <a:bodyPr wrap="square">
            <a:spAutoFit/>
          </a:bodyPr>
          <a:lstStyle/>
          <a:p>
            <a:pPr algn="ctr"/>
            <a:r>
              <a:rPr lang="en-US" b="1" u="sng" dirty="0">
                <a:solidFill>
                  <a:schemeClr val="dk1"/>
                </a:solidFill>
                <a:latin typeface="Instagram Sans" panose="020B0504040402040103" pitchFamily="34" charset="77"/>
                <a:sym typeface="Quicksand"/>
              </a:rPr>
              <a:t>2021-Today</a:t>
            </a:r>
            <a:endParaRPr lang="en-US" u="sng" dirty="0"/>
          </a:p>
        </p:txBody>
      </p:sp>
      <p:pic>
        <p:nvPicPr>
          <p:cNvPr id="2" name="Picture 1">
            <a:extLst>
              <a:ext uri="{FF2B5EF4-FFF2-40B4-BE49-F238E27FC236}">
                <a16:creationId xmlns:a16="http://schemas.microsoft.com/office/drawing/2014/main" id="{B8BFC741-C3B0-1C63-14B4-A677001C4DC7}"/>
              </a:ext>
            </a:extLst>
          </p:cNvPr>
          <p:cNvPicPr>
            <a:picLocks noChangeAspect="1"/>
          </p:cNvPicPr>
          <p:nvPr/>
        </p:nvPicPr>
        <p:blipFill>
          <a:blip r:embed="rId11"/>
          <a:srcRect t="45368"/>
          <a:stretch>
            <a:fillRect/>
          </a:stretch>
        </p:blipFill>
        <p:spPr>
          <a:xfrm>
            <a:off x="7413631" y="504711"/>
            <a:ext cx="1521676" cy="2323171"/>
          </a:xfrm>
          <a:prstGeom prst="rect">
            <a:avLst/>
          </a:prstGeom>
        </p:spPr>
      </p:pic>
      <p:pic>
        <p:nvPicPr>
          <p:cNvPr id="4" name="Picture 3">
            <a:extLst>
              <a:ext uri="{FF2B5EF4-FFF2-40B4-BE49-F238E27FC236}">
                <a16:creationId xmlns:a16="http://schemas.microsoft.com/office/drawing/2014/main" id="{5F8BD560-CFB8-650A-85B4-37CBABEE35DD}"/>
              </a:ext>
            </a:extLst>
          </p:cNvPr>
          <p:cNvPicPr>
            <a:picLocks noChangeAspect="1"/>
          </p:cNvPicPr>
          <p:nvPr/>
        </p:nvPicPr>
        <p:blipFill>
          <a:blip r:embed="rId11"/>
          <a:srcRect b="55717"/>
          <a:stretch>
            <a:fillRect/>
          </a:stretch>
        </p:blipFill>
        <p:spPr>
          <a:xfrm>
            <a:off x="5510319" y="694947"/>
            <a:ext cx="1663211" cy="20582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0" i="0" u="none" strike="noStrike" cap="none">
                <a:solidFill>
                  <a:schemeClr val="dk1"/>
                </a:solidFill>
                <a:latin typeface="Economica"/>
                <a:ea typeface="Economica"/>
                <a:cs typeface="Economica"/>
                <a:sym typeface="Economica"/>
              </a:rPr>
              <a:t>Today’s Agenda</a:t>
            </a:r>
            <a:endParaRPr/>
          </a:p>
        </p:txBody>
      </p:sp>
      <p:sp>
        <p:nvSpPr>
          <p:cNvPr id="103" name="Google Shape;103;p2"/>
          <p:cNvSpPr txBox="1"/>
          <p:nvPr/>
        </p:nvSpPr>
        <p:spPr>
          <a:xfrm>
            <a:off x="890337" y="1940249"/>
            <a:ext cx="7886700" cy="338554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Quicksand"/>
                <a:ea typeface="Quicksand"/>
                <a:cs typeface="Quicksand"/>
                <a:sym typeface="Quicksand"/>
              </a:rPr>
              <a:t>1. COURSE LOGISTICS</a:t>
            </a:r>
            <a:endParaRPr/>
          </a:p>
          <a:p>
            <a:pPr marL="171450" marR="0" lvl="0" indent="-82550" algn="l" rtl="0">
              <a:spcBef>
                <a:spcPts val="0"/>
              </a:spcBef>
              <a:spcAft>
                <a:spcPts val="0"/>
              </a:spcAft>
              <a:buClr>
                <a:schemeClr val="dk1"/>
              </a:buClr>
              <a:buSzPts val="1400"/>
              <a:buFont typeface="Arial"/>
              <a:buNone/>
            </a:pPr>
            <a:endParaRPr sz="1400">
              <a:solidFill>
                <a:schemeClr val="dk1"/>
              </a:solidFill>
              <a:latin typeface="Quicksand"/>
              <a:ea typeface="Quicksand"/>
              <a:cs typeface="Quicksand"/>
              <a:sym typeface="Quicksand"/>
            </a:endParaRPr>
          </a:p>
          <a:p>
            <a:pPr marL="628650" marR="0" lvl="1" indent="-171450" algn="l" rtl="0">
              <a:spcBef>
                <a:spcPts val="0"/>
              </a:spcBef>
              <a:spcAft>
                <a:spcPts val="0"/>
              </a:spcAft>
              <a:buClr>
                <a:schemeClr val="dk1"/>
              </a:buClr>
              <a:buSzPts val="1400"/>
              <a:buFont typeface="Arial"/>
              <a:buChar char="•"/>
            </a:pPr>
            <a:r>
              <a:rPr lang="en-US" sz="1400" b="0" i="0" u="none" strike="noStrike" cap="none">
                <a:solidFill>
                  <a:schemeClr val="dk1"/>
                </a:solidFill>
                <a:latin typeface="Quicksand"/>
                <a:ea typeface="Quicksand"/>
                <a:cs typeface="Quicksand"/>
                <a:sym typeface="Quicksand"/>
              </a:rPr>
              <a:t>Website, schedule, grading and evaluation criteria.</a:t>
            </a:r>
            <a:endParaRPr/>
          </a:p>
          <a:p>
            <a:pPr marL="628650" marR="0" lvl="1" indent="-171450" algn="l" rtl="0">
              <a:spcBef>
                <a:spcPts val="0"/>
              </a:spcBef>
              <a:spcAft>
                <a:spcPts val="0"/>
              </a:spcAft>
              <a:buClr>
                <a:schemeClr val="dk1"/>
              </a:buClr>
              <a:buSzPts val="1400"/>
              <a:buFont typeface="Arial"/>
              <a:buChar char="•"/>
            </a:pPr>
            <a:r>
              <a:rPr lang="en-US" sz="1400" b="0" i="0" u="none" strike="noStrike" cap="none">
                <a:solidFill>
                  <a:schemeClr val="dk1"/>
                </a:solidFill>
                <a:latin typeface="Quicksand"/>
                <a:ea typeface="Quicksand"/>
                <a:cs typeface="Quicksand"/>
                <a:sym typeface="Quicksand"/>
              </a:rPr>
              <a:t>Course textbook, lecture format, etc.</a:t>
            </a:r>
            <a:endParaRPr/>
          </a:p>
          <a:p>
            <a:pPr marL="171450" marR="0" lvl="0" indent="-82550" algn="l" rtl="0">
              <a:spcBef>
                <a:spcPts val="0"/>
              </a:spcBef>
              <a:spcAft>
                <a:spcPts val="0"/>
              </a:spcAft>
              <a:buClr>
                <a:schemeClr val="dk1"/>
              </a:buClr>
              <a:buSzPts val="1400"/>
              <a:buFont typeface="Arial"/>
              <a:buNone/>
            </a:pPr>
            <a:endParaRPr sz="1400">
              <a:solidFill>
                <a:schemeClr val="dk1"/>
              </a:solidFill>
              <a:latin typeface="Quicksand"/>
              <a:ea typeface="Quicksand"/>
              <a:cs typeface="Quicksand"/>
              <a:sym typeface="Quicksand"/>
            </a:endParaRPr>
          </a:p>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2. INTERESTING USE CASES</a:t>
            </a:r>
            <a:endParaRPr/>
          </a:p>
          <a:p>
            <a:pPr marL="171450" marR="0" lvl="0" indent="-82550" algn="l" rtl="0">
              <a:spcBef>
                <a:spcPts val="0"/>
              </a:spcBef>
              <a:spcAft>
                <a:spcPts val="0"/>
              </a:spcAft>
              <a:buClr>
                <a:schemeClr val="dk1"/>
              </a:buClr>
              <a:buSzPts val="1400"/>
              <a:buFont typeface="Arial"/>
              <a:buNone/>
            </a:pPr>
            <a:endParaRPr sz="1400">
              <a:solidFill>
                <a:schemeClr val="dk1"/>
              </a:solidFill>
              <a:latin typeface="Quicksand"/>
              <a:ea typeface="Quicksand"/>
              <a:cs typeface="Quicksand"/>
              <a:sym typeface="Quicksand"/>
            </a:endParaRPr>
          </a:p>
          <a:p>
            <a:pPr marL="628650" marR="0" lvl="1" indent="-171450" algn="l" rtl="0">
              <a:spcBef>
                <a:spcPts val="0"/>
              </a:spcBef>
              <a:spcAft>
                <a:spcPts val="0"/>
              </a:spcAft>
              <a:buClr>
                <a:schemeClr val="dk1"/>
              </a:buClr>
              <a:buSzPts val="1400"/>
              <a:buFont typeface="Arial"/>
              <a:buChar char="•"/>
            </a:pPr>
            <a:r>
              <a:rPr lang="en-US" sz="1400" b="0" i="0" u="none" strike="noStrike" cap="none">
                <a:solidFill>
                  <a:schemeClr val="dk1"/>
                </a:solidFill>
                <a:latin typeface="Quicksand"/>
                <a:ea typeface="Quicksand"/>
                <a:cs typeface="Quicksand"/>
                <a:sym typeface="Quicksand"/>
              </a:rPr>
              <a:t>Frivolous, academic, and practically useful.</a:t>
            </a:r>
            <a:endParaRPr/>
          </a:p>
          <a:p>
            <a:pPr marL="628650" marR="0" lvl="1" indent="-171450" algn="l" rtl="0">
              <a:spcBef>
                <a:spcPts val="0"/>
              </a:spcBef>
              <a:spcAft>
                <a:spcPts val="0"/>
              </a:spcAft>
              <a:buClr>
                <a:schemeClr val="dk1"/>
              </a:buClr>
              <a:buSzPts val="1400"/>
              <a:buFont typeface="Arial"/>
              <a:buChar char="•"/>
            </a:pPr>
            <a:r>
              <a:rPr lang="en-US" sz="1400" b="0" i="0" u="none" strike="noStrike" cap="none">
                <a:solidFill>
                  <a:schemeClr val="dk1"/>
                </a:solidFill>
                <a:latin typeface="Quicksand"/>
                <a:ea typeface="Quicksand"/>
                <a:cs typeface="Quicksand"/>
                <a:sym typeface="Quicksand"/>
              </a:rPr>
              <a:t>A recent failure, and societal concerns.</a:t>
            </a:r>
            <a:endParaRPr/>
          </a:p>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3. QUICK INTRODUCTION</a:t>
            </a:r>
            <a:endParaRPr/>
          </a:p>
          <a:p>
            <a:pPr marL="171450" marR="0" lvl="0" indent="-82550" algn="l" rtl="0">
              <a:spcBef>
                <a:spcPts val="0"/>
              </a:spcBef>
              <a:spcAft>
                <a:spcPts val="0"/>
              </a:spcAft>
              <a:buClr>
                <a:schemeClr val="dk1"/>
              </a:buClr>
              <a:buSzPts val="1400"/>
              <a:buFont typeface="Arial"/>
              <a:buNone/>
            </a:pPr>
            <a:endParaRPr sz="1400">
              <a:solidFill>
                <a:schemeClr val="dk1"/>
              </a:solidFill>
              <a:latin typeface="Quicksand"/>
              <a:ea typeface="Quicksand"/>
              <a:cs typeface="Quicksand"/>
              <a:sym typeface="Quicksand"/>
            </a:endParaRPr>
          </a:p>
          <a:p>
            <a:pPr marL="628650" marR="0" lvl="1" indent="-171450" algn="l" rtl="0">
              <a:spcBef>
                <a:spcPts val="0"/>
              </a:spcBef>
              <a:spcAft>
                <a:spcPts val="0"/>
              </a:spcAft>
              <a:buClr>
                <a:schemeClr val="dk1"/>
              </a:buClr>
              <a:buSzPts val="1400"/>
              <a:buFont typeface="Arial"/>
              <a:buChar char="•"/>
            </a:pPr>
            <a:r>
              <a:rPr lang="en-US" sz="1400" b="0" i="0" u="none" strike="noStrike" cap="none">
                <a:solidFill>
                  <a:schemeClr val="dk1"/>
                </a:solidFill>
                <a:latin typeface="Quicksand"/>
                <a:ea typeface="Quicksand"/>
                <a:cs typeface="Quicksand"/>
                <a:sym typeface="Quicksand"/>
              </a:rPr>
              <a:t>What is a neural network?</a:t>
            </a:r>
            <a:endParaRPr/>
          </a:p>
          <a:p>
            <a:pPr marL="628650" marR="0" lvl="1" indent="-171450" algn="l" rtl="0">
              <a:spcBef>
                <a:spcPts val="0"/>
              </a:spcBef>
              <a:spcAft>
                <a:spcPts val="0"/>
              </a:spcAft>
              <a:buClr>
                <a:schemeClr val="dk1"/>
              </a:buClr>
              <a:buSzPts val="1400"/>
              <a:buFont typeface="Arial"/>
              <a:buChar char="•"/>
            </a:pPr>
            <a:r>
              <a:rPr lang="en-US" sz="1400" b="0" i="0" u="none" strike="noStrike" cap="none">
                <a:solidFill>
                  <a:schemeClr val="dk1"/>
                </a:solidFill>
                <a:latin typeface="Quicksand"/>
                <a:ea typeface="Quicksand"/>
                <a:cs typeface="Quicksand"/>
                <a:sym typeface="Quicksand"/>
              </a:rPr>
              <a:t>How does it work? </a:t>
            </a:r>
            <a:endParaRPr/>
          </a:p>
        </p:txBody>
      </p:sp>
      <p:pic>
        <p:nvPicPr>
          <p:cNvPr id="104" name="Google Shape;104;p2"/>
          <p:cNvPicPr preferRelativeResize="0"/>
          <p:nvPr/>
        </p:nvPicPr>
        <p:blipFill rotWithShape="1">
          <a:blip r:embed="rId3">
            <a:alphaModFix/>
          </a:blip>
          <a:srcRect/>
          <a:stretch/>
        </p:blipFill>
        <p:spPr>
          <a:xfrm>
            <a:off x="6647447" y="2235839"/>
            <a:ext cx="3886200" cy="3886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C266781-A884-34FD-B337-8DC9D059D0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6" name="Google Shape;108;p3">
            <a:extLst>
              <a:ext uri="{FF2B5EF4-FFF2-40B4-BE49-F238E27FC236}">
                <a16:creationId xmlns:a16="http://schemas.microsoft.com/office/drawing/2014/main" id="{C030287A-6A70-F262-6F62-B16F693590AC}"/>
              </a:ext>
            </a:extLst>
          </p:cNvPr>
          <p:cNvSpPr txBox="1"/>
          <p:nvPr/>
        </p:nvSpPr>
        <p:spPr>
          <a:xfrm>
            <a:off x="473243" y="764257"/>
            <a:ext cx="6460957" cy="923330"/>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5400" dirty="0">
                <a:solidFill>
                  <a:schemeClr val="dk1"/>
                </a:solidFill>
                <a:latin typeface="Economica"/>
                <a:ea typeface="Economica"/>
                <a:cs typeface="Economica"/>
                <a:sym typeface="Economica"/>
              </a:rPr>
              <a:t>What’s In the News?</a:t>
            </a:r>
            <a:endParaRPr dirty="0"/>
          </a:p>
        </p:txBody>
      </p:sp>
      <p:pic>
        <p:nvPicPr>
          <p:cNvPr id="8" name="Picture 7">
            <a:extLst>
              <a:ext uri="{FF2B5EF4-FFF2-40B4-BE49-F238E27FC236}">
                <a16:creationId xmlns:a16="http://schemas.microsoft.com/office/drawing/2014/main" id="{D9B0F7AE-CF18-018C-8997-D7441B0724FC}"/>
              </a:ext>
            </a:extLst>
          </p:cNvPr>
          <p:cNvPicPr>
            <a:picLocks noChangeAspect="1"/>
          </p:cNvPicPr>
          <p:nvPr/>
        </p:nvPicPr>
        <p:blipFill>
          <a:blip r:embed="rId2"/>
          <a:stretch>
            <a:fillRect/>
          </a:stretch>
        </p:blipFill>
        <p:spPr>
          <a:xfrm>
            <a:off x="5502443" y="494647"/>
            <a:ext cx="6216314" cy="2934353"/>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9748610B-A3E1-D3EC-10FA-90D9C060C3DD}"/>
              </a:ext>
            </a:extLst>
          </p:cNvPr>
          <p:cNvPicPr>
            <a:picLocks noChangeAspect="1"/>
          </p:cNvPicPr>
          <p:nvPr/>
        </p:nvPicPr>
        <p:blipFill>
          <a:blip r:embed="rId3"/>
          <a:stretch>
            <a:fillRect/>
          </a:stretch>
        </p:blipFill>
        <p:spPr>
          <a:xfrm>
            <a:off x="846134" y="2486644"/>
            <a:ext cx="8213645" cy="33662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41340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17D82616-E7E4-5EA4-98E0-BEEED2468009}"/>
            </a:ext>
          </a:extLst>
        </p:cNvPr>
        <p:cNvGrpSpPr/>
        <p:nvPr/>
      </p:nvGrpSpPr>
      <p:grpSpPr>
        <a:xfrm>
          <a:off x="0" y="0"/>
          <a:ext cx="0" cy="0"/>
          <a:chOff x="0" y="0"/>
          <a:chExt cx="0" cy="0"/>
        </a:xfrm>
      </p:grpSpPr>
      <p:sp>
        <p:nvSpPr>
          <p:cNvPr id="126" name="Google Shape;126;p4">
            <a:extLst>
              <a:ext uri="{FF2B5EF4-FFF2-40B4-BE49-F238E27FC236}">
                <a16:creationId xmlns:a16="http://schemas.microsoft.com/office/drawing/2014/main" id="{A765DE0E-7B5B-0092-8168-5747FE6681A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27" name="Google Shape;127;p4">
            <a:extLst>
              <a:ext uri="{FF2B5EF4-FFF2-40B4-BE49-F238E27FC236}">
                <a16:creationId xmlns:a16="http://schemas.microsoft.com/office/drawing/2014/main" id="{33B82E9C-30C0-74A8-6ABB-7CCBB127AD99}"/>
              </a:ext>
            </a:extLst>
          </p:cNvPr>
          <p:cNvSpPr txBox="1"/>
          <p:nvPr/>
        </p:nvSpPr>
        <p:spPr>
          <a:xfrm>
            <a:off x="5486957" y="1868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Some Research</a:t>
            </a:r>
            <a:endParaRPr dirty="0"/>
          </a:p>
        </p:txBody>
      </p:sp>
      <p:pic>
        <p:nvPicPr>
          <p:cNvPr id="6" name="Picture 5">
            <a:extLst>
              <a:ext uri="{FF2B5EF4-FFF2-40B4-BE49-F238E27FC236}">
                <a16:creationId xmlns:a16="http://schemas.microsoft.com/office/drawing/2014/main" id="{6B1C5DB4-4C1A-B33F-C90F-94860AE9E6EE}"/>
              </a:ext>
            </a:extLst>
          </p:cNvPr>
          <p:cNvPicPr>
            <a:picLocks noChangeAspect="1"/>
          </p:cNvPicPr>
          <p:nvPr/>
        </p:nvPicPr>
        <p:blipFill>
          <a:blip r:embed="rId3"/>
          <a:stretch>
            <a:fillRect/>
          </a:stretch>
        </p:blipFill>
        <p:spPr>
          <a:xfrm>
            <a:off x="5574185" y="1646202"/>
            <a:ext cx="6286500" cy="4038600"/>
          </a:xfrm>
          <a:prstGeom prst="rect">
            <a:avLst/>
          </a:prstGeom>
        </p:spPr>
      </p:pic>
      <p:pic>
        <p:nvPicPr>
          <p:cNvPr id="3" name="Picture 2">
            <a:extLst>
              <a:ext uri="{FF2B5EF4-FFF2-40B4-BE49-F238E27FC236}">
                <a16:creationId xmlns:a16="http://schemas.microsoft.com/office/drawing/2014/main" id="{D2E41C5F-ECB3-0697-697A-09ED597CC5BC}"/>
              </a:ext>
            </a:extLst>
          </p:cNvPr>
          <p:cNvPicPr>
            <a:picLocks noChangeAspect="1"/>
          </p:cNvPicPr>
          <p:nvPr/>
        </p:nvPicPr>
        <p:blipFill>
          <a:blip r:embed="rId4"/>
          <a:stretch>
            <a:fillRect/>
          </a:stretch>
        </p:blipFill>
        <p:spPr>
          <a:xfrm>
            <a:off x="476071" y="285008"/>
            <a:ext cx="4414003" cy="5907974"/>
          </a:xfrm>
          <a:prstGeom prst="rect">
            <a:avLst/>
          </a:prstGeom>
        </p:spPr>
      </p:pic>
    </p:spTree>
    <p:extLst>
      <p:ext uri="{BB962C8B-B14F-4D97-AF65-F5344CB8AC3E}">
        <p14:creationId xmlns:p14="http://schemas.microsoft.com/office/powerpoint/2010/main" val="399438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txBox="1"/>
          <p:nvPr/>
        </p:nvSpPr>
        <p:spPr>
          <a:xfrm>
            <a:off x="2865521" y="420684"/>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Grading &amp; Evaluation</a:t>
            </a:r>
            <a:endParaRPr dirty="0"/>
          </a:p>
        </p:txBody>
      </p:sp>
      <p:sp>
        <p:nvSpPr>
          <p:cNvPr id="3" name="Rectangle 2">
            <a:extLst>
              <a:ext uri="{FF2B5EF4-FFF2-40B4-BE49-F238E27FC236}">
                <a16:creationId xmlns:a16="http://schemas.microsoft.com/office/drawing/2014/main" id="{3ACA6FD6-5EA2-9C19-6CA1-1A45C76ABC2F}"/>
              </a:ext>
            </a:extLst>
          </p:cNvPr>
          <p:cNvSpPr/>
          <p:nvPr/>
        </p:nvSpPr>
        <p:spPr>
          <a:xfrm>
            <a:off x="1186543" y="1779813"/>
            <a:ext cx="1317171" cy="1153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25%</a:t>
            </a:r>
          </a:p>
        </p:txBody>
      </p:sp>
      <p:sp>
        <p:nvSpPr>
          <p:cNvPr id="4" name="Rectangle 3">
            <a:extLst>
              <a:ext uri="{FF2B5EF4-FFF2-40B4-BE49-F238E27FC236}">
                <a16:creationId xmlns:a16="http://schemas.microsoft.com/office/drawing/2014/main" id="{71B2D83B-A1B3-167F-BCC4-D3A2DBE5BBC4}"/>
              </a:ext>
            </a:extLst>
          </p:cNvPr>
          <p:cNvSpPr/>
          <p:nvPr/>
        </p:nvSpPr>
        <p:spPr>
          <a:xfrm>
            <a:off x="1148443" y="3592285"/>
            <a:ext cx="1317171" cy="1153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40%</a:t>
            </a:r>
          </a:p>
        </p:txBody>
      </p:sp>
      <p:sp>
        <p:nvSpPr>
          <p:cNvPr id="5" name="Rectangle 4">
            <a:extLst>
              <a:ext uri="{FF2B5EF4-FFF2-40B4-BE49-F238E27FC236}">
                <a16:creationId xmlns:a16="http://schemas.microsoft.com/office/drawing/2014/main" id="{C7AC8371-DB23-9A67-6E97-18DC9CDA4A3B}"/>
              </a:ext>
            </a:extLst>
          </p:cNvPr>
          <p:cNvSpPr/>
          <p:nvPr/>
        </p:nvSpPr>
        <p:spPr>
          <a:xfrm>
            <a:off x="1148442" y="4909457"/>
            <a:ext cx="1317171" cy="1153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35%</a:t>
            </a:r>
          </a:p>
        </p:txBody>
      </p:sp>
      <p:pic>
        <p:nvPicPr>
          <p:cNvPr id="13" name="Picture 12">
            <a:extLst>
              <a:ext uri="{FF2B5EF4-FFF2-40B4-BE49-F238E27FC236}">
                <a16:creationId xmlns:a16="http://schemas.microsoft.com/office/drawing/2014/main" id="{35D04DC1-3839-EE2E-D715-1620A45A03C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25736" y="1522144"/>
            <a:ext cx="5908964" cy="2496929"/>
          </a:xfrm>
          <a:prstGeom prst="rect">
            <a:avLst/>
          </a:prstGeom>
        </p:spPr>
      </p:pic>
      <p:cxnSp>
        <p:nvCxnSpPr>
          <p:cNvPr id="15" name="Straight Arrow Connector 14">
            <a:extLst>
              <a:ext uri="{FF2B5EF4-FFF2-40B4-BE49-F238E27FC236}">
                <a16:creationId xmlns:a16="http://schemas.microsoft.com/office/drawing/2014/main" id="{79D2714D-BDF2-FA5B-AABD-4FA2F2A7F415}"/>
              </a:ext>
            </a:extLst>
          </p:cNvPr>
          <p:cNvCxnSpPr/>
          <p:nvPr/>
        </p:nvCxnSpPr>
        <p:spPr>
          <a:xfrm>
            <a:off x="2731325" y="2356756"/>
            <a:ext cx="12944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A2DD2D0-2B5C-A059-B1D5-5103834C19D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44437" y="5047794"/>
            <a:ext cx="5908965" cy="1549462"/>
          </a:xfrm>
          <a:prstGeom prst="rect">
            <a:avLst/>
          </a:prstGeom>
        </p:spPr>
      </p:pic>
      <p:pic>
        <p:nvPicPr>
          <p:cNvPr id="17" name="Picture 16">
            <a:extLst>
              <a:ext uri="{FF2B5EF4-FFF2-40B4-BE49-F238E27FC236}">
                <a16:creationId xmlns:a16="http://schemas.microsoft.com/office/drawing/2014/main" id="{085ADF26-D3FB-8298-ACAC-645129A7C51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076201" y="4283609"/>
            <a:ext cx="5507186" cy="764185"/>
          </a:xfrm>
          <a:prstGeom prst="rect">
            <a:avLst/>
          </a:prstGeom>
        </p:spPr>
      </p:pic>
      <p:cxnSp>
        <p:nvCxnSpPr>
          <p:cNvPr id="18" name="Straight Arrow Connector 17">
            <a:extLst>
              <a:ext uri="{FF2B5EF4-FFF2-40B4-BE49-F238E27FC236}">
                <a16:creationId xmlns:a16="http://schemas.microsoft.com/office/drawing/2014/main" id="{7A3B6E05-FE46-CE43-2DD7-13A7618939DA}"/>
              </a:ext>
            </a:extLst>
          </p:cNvPr>
          <p:cNvCxnSpPr>
            <a:cxnSpLocks/>
          </p:cNvCxnSpPr>
          <p:nvPr/>
        </p:nvCxnSpPr>
        <p:spPr>
          <a:xfrm>
            <a:off x="2622468" y="4172690"/>
            <a:ext cx="1621969" cy="1171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51D97F7-B964-2E5F-3479-596BC2395F36}"/>
              </a:ext>
            </a:extLst>
          </p:cNvPr>
          <p:cNvCxnSpPr>
            <a:cxnSpLocks/>
          </p:cNvCxnSpPr>
          <p:nvPr/>
        </p:nvCxnSpPr>
        <p:spPr>
          <a:xfrm>
            <a:off x="2633849" y="5490912"/>
            <a:ext cx="1610588" cy="61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7"/>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Course Textbook</a:t>
            </a:r>
            <a:endParaRPr/>
          </a:p>
        </p:txBody>
      </p:sp>
      <p:sp>
        <p:nvSpPr>
          <p:cNvPr id="158" name="Google Shape;158;p7"/>
          <p:cNvSpPr txBox="1"/>
          <p:nvPr/>
        </p:nvSpPr>
        <p:spPr>
          <a:xfrm>
            <a:off x="3047143" y="5070733"/>
            <a:ext cx="6097712" cy="923289"/>
          </a:xfrm>
          <a:prstGeom prst="rect">
            <a:avLst/>
          </a:prstGeom>
          <a:noFill/>
          <a:ln>
            <a:noFill/>
          </a:ln>
        </p:spPr>
        <p:txBody>
          <a:bodyPr spcFirstLastPara="1" wrap="square" lIns="91425" tIns="45700" rIns="91425" bIns="45700" anchor="t" anchorCtr="0">
            <a:spAutoFit/>
          </a:bodyPr>
          <a:lstStyle/>
          <a:p>
            <a:pPr lvl="0"/>
            <a:r>
              <a:rPr lang="en-US" sz="1800" dirty="0">
                <a:solidFill>
                  <a:srgbClr val="212121"/>
                </a:solidFill>
                <a:latin typeface="Garamond"/>
                <a:ea typeface="Garamond"/>
                <a:cs typeface="Garamond"/>
                <a:sym typeface="Garamond"/>
              </a:rPr>
              <a:t>Chollet, </a:t>
            </a:r>
            <a:r>
              <a:rPr lang="en-US" sz="1800" dirty="0" err="1">
                <a:solidFill>
                  <a:srgbClr val="212121"/>
                </a:solidFill>
                <a:latin typeface="Garamond"/>
                <a:ea typeface="Garamond"/>
                <a:cs typeface="Garamond"/>
                <a:sym typeface="Garamond"/>
              </a:rPr>
              <a:t>François</a:t>
            </a:r>
            <a:r>
              <a:rPr lang="en-US" sz="1800" dirty="0">
                <a:solidFill>
                  <a:srgbClr val="212121"/>
                </a:solidFill>
                <a:latin typeface="Garamond"/>
                <a:ea typeface="Garamond"/>
                <a:cs typeface="Garamond"/>
                <a:sym typeface="Garamond"/>
              </a:rPr>
              <a:t>. (2025). </a:t>
            </a:r>
            <a:r>
              <a:rPr lang="en-US" sz="1800" i="1" dirty="0">
                <a:solidFill>
                  <a:srgbClr val="212121"/>
                </a:solidFill>
                <a:latin typeface="Garamond"/>
                <a:ea typeface="Garamond"/>
                <a:cs typeface="Garamond"/>
                <a:sym typeface="Garamond"/>
              </a:rPr>
              <a:t>Deep Learning with Python (3</a:t>
            </a:r>
            <a:r>
              <a:rPr lang="en-US" sz="1800" i="1" baseline="30000" dirty="0">
                <a:solidFill>
                  <a:srgbClr val="212121"/>
                </a:solidFill>
                <a:latin typeface="Garamond"/>
                <a:ea typeface="Garamond"/>
                <a:cs typeface="Garamond"/>
                <a:sym typeface="Garamond"/>
              </a:rPr>
              <a:t>rd</a:t>
            </a:r>
            <a:r>
              <a:rPr lang="en-US" sz="1800" i="1" dirty="0">
                <a:solidFill>
                  <a:srgbClr val="212121"/>
                </a:solidFill>
                <a:latin typeface="Garamond"/>
                <a:ea typeface="Garamond"/>
                <a:cs typeface="Garamond"/>
                <a:sym typeface="Garamond"/>
              </a:rPr>
              <a:t> Edition)</a:t>
            </a:r>
            <a:r>
              <a:rPr lang="en-US" sz="1800" dirty="0">
                <a:solidFill>
                  <a:srgbClr val="212121"/>
                </a:solidFill>
                <a:latin typeface="Garamond"/>
                <a:ea typeface="Garamond"/>
                <a:cs typeface="Garamond"/>
                <a:sym typeface="Garamond"/>
              </a:rPr>
              <a:t>. Manning Publications Co. </a:t>
            </a:r>
            <a:r>
              <a:rPr lang="en-US" sz="1800" b="1" dirty="0">
                <a:solidFill>
                  <a:schemeClr val="dk1"/>
                </a:solidFill>
                <a:latin typeface="Garamond"/>
                <a:ea typeface="Garamond"/>
                <a:cs typeface="Garamond"/>
                <a:sym typeface="Garamond"/>
              </a:rPr>
              <a:t>ISBN-13: </a:t>
            </a:r>
            <a:r>
              <a:rPr lang="en-US" sz="1800" b="1" dirty="0">
                <a:latin typeface="Garamond" panose="02020404030301010803" pitchFamily="18" charset="0"/>
              </a:rPr>
              <a:t>978-1633436589</a:t>
            </a:r>
            <a:r>
              <a:rPr lang="en-US" sz="1800" b="1" dirty="0">
                <a:solidFill>
                  <a:schemeClr val="dk1"/>
                </a:solidFill>
                <a:latin typeface="Garamond" panose="02020404030301010803" pitchFamily="18" charset="0"/>
                <a:ea typeface="Garamond"/>
                <a:cs typeface="Garamond"/>
                <a:sym typeface="Garamond"/>
              </a:rPr>
              <a:t>.</a:t>
            </a:r>
            <a:r>
              <a:rPr lang="en-US" sz="1800" b="1" dirty="0">
                <a:solidFill>
                  <a:schemeClr val="dk1"/>
                </a:solidFill>
                <a:latin typeface="Garamond"/>
                <a:ea typeface="Garamond"/>
                <a:cs typeface="Garamond"/>
                <a:sym typeface="Garamond"/>
              </a:rPr>
              <a:t> </a:t>
            </a:r>
            <a:r>
              <a:rPr lang="en-US" sz="1800" dirty="0">
                <a:solidFill>
                  <a:srgbClr val="0000FF"/>
                </a:solidFill>
                <a:latin typeface="Garamond"/>
                <a:ea typeface="Garamond"/>
                <a:cs typeface="Garamond"/>
                <a:sym typeface="Garamond"/>
                <a:hlinkClick r:id="rId3"/>
              </a:rPr>
              <a:t>https://deeplearningwithpython.io</a:t>
            </a:r>
            <a:endParaRPr sz="1800"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CA5C1151-64A1-2E9D-5A6E-692A3379D6F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78933" y="1739719"/>
            <a:ext cx="2434132" cy="30243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8"/>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Required Software</a:t>
            </a:r>
            <a:endParaRPr/>
          </a:p>
        </p:txBody>
      </p:sp>
      <p:sp>
        <p:nvSpPr>
          <p:cNvPr id="165" name="Google Shape;165;p8"/>
          <p:cNvSpPr txBox="1"/>
          <p:nvPr/>
        </p:nvSpPr>
        <p:spPr>
          <a:xfrm>
            <a:off x="766295" y="1858789"/>
            <a:ext cx="10919024" cy="584735"/>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600"/>
              <a:buFont typeface="Arial"/>
              <a:buChar char="•"/>
            </a:pPr>
            <a:r>
              <a:rPr lang="en-US" sz="1600" dirty="0">
                <a:solidFill>
                  <a:schemeClr val="dk1"/>
                </a:solidFill>
                <a:latin typeface="Quicksand"/>
                <a:ea typeface="Quicksand"/>
                <a:cs typeface="Quicksand"/>
                <a:sym typeface="Quicksand"/>
              </a:rPr>
              <a:t>You can access Google </a:t>
            </a:r>
            <a:r>
              <a:rPr lang="en-US" sz="1600" dirty="0" err="1">
                <a:solidFill>
                  <a:schemeClr val="dk1"/>
                </a:solidFill>
                <a:latin typeface="Quicksand"/>
                <a:ea typeface="Quicksand"/>
                <a:cs typeface="Quicksand"/>
                <a:sym typeface="Quicksand"/>
              </a:rPr>
              <a:t>Colab</a:t>
            </a:r>
            <a:r>
              <a:rPr lang="en-US" sz="1600" dirty="0">
                <a:solidFill>
                  <a:schemeClr val="dk1"/>
                </a:solidFill>
                <a:latin typeface="Quicksand"/>
                <a:ea typeface="Quicksand"/>
                <a:cs typeface="Quicksand"/>
                <a:sym typeface="Quicksand"/>
              </a:rPr>
              <a:t> at </a:t>
            </a:r>
            <a:r>
              <a:rPr lang="en-US" sz="1600" u="sng" dirty="0">
                <a:solidFill>
                  <a:schemeClr val="dk1"/>
                </a:solidFill>
                <a:latin typeface="Quicksand"/>
                <a:ea typeface="Quicksand"/>
                <a:cs typeface="Quicksand"/>
                <a:sym typeface="Quicksand"/>
                <a:hlinkClick r:id="rId3">
                  <a:extLst>
                    <a:ext uri="{A12FA001-AC4F-418D-AE19-62706E023703}">
                      <ahyp:hlinkClr xmlns:ahyp="http://schemas.microsoft.com/office/drawing/2018/hyperlinkcolor" val="tx"/>
                    </a:ext>
                  </a:extLst>
                </a:hlinkClick>
              </a:rPr>
              <a:t>https://colab.research.google.com</a:t>
            </a:r>
            <a:r>
              <a:rPr lang="en-US" sz="1600" dirty="0">
                <a:solidFill>
                  <a:schemeClr val="dk1"/>
                </a:solidFill>
                <a:latin typeface="Quicksand"/>
                <a:ea typeface="Quicksand"/>
                <a:cs typeface="Quicksand"/>
                <a:sym typeface="Quicksand"/>
              </a:rPr>
              <a:t>. You will want to use your NYU Google account credentials!</a:t>
            </a:r>
            <a:endParaRPr dirty="0"/>
          </a:p>
        </p:txBody>
      </p:sp>
      <p:pic>
        <p:nvPicPr>
          <p:cNvPr id="168" name="Google Shape;168;p8" descr="keras tensorflow python - Cheap Online Shopping -"/>
          <p:cNvPicPr preferRelativeResize="0"/>
          <p:nvPr/>
        </p:nvPicPr>
        <p:blipFill rotWithShape="1">
          <a:blip r:embed="rId4">
            <a:alphaModFix/>
          </a:blip>
          <a:srcRect/>
          <a:stretch/>
        </p:blipFill>
        <p:spPr>
          <a:xfrm>
            <a:off x="8262872" y="2594204"/>
            <a:ext cx="2656440" cy="1992330"/>
          </a:xfrm>
          <a:prstGeom prst="rect">
            <a:avLst/>
          </a:prstGeom>
          <a:noFill/>
          <a:ln>
            <a:noFill/>
          </a:ln>
        </p:spPr>
      </p:pic>
      <p:pic>
        <p:nvPicPr>
          <p:cNvPr id="169" name="Google Shape;169;p8" descr="Welcome to PyTorch Tutorials — PyTorch Tutorials 1.10.1+cu102 documentation"/>
          <p:cNvPicPr preferRelativeResize="0"/>
          <p:nvPr/>
        </p:nvPicPr>
        <p:blipFill rotWithShape="1">
          <a:blip r:embed="rId5">
            <a:alphaModFix/>
          </a:blip>
          <a:srcRect/>
          <a:stretch/>
        </p:blipFill>
        <p:spPr>
          <a:xfrm>
            <a:off x="8120227" y="5199039"/>
            <a:ext cx="3410263" cy="923330"/>
          </a:xfrm>
          <a:prstGeom prst="rect">
            <a:avLst/>
          </a:prstGeom>
          <a:noFill/>
          <a:ln>
            <a:noFill/>
          </a:ln>
        </p:spPr>
      </p:pic>
      <p:cxnSp>
        <p:nvCxnSpPr>
          <p:cNvPr id="170" name="Google Shape;170;p8"/>
          <p:cNvCxnSpPr/>
          <p:nvPr/>
        </p:nvCxnSpPr>
        <p:spPr>
          <a:xfrm>
            <a:off x="8507002" y="5199039"/>
            <a:ext cx="2730827" cy="923330"/>
          </a:xfrm>
          <a:prstGeom prst="straightConnector1">
            <a:avLst/>
          </a:prstGeom>
          <a:noFill/>
          <a:ln w="38100" cap="flat" cmpd="sng">
            <a:solidFill>
              <a:srgbClr val="FF0000"/>
            </a:solidFill>
            <a:prstDash val="solid"/>
            <a:miter lim="800000"/>
            <a:headEnd type="none" w="sm" len="sm"/>
            <a:tailEnd type="none" w="sm" len="sm"/>
          </a:ln>
        </p:spPr>
      </p:cxnSp>
      <p:cxnSp>
        <p:nvCxnSpPr>
          <p:cNvPr id="171" name="Google Shape;171;p8"/>
          <p:cNvCxnSpPr/>
          <p:nvPr/>
        </p:nvCxnSpPr>
        <p:spPr>
          <a:xfrm rot="10800000" flipH="1">
            <a:off x="8507001" y="5199039"/>
            <a:ext cx="2589089" cy="923330"/>
          </a:xfrm>
          <a:prstGeom prst="straightConnector1">
            <a:avLst/>
          </a:prstGeom>
          <a:noFill/>
          <a:ln w="38100" cap="flat" cmpd="sng">
            <a:solidFill>
              <a:srgbClr val="FF0000"/>
            </a:solidFill>
            <a:prstDash val="solid"/>
            <a:miter lim="800000"/>
            <a:headEnd type="none" w="sm" len="sm"/>
            <a:tailEnd type="none" w="sm" len="sm"/>
          </a:ln>
        </p:spPr>
      </p:cxnSp>
      <p:pic>
        <p:nvPicPr>
          <p:cNvPr id="2" name="Picture 1">
            <a:extLst>
              <a:ext uri="{FF2B5EF4-FFF2-40B4-BE49-F238E27FC236}">
                <a16:creationId xmlns:a16="http://schemas.microsoft.com/office/drawing/2014/main" id="{2284704E-0EC5-8B70-5B1F-A2913E51FA58}"/>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51368" y="2774889"/>
            <a:ext cx="6840812" cy="3279176"/>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p:nvPr/>
        </p:nvSpPr>
        <p:spPr>
          <a:xfrm>
            <a:off x="2865520" y="330391"/>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Why Keras?</a:t>
            </a:r>
            <a:endParaRPr/>
          </a:p>
        </p:txBody>
      </p:sp>
      <p:pic>
        <p:nvPicPr>
          <p:cNvPr id="2" name="Picture 1">
            <a:extLst>
              <a:ext uri="{FF2B5EF4-FFF2-40B4-BE49-F238E27FC236}">
                <a16:creationId xmlns:a16="http://schemas.microsoft.com/office/drawing/2014/main" id="{851A44D5-518E-BE5A-85DE-9739F2720B5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855714" y="1435728"/>
            <a:ext cx="8480572" cy="473849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1"/>
          <p:cNvSpPr txBox="1"/>
          <p:nvPr/>
        </p:nvSpPr>
        <p:spPr>
          <a:xfrm>
            <a:off x="2865521" y="374040"/>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Course Timeline</a:t>
            </a:r>
            <a:endParaRPr dirty="0"/>
          </a:p>
        </p:txBody>
      </p:sp>
      <p:pic>
        <p:nvPicPr>
          <p:cNvPr id="2" name="Picture 1">
            <a:extLst>
              <a:ext uri="{FF2B5EF4-FFF2-40B4-BE49-F238E27FC236}">
                <a16:creationId xmlns:a16="http://schemas.microsoft.com/office/drawing/2014/main" id="{61DEB186-FA7A-65A2-01B7-4F15B6AAE285}"/>
              </a:ext>
            </a:extLst>
          </p:cNvPr>
          <p:cNvPicPr>
            <a:picLocks noChangeAspect="1"/>
          </p:cNvPicPr>
          <p:nvPr/>
        </p:nvPicPr>
        <p:blipFill>
          <a:blip r:embed="rId3"/>
          <a:stretch>
            <a:fillRect/>
          </a:stretch>
        </p:blipFill>
        <p:spPr>
          <a:xfrm>
            <a:off x="951804" y="1474761"/>
            <a:ext cx="5144196" cy="4547534"/>
          </a:xfrm>
          <a:prstGeom prst="rect">
            <a:avLst/>
          </a:prstGeom>
        </p:spPr>
      </p:pic>
      <p:pic>
        <p:nvPicPr>
          <p:cNvPr id="3" name="Picture 2">
            <a:extLst>
              <a:ext uri="{FF2B5EF4-FFF2-40B4-BE49-F238E27FC236}">
                <a16:creationId xmlns:a16="http://schemas.microsoft.com/office/drawing/2014/main" id="{1302A371-E407-93F0-796F-B5F85158697D}"/>
              </a:ext>
            </a:extLst>
          </p:cNvPr>
          <p:cNvPicPr>
            <a:picLocks noChangeAspect="1"/>
          </p:cNvPicPr>
          <p:nvPr/>
        </p:nvPicPr>
        <p:blipFill>
          <a:blip r:embed="rId4"/>
          <a:stretch>
            <a:fillRect/>
          </a:stretch>
        </p:blipFill>
        <p:spPr>
          <a:xfrm>
            <a:off x="6318090" y="1403511"/>
            <a:ext cx="5118491" cy="50091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DDAEBE1C-0D27-C272-B4EC-FCD805BEDD3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6A3167-90DC-7256-81B7-0EB6EAA09AB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50584" y="571466"/>
            <a:ext cx="2198254" cy="2198254"/>
          </a:xfrm>
          <a:prstGeom prst="rect">
            <a:avLst/>
          </a:prstGeom>
        </p:spPr>
      </p:pic>
      <p:sp>
        <p:nvSpPr>
          <p:cNvPr id="4" name="Google Shape;198;p12">
            <a:extLst>
              <a:ext uri="{FF2B5EF4-FFF2-40B4-BE49-F238E27FC236}">
                <a16:creationId xmlns:a16="http://schemas.microsoft.com/office/drawing/2014/main" id="{1F6E2C05-05ED-E342-D15D-F6A9D6BC9772}"/>
              </a:ext>
            </a:extLst>
          </p:cNvPr>
          <p:cNvSpPr txBox="1"/>
          <p:nvPr/>
        </p:nvSpPr>
        <p:spPr>
          <a:xfrm>
            <a:off x="5981637" y="1155615"/>
            <a:ext cx="2320090"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Policy</a:t>
            </a:r>
            <a:endParaRPr dirty="0"/>
          </a:p>
        </p:txBody>
      </p:sp>
      <p:pic>
        <p:nvPicPr>
          <p:cNvPr id="2" name="Picture 1">
            <a:extLst>
              <a:ext uri="{FF2B5EF4-FFF2-40B4-BE49-F238E27FC236}">
                <a16:creationId xmlns:a16="http://schemas.microsoft.com/office/drawing/2014/main" id="{1B4E35BC-0179-FFF0-F71E-6E458040BDA4}"/>
              </a:ext>
            </a:extLst>
          </p:cNvPr>
          <p:cNvPicPr>
            <a:picLocks noChangeAspect="1"/>
          </p:cNvPicPr>
          <p:nvPr/>
        </p:nvPicPr>
        <p:blipFill>
          <a:blip r:embed="rId4"/>
          <a:stretch>
            <a:fillRect/>
          </a:stretch>
        </p:blipFill>
        <p:spPr>
          <a:xfrm>
            <a:off x="1438458" y="3124335"/>
            <a:ext cx="9086357" cy="2694574"/>
          </a:xfrm>
          <a:prstGeom prst="rect">
            <a:avLst/>
          </a:prstGeom>
        </p:spPr>
      </p:pic>
    </p:spTree>
    <p:extLst>
      <p:ext uri="{BB962C8B-B14F-4D97-AF65-F5344CB8AC3E}">
        <p14:creationId xmlns:p14="http://schemas.microsoft.com/office/powerpoint/2010/main" val="3682287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3"/>
          <p:cNvSpPr txBox="1"/>
          <p:nvPr/>
        </p:nvSpPr>
        <p:spPr>
          <a:xfrm>
            <a:off x="3151935" y="2522567"/>
            <a:ext cx="5655214"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Any Questions?</a:t>
            </a:r>
            <a:endParaRPr/>
          </a:p>
        </p:txBody>
      </p:sp>
      <p:sp>
        <p:nvSpPr>
          <p:cNvPr id="205" name="Google Shape;20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4"/>
          <p:cNvSpPr txBox="1"/>
          <p:nvPr/>
        </p:nvSpPr>
        <p:spPr>
          <a:xfrm>
            <a:off x="3268393" y="522767"/>
            <a:ext cx="5655214"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Pre-Quiz</a:t>
            </a:r>
            <a:endParaRPr dirty="0"/>
          </a:p>
        </p:txBody>
      </p:sp>
      <p:sp>
        <p:nvSpPr>
          <p:cNvPr id="211" name="Google Shape;21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3" name="Picture 2">
            <a:extLst>
              <a:ext uri="{FF2B5EF4-FFF2-40B4-BE49-F238E27FC236}">
                <a16:creationId xmlns:a16="http://schemas.microsoft.com/office/drawing/2014/main" id="{BECBBD2A-A12E-817F-30D0-31C9A232C0C8}"/>
              </a:ext>
            </a:extLst>
          </p:cNvPr>
          <p:cNvPicPr>
            <a:picLocks noChangeAspect="1"/>
          </p:cNvPicPr>
          <p:nvPr/>
        </p:nvPicPr>
        <p:blipFill>
          <a:blip r:embed="rId3"/>
          <a:stretch>
            <a:fillRect/>
          </a:stretch>
        </p:blipFill>
        <p:spPr>
          <a:xfrm>
            <a:off x="4191000" y="1996203"/>
            <a:ext cx="3810000" cy="381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8A47DB7A-032C-D671-E4AF-F961368AA970}"/>
            </a:ext>
          </a:extLst>
        </p:cNvPr>
        <p:cNvGrpSpPr/>
        <p:nvPr/>
      </p:nvGrpSpPr>
      <p:grpSpPr>
        <a:xfrm>
          <a:off x="0" y="0"/>
          <a:ext cx="0" cy="0"/>
          <a:chOff x="0" y="0"/>
          <a:chExt cx="0" cy="0"/>
        </a:xfrm>
      </p:grpSpPr>
      <p:sp>
        <p:nvSpPr>
          <p:cNvPr id="210" name="Google Shape;210;p14">
            <a:extLst>
              <a:ext uri="{FF2B5EF4-FFF2-40B4-BE49-F238E27FC236}">
                <a16:creationId xmlns:a16="http://schemas.microsoft.com/office/drawing/2014/main" id="{ACBB118A-79CE-7708-4E12-F05EC031310F}"/>
              </a:ext>
            </a:extLst>
          </p:cNvPr>
          <p:cNvSpPr txBox="1"/>
          <p:nvPr/>
        </p:nvSpPr>
        <p:spPr>
          <a:xfrm>
            <a:off x="3268393" y="1674674"/>
            <a:ext cx="5655214" cy="17543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What is ‘Deep’ </a:t>
            </a:r>
            <a:br>
              <a:rPr lang="en-US" sz="5400" dirty="0">
                <a:solidFill>
                  <a:schemeClr val="dk1"/>
                </a:solidFill>
                <a:latin typeface="Economica"/>
                <a:ea typeface="Economica"/>
                <a:cs typeface="Economica"/>
                <a:sym typeface="Economica"/>
              </a:rPr>
            </a:br>
            <a:r>
              <a:rPr lang="en-US" sz="5400" dirty="0">
                <a:solidFill>
                  <a:schemeClr val="dk1"/>
                </a:solidFill>
                <a:latin typeface="Economica"/>
                <a:ea typeface="Economica"/>
                <a:cs typeface="Economica"/>
                <a:sym typeface="Economica"/>
              </a:rPr>
              <a:t>(vs. Shallow) Learning?</a:t>
            </a:r>
            <a:endParaRPr dirty="0"/>
          </a:p>
        </p:txBody>
      </p:sp>
      <p:sp>
        <p:nvSpPr>
          <p:cNvPr id="211" name="Google Shape;211;p14">
            <a:extLst>
              <a:ext uri="{FF2B5EF4-FFF2-40B4-BE49-F238E27FC236}">
                <a16:creationId xmlns:a16="http://schemas.microsoft.com/office/drawing/2014/main" id="{9A6C0C58-5624-D043-C10F-B3DD25BC6CA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812835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218" name="Google Shape;218;p15" descr="What I learned in the 4-week Deep Learning course on Coursera | by Lico  Takahashi | Becoming Human: Artificial Intelligence Magazine"/>
          <p:cNvPicPr preferRelativeResize="0"/>
          <p:nvPr/>
        </p:nvPicPr>
        <p:blipFill rotWithShape="1">
          <a:blip r:embed="rId3">
            <a:alphaModFix/>
          </a:blip>
          <a:srcRect/>
          <a:stretch/>
        </p:blipFill>
        <p:spPr>
          <a:xfrm>
            <a:off x="1270565" y="1524739"/>
            <a:ext cx="9650869" cy="4660508"/>
          </a:xfrm>
          <a:prstGeom prst="rect">
            <a:avLst/>
          </a:prstGeom>
          <a:noFill/>
          <a:ln>
            <a:noFill/>
          </a:ln>
        </p:spPr>
      </p:pic>
      <p:sp>
        <p:nvSpPr>
          <p:cNvPr id="219" name="Google Shape;219;p15"/>
          <p:cNvSpPr txBox="1"/>
          <p:nvPr/>
        </p:nvSpPr>
        <p:spPr>
          <a:xfrm>
            <a:off x="3268392" y="211088"/>
            <a:ext cx="5655214"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What is ‘Deep’ Learning?</a:t>
            </a:r>
            <a:endParaRPr sz="5400">
              <a:solidFill>
                <a:schemeClr val="dk1"/>
              </a:solidFill>
              <a:latin typeface="Economica"/>
              <a:ea typeface="Economica"/>
              <a:cs typeface="Economica"/>
              <a:sym typeface="Economic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pic>
        <p:nvPicPr>
          <p:cNvPr id="225" name="Google Shape;225;p16"/>
          <p:cNvPicPr preferRelativeResize="0"/>
          <p:nvPr/>
        </p:nvPicPr>
        <p:blipFill rotWithShape="1">
          <a:blip r:embed="rId3">
            <a:alphaModFix/>
          </a:blip>
          <a:srcRect/>
          <a:stretch/>
        </p:blipFill>
        <p:spPr>
          <a:xfrm>
            <a:off x="717550" y="1646734"/>
            <a:ext cx="5378450" cy="4192820"/>
          </a:xfrm>
          <a:prstGeom prst="rect">
            <a:avLst/>
          </a:prstGeom>
          <a:noFill/>
          <a:ln>
            <a:noFill/>
          </a:ln>
          <a:effectLst>
            <a:outerShdw blurRad="292100" dist="139700" dir="2700000" algn="tl" rotWithShape="0">
              <a:srgbClr val="333333">
                <a:alpha val="64705"/>
              </a:srgbClr>
            </a:outerShdw>
          </a:effectLst>
        </p:spPr>
      </p:pic>
      <p:sp>
        <p:nvSpPr>
          <p:cNvPr id="226" name="Google Shape;226;p16"/>
          <p:cNvSpPr txBox="1"/>
          <p:nvPr/>
        </p:nvSpPr>
        <p:spPr>
          <a:xfrm>
            <a:off x="2827996" y="206608"/>
            <a:ext cx="653600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Where Deep Learning Started</a:t>
            </a:r>
            <a:endParaRPr/>
          </a:p>
        </p:txBody>
      </p:sp>
      <p:pic>
        <p:nvPicPr>
          <p:cNvPr id="227" name="Google Shape;227;p16"/>
          <p:cNvPicPr preferRelativeResize="0"/>
          <p:nvPr/>
        </p:nvPicPr>
        <p:blipFill rotWithShape="1">
          <a:blip r:embed="rId4">
            <a:alphaModFix/>
          </a:blip>
          <a:srcRect/>
          <a:stretch/>
        </p:blipFill>
        <p:spPr>
          <a:xfrm>
            <a:off x="6855153" y="1521438"/>
            <a:ext cx="4619297" cy="44434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F0E6F78A-404B-EC8C-7EBB-99230F4269D6}"/>
            </a:ext>
          </a:extLst>
        </p:cNvPr>
        <p:cNvGrpSpPr/>
        <p:nvPr/>
      </p:nvGrpSpPr>
      <p:grpSpPr>
        <a:xfrm>
          <a:off x="0" y="0"/>
          <a:ext cx="0" cy="0"/>
          <a:chOff x="0" y="0"/>
          <a:chExt cx="0" cy="0"/>
        </a:xfrm>
      </p:grpSpPr>
      <p:sp>
        <p:nvSpPr>
          <p:cNvPr id="174" name="Google Shape;174;p12">
            <a:extLst>
              <a:ext uri="{FF2B5EF4-FFF2-40B4-BE49-F238E27FC236}">
                <a16:creationId xmlns:a16="http://schemas.microsoft.com/office/drawing/2014/main" id="{A8258890-9290-CF26-1A0C-2CB984EFCF4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1026" name="Picture 2" descr="Battle of the biometrics: It's time for Touch ID to swoop back onto the  iPhone">
            <a:extLst>
              <a:ext uri="{FF2B5EF4-FFF2-40B4-BE49-F238E27FC236}">
                <a16:creationId xmlns:a16="http://schemas.microsoft.com/office/drawing/2014/main" id="{EE1E2C63-1C83-C709-6905-07951BE7DB5F}"/>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864385" y="2374135"/>
            <a:ext cx="6463229" cy="36355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 name="Google Shape;175;p12">
            <a:extLst>
              <a:ext uri="{FF2B5EF4-FFF2-40B4-BE49-F238E27FC236}">
                <a16:creationId xmlns:a16="http://schemas.microsoft.com/office/drawing/2014/main" id="{059A2B80-97B5-65E5-DB25-2DE173C2B333}"/>
              </a:ext>
            </a:extLst>
          </p:cNvPr>
          <p:cNvSpPr txBox="1"/>
          <p:nvPr/>
        </p:nvSpPr>
        <p:spPr>
          <a:xfrm>
            <a:off x="1007692" y="815877"/>
            <a:ext cx="10176614"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Modern Examples: Identity Verification</a:t>
            </a:r>
            <a:endParaRPr dirty="0"/>
          </a:p>
        </p:txBody>
      </p:sp>
    </p:spTree>
    <p:extLst>
      <p:ext uri="{BB962C8B-B14F-4D97-AF65-F5344CB8AC3E}">
        <p14:creationId xmlns:p14="http://schemas.microsoft.com/office/powerpoint/2010/main" val="3000525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452DC5-E17B-95CA-3430-1DD8D09510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7" name="Picture 6">
            <a:extLst>
              <a:ext uri="{FF2B5EF4-FFF2-40B4-BE49-F238E27FC236}">
                <a16:creationId xmlns:a16="http://schemas.microsoft.com/office/drawing/2014/main" id="{E09723A6-4348-40B3-F489-F094B441B1E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9671" y="1864776"/>
            <a:ext cx="9192658" cy="4169187"/>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35F8E563-F4D2-C959-26A2-DE1F621FCD27}"/>
              </a:ext>
            </a:extLst>
          </p:cNvPr>
          <p:cNvPicPr>
            <a:picLocks noChangeAspect="1"/>
          </p:cNvPicPr>
          <p:nvPr/>
        </p:nvPicPr>
        <p:blipFill>
          <a:blip r:embed="rId4"/>
          <a:stretch>
            <a:fillRect/>
          </a:stretch>
        </p:blipFill>
        <p:spPr>
          <a:xfrm>
            <a:off x="9368109" y="1747147"/>
            <a:ext cx="2070972" cy="793550"/>
          </a:xfrm>
          <a:prstGeom prst="rect">
            <a:avLst/>
          </a:prstGeom>
          <a:solidFill>
            <a:srgbClr val="000000"/>
          </a:solidFill>
        </p:spPr>
      </p:pic>
      <p:sp>
        <p:nvSpPr>
          <p:cNvPr id="2" name="Google Shape;175;p12">
            <a:extLst>
              <a:ext uri="{FF2B5EF4-FFF2-40B4-BE49-F238E27FC236}">
                <a16:creationId xmlns:a16="http://schemas.microsoft.com/office/drawing/2014/main" id="{2C1F21FD-8420-2BEE-9298-D3D164C278C3}"/>
              </a:ext>
            </a:extLst>
          </p:cNvPr>
          <p:cNvSpPr txBox="1"/>
          <p:nvPr/>
        </p:nvSpPr>
        <p:spPr>
          <a:xfrm>
            <a:off x="1007693" y="421028"/>
            <a:ext cx="10176614"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Modern Examples: Fraud Detection</a:t>
            </a:r>
            <a:endParaRPr dirty="0"/>
          </a:p>
        </p:txBody>
      </p:sp>
    </p:spTree>
    <p:extLst>
      <p:ext uri="{BB962C8B-B14F-4D97-AF65-F5344CB8AC3E}">
        <p14:creationId xmlns:p14="http://schemas.microsoft.com/office/powerpoint/2010/main" val="3846059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3B7D6-D669-0020-1DFF-156D44864C8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F168A0-BD9E-2394-3C55-46AFB7B1E3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2" name="Picture 1">
            <a:extLst>
              <a:ext uri="{FF2B5EF4-FFF2-40B4-BE49-F238E27FC236}">
                <a16:creationId xmlns:a16="http://schemas.microsoft.com/office/drawing/2014/main" id="{E4F5FD95-F4F7-7918-CAB6-A4EF52E43C9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209800" y="1540619"/>
            <a:ext cx="7772400" cy="4896414"/>
          </a:xfrm>
          <a:prstGeom prst="rect">
            <a:avLst/>
          </a:prstGeom>
          <a:ln>
            <a:noFill/>
          </a:ln>
          <a:effectLst>
            <a:outerShdw blurRad="292100" dist="139700" dir="2700000" algn="tl" rotWithShape="0">
              <a:srgbClr val="333333">
                <a:alpha val="65000"/>
              </a:srgbClr>
            </a:outerShdw>
          </a:effectLst>
        </p:spPr>
      </p:pic>
      <p:sp>
        <p:nvSpPr>
          <p:cNvPr id="3" name="Google Shape;175;p12">
            <a:extLst>
              <a:ext uri="{FF2B5EF4-FFF2-40B4-BE49-F238E27FC236}">
                <a16:creationId xmlns:a16="http://schemas.microsoft.com/office/drawing/2014/main" id="{7CEB21EB-A393-3D0D-07E3-60954C93A8D0}"/>
              </a:ext>
            </a:extLst>
          </p:cNvPr>
          <p:cNvSpPr txBox="1"/>
          <p:nvPr/>
        </p:nvSpPr>
        <p:spPr>
          <a:xfrm>
            <a:off x="1007693" y="332888"/>
            <a:ext cx="10176614"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Modern Examples: Fake Review Detection</a:t>
            </a:r>
            <a:endParaRPr dirty="0"/>
          </a:p>
        </p:txBody>
      </p:sp>
    </p:spTree>
    <p:extLst>
      <p:ext uri="{BB962C8B-B14F-4D97-AF65-F5344CB8AC3E}">
        <p14:creationId xmlns:p14="http://schemas.microsoft.com/office/powerpoint/2010/main" val="2882844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A8755E-CC40-6F75-BDB5-F494D16558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pic>
        <p:nvPicPr>
          <p:cNvPr id="6146" name="Picture 2" descr="a map of a city with buildings and a clock">
            <a:extLst>
              <a:ext uri="{FF2B5EF4-FFF2-40B4-BE49-F238E27FC236}">
                <a16:creationId xmlns:a16="http://schemas.microsoft.com/office/drawing/2014/main" id="{C1573426-E5F9-41D3-7B19-7A28C1B03049}"/>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147502" y="1732452"/>
            <a:ext cx="7896995" cy="42631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3971DED-92EC-3BD5-4906-08480A9AD098}"/>
              </a:ext>
            </a:extLst>
          </p:cNvPr>
          <p:cNvPicPr>
            <a:picLocks noChangeAspect="1"/>
          </p:cNvPicPr>
          <p:nvPr/>
        </p:nvPicPr>
        <p:blipFill>
          <a:blip r:embed="rId3"/>
          <a:stretch>
            <a:fillRect/>
          </a:stretch>
        </p:blipFill>
        <p:spPr>
          <a:xfrm>
            <a:off x="9654759" y="735404"/>
            <a:ext cx="1270000" cy="254000"/>
          </a:xfrm>
          <a:prstGeom prst="rect">
            <a:avLst/>
          </a:prstGeom>
        </p:spPr>
      </p:pic>
      <p:sp>
        <p:nvSpPr>
          <p:cNvPr id="3" name="Google Shape;175;p12">
            <a:extLst>
              <a:ext uri="{FF2B5EF4-FFF2-40B4-BE49-F238E27FC236}">
                <a16:creationId xmlns:a16="http://schemas.microsoft.com/office/drawing/2014/main" id="{BDB83B4B-417B-C48A-2B7B-069F72F97BC9}"/>
              </a:ext>
            </a:extLst>
          </p:cNvPr>
          <p:cNvSpPr txBox="1"/>
          <p:nvPr/>
        </p:nvSpPr>
        <p:spPr>
          <a:xfrm>
            <a:off x="1007692" y="400759"/>
            <a:ext cx="10176614"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Modern Examples: Gunfire Detection</a:t>
            </a:r>
            <a:endParaRPr dirty="0"/>
          </a:p>
        </p:txBody>
      </p:sp>
    </p:spTree>
    <p:extLst>
      <p:ext uri="{BB962C8B-B14F-4D97-AF65-F5344CB8AC3E}">
        <p14:creationId xmlns:p14="http://schemas.microsoft.com/office/powerpoint/2010/main" val="1836420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A03B29-CFE6-CAD3-3FB7-97B6158F72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pic>
        <p:nvPicPr>
          <p:cNvPr id="8" name="Picture 7">
            <a:extLst>
              <a:ext uri="{FF2B5EF4-FFF2-40B4-BE49-F238E27FC236}">
                <a16:creationId xmlns:a16="http://schemas.microsoft.com/office/drawing/2014/main" id="{5EFBA1BD-61DC-46A6-95AF-0C734A43804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365346" y="1590114"/>
            <a:ext cx="9461308" cy="4392045"/>
          </a:xfrm>
          <a:prstGeom prst="rect">
            <a:avLst/>
          </a:prstGeom>
        </p:spPr>
      </p:pic>
      <p:sp>
        <p:nvSpPr>
          <p:cNvPr id="2" name="Google Shape;175;p12">
            <a:extLst>
              <a:ext uri="{FF2B5EF4-FFF2-40B4-BE49-F238E27FC236}">
                <a16:creationId xmlns:a16="http://schemas.microsoft.com/office/drawing/2014/main" id="{CEA67680-087F-F406-90AE-D058E3D250A3}"/>
              </a:ext>
            </a:extLst>
          </p:cNvPr>
          <p:cNvSpPr txBox="1"/>
          <p:nvPr/>
        </p:nvSpPr>
        <p:spPr>
          <a:xfrm>
            <a:off x="1007693" y="414196"/>
            <a:ext cx="10176614"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Modern Examples: Part Failure Prediction</a:t>
            </a:r>
            <a:endParaRPr dirty="0"/>
          </a:p>
        </p:txBody>
      </p:sp>
    </p:spTree>
    <p:extLst>
      <p:ext uri="{BB962C8B-B14F-4D97-AF65-F5344CB8AC3E}">
        <p14:creationId xmlns:p14="http://schemas.microsoft.com/office/powerpoint/2010/main" val="3978296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7863D-93A7-86BA-60F8-5A160718D24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667DFF-A97B-87FA-4395-6775EAADFD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2" name="Picture 1">
            <a:extLst>
              <a:ext uri="{FF2B5EF4-FFF2-40B4-BE49-F238E27FC236}">
                <a16:creationId xmlns:a16="http://schemas.microsoft.com/office/drawing/2014/main" id="{330A0701-B8C7-F976-CF91-D7831314708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47547" y="1361858"/>
            <a:ext cx="8696899" cy="4857551"/>
          </a:xfrm>
          <a:prstGeom prst="rect">
            <a:avLst/>
          </a:prstGeom>
        </p:spPr>
      </p:pic>
      <p:sp>
        <p:nvSpPr>
          <p:cNvPr id="3" name="Google Shape;175;p12">
            <a:extLst>
              <a:ext uri="{FF2B5EF4-FFF2-40B4-BE49-F238E27FC236}">
                <a16:creationId xmlns:a16="http://schemas.microsoft.com/office/drawing/2014/main" id="{8C00F393-CFE0-D1EB-66EE-848C4CDB1D09}"/>
              </a:ext>
            </a:extLst>
          </p:cNvPr>
          <p:cNvSpPr txBox="1"/>
          <p:nvPr/>
        </p:nvSpPr>
        <p:spPr>
          <a:xfrm>
            <a:off x="1007689" y="176946"/>
            <a:ext cx="10176614"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Modern Examples: Audio Transcription</a:t>
            </a:r>
            <a:endParaRPr dirty="0"/>
          </a:p>
        </p:txBody>
      </p:sp>
    </p:spTree>
    <p:extLst>
      <p:ext uri="{BB962C8B-B14F-4D97-AF65-F5344CB8AC3E}">
        <p14:creationId xmlns:p14="http://schemas.microsoft.com/office/powerpoint/2010/main" val="2549028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5EF642-8E17-7BAE-AA20-D2C3EE0702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pic>
        <p:nvPicPr>
          <p:cNvPr id="5" name="Picture 4">
            <a:extLst>
              <a:ext uri="{FF2B5EF4-FFF2-40B4-BE49-F238E27FC236}">
                <a16:creationId xmlns:a16="http://schemas.microsoft.com/office/drawing/2014/main" id="{48D092A0-617A-EEFD-85DC-52307779E93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49630" y="1485191"/>
            <a:ext cx="11092736" cy="4710037"/>
          </a:xfrm>
          <a:prstGeom prst="rect">
            <a:avLst/>
          </a:prstGeom>
          <a:ln>
            <a:noFill/>
          </a:ln>
          <a:effectLst>
            <a:outerShdw blurRad="292100" dist="139700" dir="2700000" algn="tl" rotWithShape="0">
              <a:srgbClr val="333333">
                <a:alpha val="65000"/>
              </a:srgbClr>
            </a:outerShdw>
          </a:effectLst>
        </p:spPr>
      </p:pic>
      <p:sp>
        <p:nvSpPr>
          <p:cNvPr id="7" name="Google Shape;175;p12">
            <a:extLst>
              <a:ext uri="{FF2B5EF4-FFF2-40B4-BE49-F238E27FC236}">
                <a16:creationId xmlns:a16="http://schemas.microsoft.com/office/drawing/2014/main" id="{4B6D9187-F855-431A-5921-BF9ED5965CEF}"/>
              </a:ext>
            </a:extLst>
          </p:cNvPr>
          <p:cNvSpPr txBox="1"/>
          <p:nvPr/>
        </p:nvSpPr>
        <p:spPr>
          <a:xfrm>
            <a:off x="1267237" y="301588"/>
            <a:ext cx="9657521"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Audio Translation</a:t>
            </a:r>
            <a:endParaRPr dirty="0"/>
          </a:p>
        </p:txBody>
      </p:sp>
    </p:spTree>
    <p:extLst>
      <p:ext uri="{BB962C8B-B14F-4D97-AF65-F5344CB8AC3E}">
        <p14:creationId xmlns:p14="http://schemas.microsoft.com/office/powerpoint/2010/main" val="2597422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8814A-DE90-AB25-D0E8-4990E378E3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EA0649-7A10-7288-0AA0-5482F73C38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pic>
        <p:nvPicPr>
          <p:cNvPr id="2" name="Picture 1">
            <a:extLst>
              <a:ext uri="{FF2B5EF4-FFF2-40B4-BE49-F238E27FC236}">
                <a16:creationId xmlns:a16="http://schemas.microsoft.com/office/drawing/2014/main" id="{AAFFF162-CB30-CC17-E96A-A88F81BBD4A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209797" y="1315117"/>
            <a:ext cx="7772400" cy="5241295"/>
          </a:xfrm>
          <a:prstGeom prst="rect">
            <a:avLst/>
          </a:prstGeom>
          <a:ln>
            <a:noFill/>
          </a:ln>
          <a:effectLst>
            <a:outerShdw blurRad="292100" dist="139700" dir="2700000" algn="tl" rotWithShape="0">
              <a:srgbClr val="333333">
                <a:alpha val="65000"/>
              </a:srgbClr>
            </a:outerShdw>
          </a:effectLst>
        </p:spPr>
      </p:pic>
      <p:sp>
        <p:nvSpPr>
          <p:cNvPr id="3" name="Google Shape;175;p12">
            <a:extLst>
              <a:ext uri="{FF2B5EF4-FFF2-40B4-BE49-F238E27FC236}">
                <a16:creationId xmlns:a16="http://schemas.microsoft.com/office/drawing/2014/main" id="{E1351E2C-A2A6-8155-712A-577C2EFE67AB}"/>
              </a:ext>
            </a:extLst>
          </p:cNvPr>
          <p:cNvSpPr txBox="1"/>
          <p:nvPr/>
        </p:nvSpPr>
        <p:spPr>
          <a:xfrm>
            <a:off x="1007690" y="136525"/>
            <a:ext cx="10176614"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Modern Examples: AI Text Detector</a:t>
            </a:r>
            <a:endParaRPr dirty="0"/>
          </a:p>
        </p:txBody>
      </p:sp>
    </p:spTree>
    <p:extLst>
      <p:ext uri="{BB962C8B-B14F-4D97-AF65-F5344CB8AC3E}">
        <p14:creationId xmlns:p14="http://schemas.microsoft.com/office/powerpoint/2010/main" val="81186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1C475-BEB3-20EC-4C15-801F3D4A0B9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620489-231B-C478-BEFB-3D9B40079A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3" name="Google Shape;175;p12">
            <a:extLst>
              <a:ext uri="{FF2B5EF4-FFF2-40B4-BE49-F238E27FC236}">
                <a16:creationId xmlns:a16="http://schemas.microsoft.com/office/drawing/2014/main" id="{317939E7-1949-0A95-891B-4A91AE064D64}"/>
              </a:ext>
            </a:extLst>
          </p:cNvPr>
          <p:cNvSpPr txBox="1"/>
          <p:nvPr/>
        </p:nvSpPr>
        <p:spPr>
          <a:xfrm>
            <a:off x="1007693" y="501650"/>
            <a:ext cx="10176614"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And of course… </a:t>
            </a:r>
            <a:endParaRPr dirty="0"/>
          </a:p>
        </p:txBody>
      </p:sp>
      <p:pic>
        <p:nvPicPr>
          <p:cNvPr id="1026" name="Picture 2" descr="GPT-4.5 vs. Claude 3.7 Sonnet vs. Gemini 2.0 Flash: A No-Nonsense Guide -  DEV Community">
            <a:extLst>
              <a:ext uri="{FF2B5EF4-FFF2-40B4-BE49-F238E27FC236}">
                <a16:creationId xmlns:a16="http://schemas.microsoft.com/office/drawing/2014/main" id="{674CFC35-3B63-D5EF-EF00-1E3135A6FD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498600"/>
            <a:ext cx="10160000" cy="386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29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pic>
        <p:nvPicPr>
          <p:cNvPr id="3" name="Picture 2">
            <a:extLst>
              <a:ext uri="{FF2B5EF4-FFF2-40B4-BE49-F238E27FC236}">
                <a16:creationId xmlns:a16="http://schemas.microsoft.com/office/drawing/2014/main" id="{AEA71E0E-93DC-3FC4-DC3C-5E06ADAC21DD}"/>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88418" y="1783340"/>
            <a:ext cx="5851236" cy="3291320"/>
          </a:xfrm>
          <a:prstGeom prst="rect">
            <a:avLst/>
          </a:prstGeom>
          <a:ln>
            <a:noFill/>
          </a:ln>
          <a:effectLst>
            <a:outerShdw blurRad="292100" dist="139700" dir="2700000" algn="tl" rotWithShape="0">
              <a:srgbClr val="333333">
                <a:alpha val="65000"/>
              </a:srgbClr>
            </a:outerShdw>
          </a:effectLst>
        </p:spPr>
      </p:pic>
      <p:sp>
        <p:nvSpPr>
          <p:cNvPr id="4" name="Google Shape;234;p17">
            <a:extLst>
              <a:ext uri="{FF2B5EF4-FFF2-40B4-BE49-F238E27FC236}">
                <a16:creationId xmlns:a16="http://schemas.microsoft.com/office/drawing/2014/main" id="{AF0E48CA-CD4D-3772-5C52-05C4B0674711}"/>
              </a:ext>
            </a:extLst>
          </p:cNvPr>
          <p:cNvSpPr txBox="1"/>
          <p:nvPr/>
        </p:nvSpPr>
        <p:spPr>
          <a:xfrm>
            <a:off x="1416050" y="400645"/>
            <a:ext cx="93599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These Technologies Bring New Problems</a:t>
            </a:r>
            <a:endParaRPr dirty="0"/>
          </a:p>
        </p:txBody>
      </p:sp>
      <p:pic>
        <p:nvPicPr>
          <p:cNvPr id="5" name="Picture 4">
            <a:extLst>
              <a:ext uri="{FF2B5EF4-FFF2-40B4-BE49-F238E27FC236}">
                <a16:creationId xmlns:a16="http://schemas.microsoft.com/office/drawing/2014/main" id="{77D363AE-2AA5-4E78-A827-7A3DAE297E7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880715" y="1449004"/>
            <a:ext cx="5722867" cy="3291320"/>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68F1ED52-BCC4-D265-B17A-4D83FBFFF09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65464" y="3650602"/>
            <a:ext cx="5611290" cy="297548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12228" y="2240174"/>
            <a:ext cx="5614749" cy="3017408"/>
          </a:xfrm>
          <a:prstGeom prst="rect">
            <a:avLst/>
          </a:prstGeom>
          <a:noFill/>
          <a:ln>
            <a:noFill/>
          </a:ln>
          <a:effectLst>
            <a:outerShdw blurRad="292100" dist="139700" dir="2700000" algn="tl" rotWithShape="0">
              <a:srgbClr val="333333">
                <a:alpha val="64705"/>
              </a:srgbClr>
            </a:outerShdw>
          </a:effectLst>
        </p:spPr>
      </p:pic>
      <p:sp>
        <p:nvSpPr>
          <p:cNvPr id="2" name="Google Shape;234;p17">
            <a:extLst>
              <a:ext uri="{FF2B5EF4-FFF2-40B4-BE49-F238E27FC236}">
                <a16:creationId xmlns:a16="http://schemas.microsoft.com/office/drawing/2014/main" id="{AAC9EBAA-7616-9C2C-422F-728E1E0EBC44}"/>
              </a:ext>
            </a:extLst>
          </p:cNvPr>
          <p:cNvSpPr txBox="1"/>
          <p:nvPr/>
        </p:nvSpPr>
        <p:spPr>
          <a:xfrm>
            <a:off x="1416050" y="400645"/>
            <a:ext cx="93599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Business Process / Model Still Matters</a:t>
            </a:r>
            <a:endParaRPr dirty="0"/>
          </a:p>
        </p:txBody>
      </p:sp>
      <p:pic>
        <p:nvPicPr>
          <p:cNvPr id="3" name="Picture 2">
            <a:extLst>
              <a:ext uri="{FF2B5EF4-FFF2-40B4-BE49-F238E27FC236}">
                <a16:creationId xmlns:a16="http://schemas.microsoft.com/office/drawing/2014/main" id="{5C0EC94B-FE3F-5F4A-7583-EB9D1E7640B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427862" y="1669280"/>
            <a:ext cx="5301534" cy="471604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5"/>
          <p:cNvSpPr txBox="1"/>
          <p:nvPr/>
        </p:nvSpPr>
        <p:spPr>
          <a:xfrm>
            <a:off x="3151935" y="2522567"/>
            <a:ext cx="5655214" cy="17543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How It Works, Conceptually</a:t>
            </a:r>
            <a:endParaRPr/>
          </a:p>
        </p:txBody>
      </p:sp>
      <p:sp>
        <p:nvSpPr>
          <p:cNvPr id="279" name="Google Shape;2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
        <p:nvSpPr>
          <p:cNvPr id="286" name="Google Shape;286;p26"/>
          <p:cNvSpPr txBox="1"/>
          <p:nvPr/>
        </p:nvSpPr>
        <p:spPr>
          <a:xfrm>
            <a:off x="2649625" y="758297"/>
            <a:ext cx="7332575"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Model Parameters</a:t>
            </a:r>
            <a:endParaRPr/>
          </a:p>
        </p:txBody>
      </p:sp>
      <p:pic>
        <p:nvPicPr>
          <p:cNvPr id="287" name="Google Shape;287;p26"/>
          <p:cNvPicPr preferRelativeResize="0"/>
          <p:nvPr/>
        </p:nvPicPr>
        <p:blipFill rotWithShape="1">
          <a:blip r:embed="rId3">
            <a:alphaModFix/>
          </a:blip>
          <a:srcRect/>
          <a:stretch/>
        </p:blipFill>
        <p:spPr>
          <a:xfrm>
            <a:off x="639012" y="2649073"/>
            <a:ext cx="5356226" cy="2672227"/>
          </a:xfrm>
          <a:prstGeom prst="rect">
            <a:avLst/>
          </a:prstGeom>
          <a:noFill/>
          <a:ln>
            <a:noFill/>
          </a:ln>
        </p:spPr>
      </p:pic>
      <p:pic>
        <p:nvPicPr>
          <p:cNvPr id="288" name="Google Shape;288;p26" descr="The structure of a simple Multi-Layer Feedfoward Neural Network | Download  Scientific Diagram"/>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722242" y="2212974"/>
            <a:ext cx="4979867" cy="361202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5FA"/>
        </a:solidFill>
        <a:effectLst/>
      </p:bgPr>
    </p:bg>
    <p:spTree>
      <p:nvGrpSpPr>
        <p:cNvPr id="1" name="Shape 293"/>
        <p:cNvGrpSpPr/>
        <p:nvPr/>
      </p:nvGrpSpPr>
      <p:grpSpPr>
        <a:xfrm>
          <a:off x="0" y="0"/>
          <a:ext cx="0" cy="0"/>
          <a:chOff x="0" y="0"/>
          <a:chExt cx="0" cy="0"/>
        </a:xfrm>
      </p:grpSpPr>
      <p:sp>
        <p:nvSpPr>
          <p:cNvPr id="294" name="Google Shape;29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
        <p:nvSpPr>
          <p:cNvPr id="295" name="Google Shape;295;p27"/>
          <p:cNvSpPr txBox="1"/>
          <p:nvPr/>
        </p:nvSpPr>
        <p:spPr>
          <a:xfrm>
            <a:off x="2649625" y="758297"/>
            <a:ext cx="7332575"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Model Parameters</a:t>
            </a:r>
            <a:endParaRPr/>
          </a:p>
        </p:txBody>
      </p:sp>
      <p:pic>
        <p:nvPicPr>
          <p:cNvPr id="296" name="Google Shape;296;p27" descr="The Essential Guide to Neural Network Architectures"/>
          <p:cNvPicPr preferRelativeResize="0"/>
          <p:nvPr/>
        </p:nvPicPr>
        <p:blipFill rotWithShape="1">
          <a:blip r:embed="rId3" cstate="screen">
            <a:alphaModFix/>
            <a:extLst>
              <a:ext uri="{28A0092B-C50C-407E-A947-70E740481C1C}">
                <a14:useLocalDpi xmlns:a14="http://schemas.microsoft.com/office/drawing/2010/main"/>
              </a:ext>
            </a:extLst>
          </a:blip>
          <a:srcRect b="13293"/>
          <a:stretch/>
        </p:blipFill>
        <p:spPr>
          <a:xfrm>
            <a:off x="2790825" y="2060832"/>
            <a:ext cx="6610350" cy="388276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303" name="Google Shape;303;p28"/>
          <p:cNvSpPr txBox="1"/>
          <p:nvPr/>
        </p:nvSpPr>
        <p:spPr>
          <a:xfrm>
            <a:off x="2865519" y="39336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Loss Function (Error)</a:t>
            </a:r>
            <a:endParaRPr/>
          </a:p>
        </p:txBody>
      </p:sp>
      <p:pic>
        <p:nvPicPr>
          <p:cNvPr id="304" name="Google Shape;304;p28"/>
          <p:cNvPicPr preferRelativeResize="0"/>
          <p:nvPr/>
        </p:nvPicPr>
        <p:blipFill rotWithShape="1">
          <a:blip r:embed="rId3">
            <a:alphaModFix/>
          </a:blip>
          <a:srcRect/>
          <a:stretch/>
        </p:blipFill>
        <p:spPr>
          <a:xfrm>
            <a:off x="3409947" y="1778000"/>
            <a:ext cx="5372100" cy="4419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311" name="Google Shape;311;p29"/>
          <p:cNvSpPr txBox="1"/>
          <p:nvPr/>
        </p:nvSpPr>
        <p:spPr>
          <a:xfrm>
            <a:off x="2865519" y="39336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Optimization</a:t>
            </a:r>
            <a:endParaRPr/>
          </a:p>
        </p:txBody>
      </p:sp>
      <p:pic>
        <p:nvPicPr>
          <p:cNvPr id="312" name="Google Shape;312;p29"/>
          <p:cNvPicPr preferRelativeResize="0"/>
          <p:nvPr/>
        </p:nvPicPr>
        <p:blipFill rotWithShape="1">
          <a:blip r:embed="rId3">
            <a:alphaModFix/>
          </a:blip>
          <a:srcRect/>
          <a:stretch/>
        </p:blipFill>
        <p:spPr>
          <a:xfrm>
            <a:off x="3200397" y="1720850"/>
            <a:ext cx="5791200" cy="4419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318" name="Google Shape;318;p30"/>
          <p:cNvSpPr txBox="1"/>
          <p:nvPr/>
        </p:nvSpPr>
        <p:spPr>
          <a:xfrm>
            <a:off x="965868" y="416637"/>
            <a:ext cx="10260263"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When to Learn Deeply (vs. Not)</a:t>
            </a:r>
            <a:endParaRPr/>
          </a:p>
        </p:txBody>
      </p:sp>
      <p:sp>
        <p:nvSpPr>
          <p:cNvPr id="319" name="Google Shape;319;p30"/>
          <p:cNvSpPr txBox="1"/>
          <p:nvPr/>
        </p:nvSpPr>
        <p:spPr>
          <a:xfrm>
            <a:off x="787400" y="1786055"/>
            <a:ext cx="9982200" cy="10464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COMPLEX RELATIONSHIPS</a:t>
            </a:r>
            <a:endParaRPr/>
          </a:p>
          <a:p>
            <a:pPr marL="171450" marR="0" lvl="0" indent="-82550" algn="l" rtl="0">
              <a:spcBef>
                <a:spcPts val="0"/>
              </a:spcBef>
              <a:spcAft>
                <a:spcPts val="0"/>
              </a:spcAft>
              <a:buClr>
                <a:schemeClr val="dk1"/>
              </a:buClr>
              <a:buSzPts val="1400"/>
              <a:buFont typeface="Arial"/>
              <a:buNone/>
            </a:pPr>
            <a:endParaRPr sz="1400">
              <a:solidFill>
                <a:schemeClr val="dk1"/>
              </a:solidFill>
              <a:latin typeface="Quicksand"/>
              <a:ea typeface="Quicksand"/>
              <a:cs typeface="Quicksand"/>
              <a:sym typeface="Quicksand"/>
            </a:endParaRPr>
          </a:p>
          <a:p>
            <a:pPr marL="171450" marR="0" lvl="0" indent="-171450" algn="l" rtl="0">
              <a:spcBef>
                <a:spcPts val="0"/>
              </a:spcBef>
              <a:spcAft>
                <a:spcPts val="0"/>
              </a:spcAft>
              <a:buClr>
                <a:schemeClr val="dk1"/>
              </a:buClr>
              <a:buSzPts val="1400"/>
              <a:buFont typeface="Arial"/>
              <a:buChar char="•"/>
            </a:pPr>
            <a:r>
              <a:rPr lang="en-US" sz="1400">
                <a:solidFill>
                  <a:schemeClr val="dk1"/>
                </a:solidFill>
                <a:latin typeface="Quicksand"/>
                <a:ea typeface="Quicksand"/>
                <a:cs typeface="Quicksand"/>
                <a:sym typeface="Quicksand"/>
              </a:rPr>
              <a:t>Complex, non-linear, interactive relationships and mappings; common use cases involve unstructured (high dimensional) data. Deep learning techniques remove the need for feature engineering, a daunting task. </a:t>
            </a:r>
            <a:endParaRPr/>
          </a:p>
        </p:txBody>
      </p:sp>
      <p:pic>
        <p:nvPicPr>
          <p:cNvPr id="320" name="Google Shape;320;p30" descr="Feature Extraction Pipeline in Deep Learning Convolutional Neural... |  Download Scientific Diagram"/>
          <p:cNvPicPr preferRelativeResize="0"/>
          <p:nvPr/>
        </p:nvPicPr>
        <p:blipFill rotWithShape="1">
          <a:blip r:embed="rId3">
            <a:alphaModFix/>
          </a:blip>
          <a:srcRect/>
          <a:stretch/>
        </p:blipFill>
        <p:spPr>
          <a:xfrm>
            <a:off x="698499" y="3356401"/>
            <a:ext cx="10795000" cy="2260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326" name="Google Shape;326;p31"/>
          <p:cNvSpPr txBox="1"/>
          <p:nvPr/>
        </p:nvSpPr>
        <p:spPr>
          <a:xfrm>
            <a:off x="723900" y="1570612"/>
            <a:ext cx="78867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LOTS OF DATA ON HAND</a:t>
            </a:r>
            <a:endParaRPr/>
          </a:p>
          <a:p>
            <a:pPr marL="171450" marR="0" lvl="0" indent="-82550" algn="l" rtl="0">
              <a:spcBef>
                <a:spcPts val="0"/>
              </a:spcBef>
              <a:spcAft>
                <a:spcPts val="0"/>
              </a:spcAft>
              <a:buClr>
                <a:schemeClr val="dk1"/>
              </a:buClr>
              <a:buSzPts val="1400"/>
              <a:buFont typeface="Arial"/>
              <a:buNone/>
            </a:pPr>
            <a:endParaRPr sz="1400">
              <a:solidFill>
                <a:schemeClr val="dk1"/>
              </a:solidFill>
              <a:latin typeface="Quicksand"/>
              <a:ea typeface="Quicksand"/>
              <a:cs typeface="Quicksand"/>
              <a:sym typeface="Quicksand"/>
            </a:endParaRPr>
          </a:p>
          <a:p>
            <a:pPr marL="171450" marR="0" lvl="0" indent="-171450" algn="l" rtl="0">
              <a:spcBef>
                <a:spcPts val="0"/>
              </a:spcBef>
              <a:spcAft>
                <a:spcPts val="0"/>
              </a:spcAft>
              <a:buClr>
                <a:schemeClr val="dk1"/>
              </a:buClr>
              <a:buSzPts val="1400"/>
              <a:buFont typeface="Arial"/>
              <a:buChar char="•"/>
            </a:pPr>
            <a:r>
              <a:rPr lang="en-US" sz="1400">
                <a:solidFill>
                  <a:schemeClr val="dk1"/>
                </a:solidFill>
                <a:latin typeface="Quicksand"/>
                <a:ea typeface="Quicksand"/>
                <a:cs typeface="Quicksand"/>
                <a:sym typeface="Quicksand"/>
              </a:rPr>
              <a:t>To be able to learn those complex mappings, typically requires many, many, many training examples.</a:t>
            </a:r>
            <a:endParaRPr/>
          </a:p>
        </p:txBody>
      </p:sp>
      <p:pic>
        <p:nvPicPr>
          <p:cNvPr id="327" name="Google Shape;327;p31" descr="Codes of Interest | Deep Learning Made Fun: How deep should it be to be  called Deep Learning?"/>
          <p:cNvPicPr preferRelativeResize="0"/>
          <p:nvPr/>
        </p:nvPicPr>
        <p:blipFill rotWithShape="1">
          <a:blip r:embed="rId3">
            <a:alphaModFix/>
          </a:blip>
          <a:srcRect/>
          <a:stretch/>
        </p:blipFill>
        <p:spPr>
          <a:xfrm>
            <a:off x="3764491" y="2686507"/>
            <a:ext cx="4663015" cy="3852405"/>
          </a:xfrm>
          <a:prstGeom prst="rect">
            <a:avLst/>
          </a:prstGeom>
          <a:noFill/>
          <a:ln>
            <a:noFill/>
          </a:ln>
        </p:spPr>
      </p:pic>
      <p:sp>
        <p:nvSpPr>
          <p:cNvPr id="328" name="Google Shape;328;p31"/>
          <p:cNvSpPr txBox="1"/>
          <p:nvPr/>
        </p:nvSpPr>
        <p:spPr>
          <a:xfrm>
            <a:off x="965868" y="416637"/>
            <a:ext cx="10260263"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When to Learn Deeply (vs. Not)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
        <p:nvSpPr>
          <p:cNvPr id="334" name="Google Shape;334;p32"/>
          <p:cNvSpPr txBox="1"/>
          <p:nvPr/>
        </p:nvSpPr>
        <p:spPr>
          <a:xfrm>
            <a:off x="723900" y="1570612"/>
            <a:ext cx="107188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LITTLE NEED FOR UNDERSTANDING</a:t>
            </a:r>
            <a:endParaRPr/>
          </a:p>
          <a:p>
            <a:pPr marL="171450" marR="0" lvl="0" indent="-82550" algn="l" rtl="0">
              <a:spcBef>
                <a:spcPts val="0"/>
              </a:spcBef>
              <a:spcAft>
                <a:spcPts val="0"/>
              </a:spcAft>
              <a:buClr>
                <a:schemeClr val="dk1"/>
              </a:buClr>
              <a:buSzPts val="1400"/>
              <a:buFont typeface="Arial"/>
              <a:buNone/>
            </a:pPr>
            <a:endParaRPr sz="1400">
              <a:solidFill>
                <a:schemeClr val="dk1"/>
              </a:solidFill>
              <a:latin typeface="Quicksand"/>
              <a:ea typeface="Quicksand"/>
              <a:cs typeface="Quicksand"/>
              <a:sym typeface="Quicksand"/>
            </a:endParaRPr>
          </a:p>
          <a:p>
            <a:pPr marL="171450" marR="0" lvl="0" indent="-171450" algn="l" rtl="0">
              <a:spcBef>
                <a:spcPts val="0"/>
              </a:spcBef>
              <a:spcAft>
                <a:spcPts val="0"/>
              </a:spcAft>
              <a:buClr>
                <a:schemeClr val="dk1"/>
              </a:buClr>
              <a:buSzPts val="1400"/>
              <a:buFont typeface="Arial"/>
              <a:buChar char="•"/>
            </a:pPr>
            <a:r>
              <a:rPr lang="en-US" sz="1400">
                <a:solidFill>
                  <a:schemeClr val="dk1"/>
                </a:solidFill>
                <a:latin typeface="Quicksand"/>
                <a:ea typeface="Quicksand"/>
                <a:cs typeface="Quicksand"/>
                <a:sym typeface="Quicksand"/>
              </a:rPr>
              <a:t>Although there have been advancements in explainable and interpretable AI, deep nets are notoriously “black box” algorithms. </a:t>
            </a:r>
            <a:endParaRPr/>
          </a:p>
        </p:txBody>
      </p:sp>
      <p:pic>
        <p:nvPicPr>
          <p:cNvPr id="335" name="Google Shape;335;p32" descr="Know Thy Machine - Machine learning a black box no more!"/>
          <p:cNvPicPr preferRelativeResize="0"/>
          <p:nvPr/>
        </p:nvPicPr>
        <p:blipFill rotWithShape="1">
          <a:blip r:embed="rId3">
            <a:alphaModFix/>
          </a:blip>
          <a:srcRect/>
          <a:stretch/>
        </p:blipFill>
        <p:spPr>
          <a:xfrm>
            <a:off x="2435225" y="2560285"/>
            <a:ext cx="7321550" cy="3881078"/>
          </a:xfrm>
          <a:prstGeom prst="rect">
            <a:avLst/>
          </a:prstGeom>
          <a:noFill/>
          <a:ln>
            <a:noFill/>
          </a:ln>
          <a:effectLst>
            <a:outerShdw blurRad="292100" dist="139700" dir="2700000" algn="tl" rotWithShape="0">
              <a:srgbClr val="333333">
                <a:alpha val="64705"/>
              </a:srgbClr>
            </a:outerShdw>
          </a:effectLst>
        </p:spPr>
      </p:pic>
      <p:sp>
        <p:nvSpPr>
          <p:cNvPr id="336" name="Google Shape;336;p32"/>
          <p:cNvSpPr txBox="1"/>
          <p:nvPr/>
        </p:nvSpPr>
        <p:spPr>
          <a:xfrm>
            <a:off x="965868" y="416637"/>
            <a:ext cx="10260263"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When to Learn Deeply (vs. Not)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
        <p:nvSpPr>
          <p:cNvPr id="342" name="Google Shape;342;p33"/>
          <p:cNvSpPr txBox="1"/>
          <p:nvPr/>
        </p:nvSpPr>
        <p:spPr>
          <a:xfrm>
            <a:off x="2413000" y="2967335"/>
            <a:ext cx="73660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Why Did Deep Learning Take Off?</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34" descr="A Detailed Guide to Recording Video Game Footage on a PC"/>
          <p:cNvPicPr preferRelativeResize="0"/>
          <p:nvPr/>
        </p:nvPicPr>
        <p:blipFill rotWithShape="1">
          <a:blip r:embed="rId3">
            <a:alphaModFix/>
          </a:blip>
          <a:srcRect/>
          <a:stretch/>
        </p:blipFill>
        <p:spPr>
          <a:xfrm>
            <a:off x="0" y="-131190"/>
            <a:ext cx="12192000" cy="7120379"/>
          </a:xfrm>
          <a:prstGeom prst="rect">
            <a:avLst/>
          </a:prstGeom>
          <a:noFill/>
          <a:ln>
            <a:noFill/>
          </a:ln>
        </p:spPr>
      </p:pic>
      <p:sp>
        <p:nvSpPr>
          <p:cNvPr id="349" name="Google Shape;34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
        <p:nvSpPr>
          <p:cNvPr id="350" name="Google Shape;350;p34"/>
          <p:cNvSpPr txBox="1"/>
          <p:nvPr/>
        </p:nvSpPr>
        <p:spPr>
          <a:xfrm>
            <a:off x="2413000" y="5626971"/>
            <a:ext cx="73660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lt1"/>
                </a:solidFill>
                <a:latin typeface="Economica"/>
                <a:ea typeface="Economica"/>
                <a:cs typeface="Economica"/>
                <a:sym typeface="Economica"/>
              </a:rPr>
              <a:t>Video Games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pic>
        <p:nvPicPr>
          <p:cNvPr id="356" name="Google Shape;356;p35" descr="IDC Global datasphere growth by region"/>
          <p:cNvPicPr preferRelativeResize="0"/>
          <p:nvPr/>
        </p:nvPicPr>
        <p:blipFill rotWithShape="1">
          <a:blip r:embed="rId3">
            <a:alphaModFix/>
          </a:blip>
          <a:srcRect/>
          <a:stretch/>
        </p:blipFill>
        <p:spPr>
          <a:xfrm>
            <a:off x="1464059" y="1400175"/>
            <a:ext cx="9263881" cy="4545092"/>
          </a:xfrm>
          <a:prstGeom prst="rect">
            <a:avLst/>
          </a:prstGeom>
          <a:noFill/>
          <a:ln>
            <a:noFill/>
          </a:ln>
          <a:effectLst>
            <a:outerShdw blurRad="292100" dist="139700" dir="2700000" algn="tl" rotWithShape="0">
              <a:srgbClr val="333333">
                <a:alpha val="64705"/>
              </a:srgbClr>
            </a:outerShdw>
          </a:effectLst>
        </p:spPr>
      </p:pic>
      <p:sp>
        <p:nvSpPr>
          <p:cNvPr id="357" name="Google Shape;357;p35"/>
          <p:cNvSpPr txBox="1"/>
          <p:nvPr/>
        </p:nvSpPr>
        <p:spPr>
          <a:xfrm>
            <a:off x="2412999" y="176054"/>
            <a:ext cx="736600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Data</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
        <p:nvSpPr>
          <p:cNvPr id="363" name="Google Shape;363;p36"/>
          <p:cNvSpPr txBox="1"/>
          <p:nvPr/>
        </p:nvSpPr>
        <p:spPr>
          <a:xfrm>
            <a:off x="698500" y="415057"/>
            <a:ext cx="73660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Economica"/>
                <a:ea typeface="Economica"/>
                <a:cs typeface="Economica"/>
                <a:sym typeface="Economica"/>
              </a:rPr>
              <a:t>Algorithmic Improvements</a:t>
            </a:r>
            <a:endParaRPr/>
          </a:p>
        </p:txBody>
      </p:sp>
      <p:pic>
        <p:nvPicPr>
          <p:cNvPr id="364" name="Google Shape;364;p36" descr="Activation Function | Introduction to Activation Function for Deep Learning"/>
          <p:cNvPicPr preferRelativeResize="0"/>
          <p:nvPr/>
        </p:nvPicPr>
        <p:blipFill rotWithShape="1">
          <a:blip r:embed="rId3">
            <a:alphaModFix/>
          </a:blip>
          <a:srcRect/>
          <a:stretch/>
        </p:blipFill>
        <p:spPr>
          <a:xfrm>
            <a:off x="8172600" y="3429000"/>
            <a:ext cx="3289300" cy="2463800"/>
          </a:xfrm>
          <a:prstGeom prst="rect">
            <a:avLst/>
          </a:prstGeom>
          <a:noFill/>
          <a:ln>
            <a:noFill/>
          </a:ln>
        </p:spPr>
      </p:pic>
      <p:pic>
        <p:nvPicPr>
          <p:cNvPr id="365" name="Google Shape;365;p36" descr="ECMWF Ensemble Prediction System."/>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92192" y="2252107"/>
            <a:ext cx="7054417" cy="3077959"/>
          </a:xfrm>
          <a:prstGeom prst="rect">
            <a:avLst/>
          </a:prstGeom>
          <a:noFill/>
          <a:ln>
            <a:noFill/>
          </a:ln>
        </p:spPr>
      </p:pic>
      <p:pic>
        <p:nvPicPr>
          <p:cNvPr id="366" name="Google Shape;366;p36"/>
          <p:cNvPicPr preferRelativeResize="0"/>
          <p:nvPr/>
        </p:nvPicPr>
        <p:blipFill rotWithShape="1">
          <a:blip r:embed="rId5">
            <a:alphaModFix/>
          </a:blip>
          <a:srcRect/>
          <a:stretch/>
        </p:blipFill>
        <p:spPr>
          <a:xfrm>
            <a:off x="7819410" y="340181"/>
            <a:ext cx="3190136" cy="246978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7"/>
          <p:cNvSpPr txBox="1"/>
          <p:nvPr/>
        </p:nvSpPr>
        <p:spPr>
          <a:xfrm>
            <a:off x="3151935" y="2522567"/>
            <a:ext cx="5655214"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See You Next Time!</a:t>
            </a:r>
            <a:endParaRPr dirty="0"/>
          </a:p>
        </p:txBody>
      </p:sp>
      <p:sp>
        <p:nvSpPr>
          <p:cNvPr id="372" name="Google Shape;372;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TotalTime>
  <Words>842</Words>
  <Application>Microsoft Macintosh PowerPoint</Application>
  <PresentationFormat>Widescreen</PresentationFormat>
  <Paragraphs>122</Paragraphs>
  <Slides>40</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Economica</vt:lpstr>
      <vt:lpstr>Calibri</vt:lpstr>
      <vt:lpstr>Instagram Sans</vt:lpstr>
      <vt:lpstr>Quicksand</vt:lpstr>
      <vt:lpstr>Garamond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24</cp:revision>
  <dcterms:created xsi:type="dcterms:W3CDTF">2019-12-28T13:51:56Z</dcterms:created>
  <dcterms:modified xsi:type="dcterms:W3CDTF">2026-02-18T22:59:36Z</dcterms:modified>
</cp:coreProperties>
</file>